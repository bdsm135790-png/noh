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44968" y="1481328"/>
            <a:ext cx="3657600" cy="3657600"/>
          </a:xfrm>
          <a:prstGeom prst="roundRect">
            <a:avLst>
              <a:gd name="adj" fmla="val 1500"/>
            </a:avLst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18120" y="155448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" name="Shape 2"/>
          <p:cNvSpPr/>
          <p:nvPr/>
        </p:nvSpPr>
        <p:spPr>
          <a:xfrm>
            <a:off x="8110728" y="155448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" name="Shape 3"/>
          <p:cNvSpPr/>
          <p:nvPr/>
        </p:nvSpPr>
        <p:spPr>
          <a:xfrm>
            <a:off x="8403336" y="155448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Shape 4"/>
          <p:cNvSpPr/>
          <p:nvPr/>
        </p:nvSpPr>
        <p:spPr>
          <a:xfrm>
            <a:off x="8695944" y="1554480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Shape 5"/>
          <p:cNvSpPr/>
          <p:nvPr/>
        </p:nvSpPr>
        <p:spPr>
          <a:xfrm>
            <a:off x="8988552" y="155448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" name="Shape 6"/>
          <p:cNvSpPr/>
          <p:nvPr/>
        </p:nvSpPr>
        <p:spPr>
          <a:xfrm>
            <a:off x="9281160" y="155448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" name="Shape 7"/>
          <p:cNvSpPr/>
          <p:nvPr/>
        </p:nvSpPr>
        <p:spPr>
          <a:xfrm>
            <a:off x="9573768" y="155448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" name="Shape 8"/>
          <p:cNvSpPr/>
          <p:nvPr/>
        </p:nvSpPr>
        <p:spPr>
          <a:xfrm>
            <a:off x="9866376" y="1554480"/>
            <a:ext cx="292608" cy="292608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1" name="Shape 9"/>
          <p:cNvSpPr/>
          <p:nvPr/>
        </p:nvSpPr>
        <p:spPr>
          <a:xfrm>
            <a:off x="10158984" y="155448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451592" y="155448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" name="Shape 11"/>
          <p:cNvSpPr/>
          <p:nvPr/>
        </p:nvSpPr>
        <p:spPr>
          <a:xfrm>
            <a:off x="10744200" y="155448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" name="Shape 12"/>
          <p:cNvSpPr/>
          <p:nvPr/>
        </p:nvSpPr>
        <p:spPr>
          <a:xfrm>
            <a:off x="11036808" y="155448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" name="Shape 13"/>
          <p:cNvSpPr/>
          <p:nvPr/>
        </p:nvSpPr>
        <p:spPr>
          <a:xfrm>
            <a:off x="7818120" y="184708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6" name="Shape 14"/>
          <p:cNvSpPr/>
          <p:nvPr/>
        </p:nvSpPr>
        <p:spPr>
          <a:xfrm>
            <a:off x="8110728" y="184708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7" name="Shape 15"/>
          <p:cNvSpPr/>
          <p:nvPr/>
        </p:nvSpPr>
        <p:spPr>
          <a:xfrm>
            <a:off x="8403336" y="184708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8" name="Shape 16"/>
          <p:cNvSpPr/>
          <p:nvPr/>
        </p:nvSpPr>
        <p:spPr>
          <a:xfrm>
            <a:off x="8695944" y="1847088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88552" y="184708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0" name="Shape 18"/>
          <p:cNvSpPr/>
          <p:nvPr/>
        </p:nvSpPr>
        <p:spPr>
          <a:xfrm>
            <a:off x="9281160" y="184708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3768" y="184708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2" name="Shape 20"/>
          <p:cNvSpPr/>
          <p:nvPr/>
        </p:nvSpPr>
        <p:spPr>
          <a:xfrm>
            <a:off x="9866376" y="1847088"/>
            <a:ext cx="292608" cy="292608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23" name="Shape 21"/>
          <p:cNvSpPr/>
          <p:nvPr/>
        </p:nvSpPr>
        <p:spPr>
          <a:xfrm>
            <a:off x="10158984" y="184708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51592" y="184708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5" name="Shape 23"/>
          <p:cNvSpPr/>
          <p:nvPr/>
        </p:nvSpPr>
        <p:spPr>
          <a:xfrm>
            <a:off x="10744200" y="184708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6" name="Shape 24"/>
          <p:cNvSpPr/>
          <p:nvPr/>
        </p:nvSpPr>
        <p:spPr>
          <a:xfrm>
            <a:off x="11036808" y="184708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7" name="Shape 25"/>
          <p:cNvSpPr/>
          <p:nvPr/>
        </p:nvSpPr>
        <p:spPr>
          <a:xfrm>
            <a:off x="7818120" y="2139696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8" name="Shape 26"/>
          <p:cNvSpPr/>
          <p:nvPr/>
        </p:nvSpPr>
        <p:spPr>
          <a:xfrm>
            <a:off x="8110728" y="2139696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9" name="Shape 27"/>
          <p:cNvSpPr/>
          <p:nvPr/>
        </p:nvSpPr>
        <p:spPr>
          <a:xfrm>
            <a:off x="8403336" y="2139696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0" name="Shape 28"/>
          <p:cNvSpPr/>
          <p:nvPr/>
        </p:nvSpPr>
        <p:spPr>
          <a:xfrm>
            <a:off x="8695944" y="2139696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1" name="Shape 29"/>
          <p:cNvSpPr/>
          <p:nvPr/>
        </p:nvSpPr>
        <p:spPr>
          <a:xfrm>
            <a:off x="8988552" y="2139696"/>
            <a:ext cx="292608" cy="29260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2" name="Shape 30"/>
          <p:cNvSpPr/>
          <p:nvPr/>
        </p:nvSpPr>
        <p:spPr>
          <a:xfrm>
            <a:off x="9281160" y="2139696"/>
            <a:ext cx="292608" cy="29260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3" name="Shape 31"/>
          <p:cNvSpPr/>
          <p:nvPr/>
        </p:nvSpPr>
        <p:spPr>
          <a:xfrm>
            <a:off x="9573768" y="2139696"/>
            <a:ext cx="292608" cy="29260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4" name="Shape 32"/>
          <p:cNvSpPr/>
          <p:nvPr/>
        </p:nvSpPr>
        <p:spPr>
          <a:xfrm>
            <a:off x="9866376" y="2139696"/>
            <a:ext cx="292608" cy="292608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35" name="Shape 33"/>
          <p:cNvSpPr/>
          <p:nvPr/>
        </p:nvSpPr>
        <p:spPr>
          <a:xfrm>
            <a:off x="10158984" y="2139696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6" name="Shape 34"/>
          <p:cNvSpPr/>
          <p:nvPr/>
        </p:nvSpPr>
        <p:spPr>
          <a:xfrm>
            <a:off x="10451592" y="2139696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7" name="Shape 35"/>
          <p:cNvSpPr/>
          <p:nvPr/>
        </p:nvSpPr>
        <p:spPr>
          <a:xfrm>
            <a:off x="10744200" y="2139696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8" name="Shape 36"/>
          <p:cNvSpPr/>
          <p:nvPr/>
        </p:nvSpPr>
        <p:spPr>
          <a:xfrm>
            <a:off x="11036808" y="2139696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9" name="Shape 37"/>
          <p:cNvSpPr/>
          <p:nvPr/>
        </p:nvSpPr>
        <p:spPr>
          <a:xfrm>
            <a:off x="7818120" y="2432304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0" name="Shape 38"/>
          <p:cNvSpPr/>
          <p:nvPr/>
        </p:nvSpPr>
        <p:spPr>
          <a:xfrm>
            <a:off x="8110728" y="2432304"/>
            <a:ext cx="292608" cy="292608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41" name="Shape 39"/>
          <p:cNvSpPr/>
          <p:nvPr/>
        </p:nvSpPr>
        <p:spPr>
          <a:xfrm>
            <a:off x="8403336" y="2432304"/>
            <a:ext cx="292608" cy="292608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42" name="Shape 40"/>
          <p:cNvSpPr/>
          <p:nvPr/>
        </p:nvSpPr>
        <p:spPr>
          <a:xfrm>
            <a:off x="8695944" y="2432304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3" name="Shape 41"/>
          <p:cNvSpPr/>
          <p:nvPr/>
        </p:nvSpPr>
        <p:spPr>
          <a:xfrm>
            <a:off x="8988552" y="2432304"/>
            <a:ext cx="292608" cy="29260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4" name="Shape 42"/>
          <p:cNvSpPr/>
          <p:nvPr/>
        </p:nvSpPr>
        <p:spPr>
          <a:xfrm>
            <a:off x="9281160" y="2432304"/>
            <a:ext cx="292608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5" name="Shape 43"/>
          <p:cNvSpPr/>
          <p:nvPr/>
        </p:nvSpPr>
        <p:spPr>
          <a:xfrm>
            <a:off x="9573768" y="2432304"/>
            <a:ext cx="292608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6" name="Shape 44"/>
          <p:cNvSpPr/>
          <p:nvPr/>
        </p:nvSpPr>
        <p:spPr>
          <a:xfrm>
            <a:off x="9866376" y="2432304"/>
            <a:ext cx="292608" cy="292608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47" name="Shape 45"/>
          <p:cNvSpPr/>
          <p:nvPr/>
        </p:nvSpPr>
        <p:spPr>
          <a:xfrm>
            <a:off x="10158984" y="2432304"/>
            <a:ext cx="292608" cy="29260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8" name="Shape 46"/>
          <p:cNvSpPr/>
          <p:nvPr/>
        </p:nvSpPr>
        <p:spPr>
          <a:xfrm>
            <a:off x="10451592" y="2432304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9" name="Shape 47"/>
          <p:cNvSpPr/>
          <p:nvPr/>
        </p:nvSpPr>
        <p:spPr>
          <a:xfrm>
            <a:off x="10744200" y="2432304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0" name="Shape 48"/>
          <p:cNvSpPr/>
          <p:nvPr/>
        </p:nvSpPr>
        <p:spPr>
          <a:xfrm>
            <a:off x="11036808" y="2432304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1" name="Shape 49"/>
          <p:cNvSpPr/>
          <p:nvPr/>
        </p:nvSpPr>
        <p:spPr>
          <a:xfrm>
            <a:off x="7818120" y="2724912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2" name="Shape 50"/>
          <p:cNvSpPr/>
          <p:nvPr/>
        </p:nvSpPr>
        <p:spPr>
          <a:xfrm>
            <a:off x="8110728" y="2724912"/>
            <a:ext cx="292608" cy="292608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53" name="Shape 51"/>
          <p:cNvSpPr/>
          <p:nvPr/>
        </p:nvSpPr>
        <p:spPr>
          <a:xfrm>
            <a:off x="8403336" y="2724912"/>
            <a:ext cx="292608" cy="29260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54" name="Shape 52"/>
          <p:cNvSpPr/>
          <p:nvPr/>
        </p:nvSpPr>
        <p:spPr>
          <a:xfrm>
            <a:off x="8695944" y="2724912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5" name="Shape 53"/>
          <p:cNvSpPr/>
          <p:nvPr/>
        </p:nvSpPr>
        <p:spPr>
          <a:xfrm>
            <a:off x="8988552" y="2724912"/>
            <a:ext cx="292608" cy="292608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6" name="Shape 54"/>
          <p:cNvSpPr/>
          <p:nvPr/>
        </p:nvSpPr>
        <p:spPr>
          <a:xfrm>
            <a:off x="9281160" y="2724912"/>
            <a:ext cx="292608" cy="292608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7" name="Shape 55"/>
          <p:cNvSpPr/>
          <p:nvPr/>
        </p:nvSpPr>
        <p:spPr>
          <a:xfrm>
            <a:off x="9573768" y="2724912"/>
            <a:ext cx="292608" cy="292608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8" name="Shape 56"/>
          <p:cNvSpPr/>
          <p:nvPr/>
        </p:nvSpPr>
        <p:spPr>
          <a:xfrm>
            <a:off x="9866376" y="2724912"/>
            <a:ext cx="292608" cy="292608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59" name="Shape 57"/>
          <p:cNvSpPr/>
          <p:nvPr/>
        </p:nvSpPr>
        <p:spPr>
          <a:xfrm>
            <a:off x="10158984" y="2724912"/>
            <a:ext cx="292608" cy="29260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0" name="Shape 58"/>
          <p:cNvSpPr/>
          <p:nvPr/>
        </p:nvSpPr>
        <p:spPr>
          <a:xfrm>
            <a:off x="10451592" y="2724912"/>
            <a:ext cx="292608" cy="292608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61" name="Shape 59"/>
          <p:cNvSpPr/>
          <p:nvPr/>
        </p:nvSpPr>
        <p:spPr>
          <a:xfrm>
            <a:off x="10744200" y="2724912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2" name="Shape 60"/>
          <p:cNvSpPr/>
          <p:nvPr/>
        </p:nvSpPr>
        <p:spPr>
          <a:xfrm>
            <a:off x="11036808" y="2724912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3" name="Shape 61"/>
          <p:cNvSpPr/>
          <p:nvPr/>
        </p:nvSpPr>
        <p:spPr>
          <a:xfrm>
            <a:off x="7818120" y="301752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4" name="Shape 62"/>
          <p:cNvSpPr/>
          <p:nvPr/>
        </p:nvSpPr>
        <p:spPr>
          <a:xfrm>
            <a:off x="8110728" y="3017520"/>
            <a:ext cx="292608" cy="292608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403336" y="3017520"/>
            <a:ext cx="292608" cy="29260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6" name="Shape 64"/>
          <p:cNvSpPr/>
          <p:nvPr/>
        </p:nvSpPr>
        <p:spPr>
          <a:xfrm>
            <a:off x="8695944" y="3017520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67" name="Shape 65"/>
          <p:cNvSpPr/>
          <p:nvPr/>
        </p:nvSpPr>
        <p:spPr>
          <a:xfrm>
            <a:off x="8988552" y="3017520"/>
            <a:ext cx="292608" cy="292608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68" name="Shape 66"/>
          <p:cNvSpPr/>
          <p:nvPr/>
        </p:nvSpPr>
        <p:spPr>
          <a:xfrm>
            <a:off x="9281160" y="3017520"/>
            <a:ext cx="292608" cy="292608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69" name="Shape 67"/>
          <p:cNvSpPr/>
          <p:nvPr/>
        </p:nvSpPr>
        <p:spPr>
          <a:xfrm>
            <a:off x="9573768" y="3017520"/>
            <a:ext cx="292608" cy="292608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70" name="Shape 68"/>
          <p:cNvSpPr/>
          <p:nvPr/>
        </p:nvSpPr>
        <p:spPr>
          <a:xfrm>
            <a:off x="9866376" y="3017520"/>
            <a:ext cx="292608" cy="292608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71" name="Shape 69"/>
          <p:cNvSpPr/>
          <p:nvPr/>
        </p:nvSpPr>
        <p:spPr>
          <a:xfrm>
            <a:off x="10158984" y="3017520"/>
            <a:ext cx="292608" cy="29260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2" name="Shape 70"/>
          <p:cNvSpPr/>
          <p:nvPr/>
        </p:nvSpPr>
        <p:spPr>
          <a:xfrm>
            <a:off x="10451592" y="3017520"/>
            <a:ext cx="292608" cy="292608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744200" y="301752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4" name="Shape 72"/>
          <p:cNvSpPr/>
          <p:nvPr/>
        </p:nvSpPr>
        <p:spPr>
          <a:xfrm>
            <a:off x="11036808" y="301752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5" name="Shape 73"/>
          <p:cNvSpPr/>
          <p:nvPr/>
        </p:nvSpPr>
        <p:spPr>
          <a:xfrm>
            <a:off x="7818120" y="331012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6" name="Shape 74"/>
          <p:cNvSpPr/>
          <p:nvPr/>
        </p:nvSpPr>
        <p:spPr>
          <a:xfrm>
            <a:off x="8110728" y="3310128"/>
            <a:ext cx="292608" cy="292608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77" name="Shape 75"/>
          <p:cNvSpPr/>
          <p:nvPr/>
        </p:nvSpPr>
        <p:spPr>
          <a:xfrm>
            <a:off x="8403336" y="3310128"/>
            <a:ext cx="292608" cy="29260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78" name="Shape 76"/>
          <p:cNvSpPr/>
          <p:nvPr/>
        </p:nvSpPr>
        <p:spPr>
          <a:xfrm>
            <a:off x="8695944" y="3310128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9" name="Shape 77"/>
          <p:cNvSpPr/>
          <p:nvPr/>
        </p:nvSpPr>
        <p:spPr>
          <a:xfrm>
            <a:off x="8988552" y="3310128"/>
            <a:ext cx="292608" cy="292608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80" name="Shape 78"/>
          <p:cNvSpPr/>
          <p:nvPr/>
        </p:nvSpPr>
        <p:spPr>
          <a:xfrm>
            <a:off x="9281160" y="3310128"/>
            <a:ext cx="292608" cy="292608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81" name="Shape 79"/>
          <p:cNvSpPr/>
          <p:nvPr/>
        </p:nvSpPr>
        <p:spPr>
          <a:xfrm>
            <a:off x="9573768" y="3310128"/>
            <a:ext cx="292608" cy="292608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82" name="Shape 80"/>
          <p:cNvSpPr/>
          <p:nvPr/>
        </p:nvSpPr>
        <p:spPr>
          <a:xfrm>
            <a:off x="9866376" y="3310128"/>
            <a:ext cx="292608" cy="292608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83" name="Shape 81"/>
          <p:cNvSpPr/>
          <p:nvPr/>
        </p:nvSpPr>
        <p:spPr>
          <a:xfrm>
            <a:off x="10158984" y="3310128"/>
            <a:ext cx="292608" cy="29260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4" name="Shape 82"/>
          <p:cNvSpPr/>
          <p:nvPr/>
        </p:nvSpPr>
        <p:spPr>
          <a:xfrm>
            <a:off x="10451592" y="331012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5" name="Shape 83"/>
          <p:cNvSpPr/>
          <p:nvPr/>
        </p:nvSpPr>
        <p:spPr>
          <a:xfrm>
            <a:off x="10744200" y="331012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6" name="Shape 84"/>
          <p:cNvSpPr/>
          <p:nvPr/>
        </p:nvSpPr>
        <p:spPr>
          <a:xfrm>
            <a:off x="11036808" y="331012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7" name="Shape 85"/>
          <p:cNvSpPr/>
          <p:nvPr/>
        </p:nvSpPr>
        <p:spPr>
          <a:xfrm>
            <a:off x="7818120" y="3602736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8" name="Shape 86"/>
          <p:cNvSpPr/>
          <p:nvPr/>
        </p:nvSpPr>
        <p:spPr>
          <a:xfrm>
            <a:off x="8110728" y="3602736"/>
            <a:ext cx="292608" cy="292608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89" name="Shape 87"/>
          <p:cNvSpPr/>
          <p:nvPr/>
        </p:nvSpPr>
        <p:spPr>
          <a:xfrm>
            <a:off x="8403336" y="3602736"/>
            <a:ext cx="292608" cy="29260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90" name="Shape 88"/>
          <p:cNvSpPr/>
          <p:nvPr/>
        </p:nvSpPr>
        <p:spPr>
          <a:xfrm>
            <a:off x="8695944" y="3602736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1" name="Shape 89"/>
          <p:cNvSpPr/>
          <p:nvPr/>
        </p:nvSpPr>
        <p:spPr>
          <a:xfrm>
            <a:off x="8988552" y="3602736"/>
            <a:ext cx="292608" cy="292608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92" name="Shape 90"/>
          <p:cNvSpPr/>
          <p:nvPr/>
        </p:nvSpPr>
        <p:spPr>
          <a:xfrm>
            <a:off x="9281160" y="3602736"/>
            <a:ext cx="292608" cy="292608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93" name="Shape 91"/>
          <p:cNvSpPr/>
          <p:nvPr/>
        </p:nvSpPr>
        <p:spPr>
          <a:xfrm>
            <a:off x="9573768" y="3602736"/>
            <a:ext cx="292608" cy="292608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94" name="Shape 92"/>
          <p:cNvSpPr/>
          <p:nvPr/>
        </p:nvSpPr>
        <p:spPr>
          <a:xfrm>
            <a:off x="9866376" y="3602736"/>
            <a:ext cx="292608" cy="292608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95" name="Shape 93"/>
          <p:cNvSpPr/>
          <p:nvPr/>
        </p:nvSpPr>
        <p:spPr>
          <a:xfrm>
            <a:off x="10158984" y="3602736"/>
            <a:ext cx="292608" cy="29260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96" name="Shape 94"/>
          <p:cNvSpPr/>
          <p:nvPr/>
        </p:nvSpPr>
        <p:spPr>
          <a:xfrm>
            <a:off x="10451592" y="3602736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7" name="Shape 95"/>
          <p:cNvSpPr/>
          <p:nvPr/>
        </p:nvSpPr>
        <p:spPr>
          <a:xfrm>
            <a:off x="10744200" y="3602736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8" name="Shape 96"/>
          <p:cNvSpPr/>
          <p:nvPr/>
        </p:nvSpPr>
        <p:spPr>
          <a:xfrm>
            <a:off x="11036808" y="3602736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9" name="Shape 97"/>
          <p:cNvSpPr/>
          <p:nvPr/>
        </p:nvSpPr>
        <p:spPr>
          <a:xfrm>
            <a:off x="7818120" y="3895344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0" name="Shape 98"/>
          <p:cNvSpPr/>
          <p:nvPr/>
        </p:nvSpPr>
        <p:spPr>
          <a:xfrm>
            <a:off x="8110728" y="3895344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1" name="Shape 99"/>
          <p:cNvSpPr/>
          <p:nvPr/>
        </p:nvSpPr>
        <p:spPr>
          <a:xfrm>
            <a:off x="8403336" y="3895344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695944" y="3895344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3" name="Shape 101"/>
          <p:cNvSpPr/>
          <p:nvPr/>
        </p:nvSpPr>
        <p:spPr>
          <a:xfrm>
            <a:off x="8988552" y="3895344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281160" y="3895344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573768" y="3895344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866376" y="3895344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0158984" y="3895344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0451592" y="3895344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0744200" y="3895344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1036808" y="3895344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818120" y="4187952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110728" y="4187952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403336" y="4187952"/>
            <a:ext cx="292608" cy="292608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695944" y="4187952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8988552" y="4187952"/>
            <a:ext cx="292608" cy="292608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9281160" y="4187952"/>
            <a:ext cx="292608" cy="29260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573768" y="4187952"/>
            <a:ext cx="292608" cy="292608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18" name="Shape 116"/>
          <p:cNvSpPr/>
          <p:nvPr/>
        </p:nvSpPr>
        <p:spPr>
          <a:xfrm>
            <a:off x="9866376" y="4187952"/>
            <a:ext cx="292608" cy="292608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0158984" y="4187952"/>
            <a:ext cx="292608" cy="292608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51592" y="4187952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1" name="Shape 119"/>
          <p:cNvSpPr/>
          <p:nvPr/>
        </p:nvSpPr>
        <p:spPr>
          <a:xfrm>
            <a:off x="10744200" y="4187952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2" name="Shape 120"/>
          <p:cNvSpPr/>
          <p:nvPr/>
        </p:nvSpPr>
        <p:spPr>
          <a:xfrm>
            <a:off x="11036808" y="4187952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818120" y="448056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110728" y="448056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403336" y="448056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695944" y="4480560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988552" y="4480560"/>
            <a:ext cx="292608" cy="292608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281160" y="4480560"/>
            <a:ext cx="292608" cy="292608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573768" y="4480560"/>
            <a:ext cx="292608" cy="292608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866376" y="4480560"/>
            <a:ext cx="292608" cy="292608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31" name="Shape 129"/>
          <p:cNvSpPr/>
          <p:nvPr/>
        </p:nvSpPr>
        <p:spPr>
          <a:xfrm>
            <a:off x="10158984" y="448056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2" name="Shape 130"/>
          <p:cNvSpPr/>
          <p:nvPr/>
        </p:nvSpPr>
        <p:spPr>
          <a:xfrm>
            <a:off x="10451592" y="448056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0744200" y="448056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1036808" y="4480560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818120" y="477316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6" name="Shape 134"/>
          <p:cNvSpPr/>
          <p:nvPr/>
        </p:nvSpPr>
        <p:spPr>
          <a:xfrm>
            <a:off x="8110728" y="477316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7" name="Shape 135"/>
          <p:cNvSpPr/>
          <p:nvPr/>
        </p:nvSpPr>
        <p:spPr>
          <a:xfrm>
            <a:off x="8403336" y="477316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8" name="Shape 136"/>
          <p:cNvSpPr/>
          <p:nvPr/>
        </p:nvSpPr>
        <p:spPr>
          <a:xfrm>
            <a:off x="8695944" y="4773168"/>
            <a:ext cx="292608" cy="29260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8988552" y="477316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281160" y="477316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1" name="Shape 139"/>
          <p:cNvSpPr/>
          <p:nvPr/>
        </p:nvSpPr>
        <p:spPr>
          <a:xfrm>
            <a:off x="9573768" y="477316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866376" y="4773168"/>
            <a:ext cx="292608" cy="292608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43" name="Shape 141"/>
          <p:cNvSpPr/>
          <p:nvPr/>
        </p:nvSpPr>
        <p:spPr>
          <a:xfrm>
            <a:off x="10158984" y="477316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4" name="Shape 142"/>
          <p:cNvSpPr/>
          <p:nvPr/>
        </p:nvSpPr>
        <p:spPr>
          <a:xfrm>
            <a:off x="10451592" y="477316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5" name="Shape 143"/>
          <p:cNvSpPr/>
          <p:nvPr/>
        </p:nvSpPr>
        <p:spPr>
          <a:xfrm>
            <a:off x="10744200" y="477316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6" name="Shape 144"/>
          <p:cNvSpPr/>
          <p:nvPr/>
        </p:nvSpPr>
        <p:spPr>
          <a:xfrm>
            <a:off x="11036808" y="4773168"/>
            <a:ext cx="292608" cy="29260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7" name="Shape 145"/>
          <p:cNvSpPr/>
          <p:nvPr/>
        </p:nvSpPr>
        <p:spPr>
          <a:xfrm>
            <a:off x="9339682" y="3134563"/>
            <a:ext cx="263347" cy="263347"/>
          </a:xfrm>
          <a:prstGeom prst="ellipse">
            <a:avLst/>
          </a:prstGeom>
          <a:solidFill>
            <a:srgbClr val="FBBF24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281160" y="2432304"/>
            <a:ext cx="210678" cy="21067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10451592" y="2724912"/>
            <a:ext cx="210678" cy="21067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8988552" y="3895344"/>
            <a:ext cx="210678" cy="21067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866376" y="2139696"/>
            <a:ext cx="210678" cy="21067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85800" y="6400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제6회 빅데이터로 우리동네 문제해결 아이디어 공모대회 · 창원시</a:t>
            </a:r>
            <a:endParaRPr lang="en-US" sz="1300" dirty="0"/>
          </a:p>
        </p:txBody>
      </p:sp>
      <p:sp>
        <p:nvSpPr>
          <p:cNvPr id="153" name="Text 151"/>
          <p:cNvSpPr/>
          <p:nvPr/>
        </p:nvSpPr>
        <p:spPr>
          <a:xfrm>
            <a:off x="658368" y="146304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골목을 건너는 불,
</a:t>
            </a:r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골목을 건너는 드론</a:t>
            </a:r>
            <a:endParaRPr lang="en-US" sz="4400" dirty="0"/>
          </a:p>
        </p:txBody>
      </p:sp>
      <p:sp>
        <p:nvSpPr>
          <p:cNvPr id="154" name="Text 152"/>
          <p:cNvSpPr/>
          <p:nvPr/>
        </p:nvSpPr>
        <p:spPr>
          <a:xfrm>
            <a:off x="685800" y="35204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군집 소방 드론 × 실주소 도면 기반 화재확산 시뮬레이션</a:t>
            </a:r>
            <a:endParaRPr lang="en-US" sz="1800" dirty="0"/>
          </a:p>
        </p:txBody>
      </p:sp>
      <p:sp>
        <p:nvSpPr>
          <p:cNvPr id="155" name="Shape 153"/>
          <p:cNvSpPr/>
          <p:nvPr/>
        </p:nvSpPr>
        <p:spPr>
          <a:xfrm>
            <a:off x="685800" y="4297680"/>
            <a:ext cx="6720840" cy="8229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914400" y="429768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소방차가 못 들어가는 폭 4m 미만 골목 — 그 상공을 드론이 대신 지킨다.</a:t>
            </a:r>
            <a:endParaRPr lang="en-US" sz="1450" dirty="0"/>
          </a:p>
        </p:txBody>
      </p:sp>
      <p:sp>
        <p:nvSpPr>
          <p:cNvPr id="157" name="Text 155"/>
          <p:cNvSpPr/>
          <p:nvPr/>
        </p:nvSpPr>
        <p:spPr>
          <a:xfrm>
            <a:off x="68580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______     ·     팀명 ______     ·    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· 기획 배경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 구도심 · 전통시장의 좁은 골목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80644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92808"/>
            <a:ext cx="457200" cy="457200"/>
          </a:xfrm>
          <a:prstGeom prst="ellipse">
            <a:avLst/>
          </a:prstGeom>
          <a:solidFill>
            <a:srgbClr val="0B1220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463040" y="17830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구도심·전통시장 밀집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216712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마산어시장·부림시장·진해 중앙동 등 노후 시가지는 폭이 좁은 이면도로와 골목으로 얽혀 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580644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401568"/>
            <a:ext cx="457200" cy="457200"/>
          </a:xfrm>
          <a:prstGeom prst="ellipse">
            <a:avLst/>
          </a:prstGeom>
          <a:solidFill>
            <a:srgbClr val="0B1220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01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329184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목조·경량 밀집 시가지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63040" y="367588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건물이 붙어 있고 가연물이 많아, 한 곳의 발화가 곧 이웃 건물로 옮겨붙는다.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617720"/>
            <a:ext cx="580644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910328"/>
            <a:ext cx="457200" cy="457200"/>
          </a:xfrm>
          <a:prstGeom prst="ellipse">
            <a:avLst/>
          </a:prstGeom>
          <a:solidFill>
            <a:srgbClr val="0B1220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463040" y="480060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좁을수록 위험이 겹친다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63040" y="5184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소방차는 못 들어오고, 불은 오히려 더 잘 번진다 — 위험이 한 곳에 몰린다.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720840" y="1600200"/>
            <a:ext cx="4892040" cy="4526280"/>
          </a:xfrm>
          <a:prstGeom prst="roundRect">
            <a:avLst>
              <a:gd name="adj" fmla="val 1616"/>
            </a:avLst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40880" y="1965960"/>
            <a:ext cx="1234440" cy="822960"/>
          </a:xfrm>
          <a:prstGeom prst="rect">
            <a:avLst/>
          </a:prstGeom>
          <a:solidFill>
            <a:srgbClr val="334155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95360" y="1965960"/>
            <a:ext cx="1234440" cy="822960"/>
          </a:xfrm>
          <a:prstGeom prst="rect">
            <a:avLst/>
          </a:prstGeom>
          <a:solidFill>
            <a:srgbClr val="334155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49840" y="1965960"/>
            <a:ext cx="1234440" cy="822960"/>
          </a:xfrm>
          <a:prstGeom prst="rect">
            <a:avLst/>
          </a:prstGeom>
          <a:solidFill>
            <a:srgbClr val="334155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40880" y="2990088"/>
            <a:ext cx="1234440" cy="822960"/>
          </a:xfrm>
          <a:prstGeom prst="rect">
            <a:avLst/>
          </a:prstGeom>
          <a:solidFill>
            <a:srgbClr val="334155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95360" y="2990088"/>
            <a:ext cx="1234440" cy="822960"/>
          </a:xfrm>
          <a:prstGeom prst="rect">
            <a:avLst/>
          </a:prstGeom>
          <a:solidFill>
            <a:srgbClr val="334155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0" y="2990088"/>
            <a:ext cx="1234440" cy="822960"/>
          </a:xfrm>
          <a:prstGeom prst="rect">
            <a:avLst/>
          </a:prstGeom>
          <a:solidFill>
            <a:srgbClr val="334155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040880" y="4014216"/>
            <a:ext cx="1234440" cy="822960"/>
          </a:xfrm>
          <a:prstGeom prst="rect">
            <a:avLst/>
          </a:prstGeom>
          <a:solidFill>
            <a:srgbClr val="334155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595360" y="4014216"/>
            <a:ext cx="1234440" cy="822960"/>
          </a:xfrm>
          <a:prstGeom prst="rect">
            <a:avLst/>
          </a:prstGeom>
          <a:solidFill>
            <a:srgbClr val="334155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149840" y="4014216"/>
            <a:ext cx="1234440" cy="822960"/>
          </a:xfrm>
          <a:prstGeom prst="rect">
            <a:avLst/>
          </a:prstGeom>
          <a:solidFill>
            <a:srgbClr val="334155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40880" y="5038344"/>
            <a:ext cx="1234440" cy="822960"/>
          </a:xfrm>
          <a:prstGeom prst="rect">
            <a:avLst/>
          </a:prstGeom>
          <a:solidFill>
            <a:srgbClr val="334155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95360" y="5038344"/>
            <a:ext cx="1234440" cy="822960"/>
          </a:xfrm>
          <a:prstGeom prst="rect">
            <a:avLst/>
          </a:prstGeom>
          <a:solidFill>
            <a:srgbClr val="334155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149840" y="5038344"/>
            <a:ext cx="1234440" cy="822960"/>
          </a:xfrm>
          <a:prstGeom prst="rect">
            <a:avLst/>
          </a:prstGeom>
          <a:solidFill>
            <a:srgbClr val="334155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21040" y="1920240"/>
            <a:ext cx="256032" cy="3931920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33" name="Shape 31"/>
          <p:cNvSpPr/>
          <p:nvPr/>
        </p:nvSpPr>
        <p:spPr>
          <a:xfrm>
            <a:off x="9875520" y="1920240"/>
            <a:ext cx="256032" cy="3931920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34" name="Shape 32"/>
          <p:cNvSpPr/>
          <p:nvPr/>
        </p:nvSpPr>
        <p:spPr>
          <a:xfrm>
            <a:off x="6903720" y="5623560"/>
            <a:ext cx="4526280" cy="31089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5" name="Text 33"/>
          <p:cNvSpPr/>
          <p:nvPr/>
        </p:nvSpPr>
        <p:spPr>
          <a:xfrm>
            <a:off x="7818120" y="16459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폭 3.0m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903720" y="562356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 진입 가능 도로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720840" y="6199632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건물이 붙어 있고 골목이 좁다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· 문제 정의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위험한 곳에, 가장 늦게 도착한다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2A1215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82880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4m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A5A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미만 도로 = 소방차 진입 불가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 최소 통행폭 기준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60520" y="169164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60520" y="182880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복사열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160520" y="288036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불은 좁은 골목을 건너뛴다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60520" y="329184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3~6m 간극은 자연 방화선이 못 된다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4114800"/>
            <a:ext cx="7040880" cy="1691640"/>
          </a:xfrm>
          <a:prstGeom prst="roundRect">
            <a:avLst>
              <a:gd name="adj" fmla="val 4865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315968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위험이 같은 곳에서 겹친다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2960" y="480060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좁은 골목일수록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CA5A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소방차는 못 들어오고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동시에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B92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불은 더 잘 번진다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초동 골든타임을 확보할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상공 대응 수단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필요하다.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02168" y="1755648"/>
            <a:ext cx="3767328" cy="3767328"/>
          </a:xfrm>
          <a:prstGeom prst="roundRect">
            <a:avLst>
              <a:gd name="adj" fmla="val 1456"/>
            </a:avLst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18288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7" name="Shape 15"/>
          <p:cNvSpPr/>
          <p:nvPr/>
        </p:nvSpPr>
        <p:spPr>
          <a:xfrm>
            <a:off x="8577072" y="18288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8" name="Shape 16"/>
          <p:cNvSpPr/>
          <p:nvPr/>
        </p:nvSpPr>
        <p:spPr>
          <a:xfrm>
            <a:off x="8878824" y="18288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9" name="Shape 17"/>
          <p:cNvSpPr/>
          <p:nvPr/>
        </p:nvSpPr>
        <p:spPr>
          <a:xfrm>
            <a:off x="9180576" y="1828800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0" name="Shape 18"/>
          <p:cNvSpPr/>
          <p:nvPr/>
        </p:nvSpPr>
        <p:spPr>
          <a:xfrm>
            <a:off x="9482328" y="18288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1" name="Shape 19"/>
          <p:cNvSpPr/>
          <p:nvPr/>
        </p:nvSpPr>
        <p:spPr>
          <a:xfrm>
            <a:off x="9784080" y="18288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85832" y="18288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3" name="Shape 21"/>
          <p:cNvSpPr/>
          <p:nvPr/>
        </p:nvSpPr>
        <p:spPr>
          <a:xfrm>
            <a:off x="10387584" y="1828800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24" name="Shape 22"/>
          <p:cNvSpPr/>
          <p:nvPr/>
        </p:nvSpPr>
        <p:spPr>
          <a:xfrm>
            <a:off x="10689336" y="18288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5" name="Shape 23"/>
          <p:cNvSpPr/>
          <p:nvPr/>
        </p:nvSpPr>
        <p:spPr>
          <a:xfrm>
            <a:off x="10991088" y="18288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92840" y="18288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7" name="Shape 25"/>
          <p:cNvSpPr/>
          <p:nvPr/>
        </p:nvSpPr>
        <p:spPr>
          <a:xfrm>
            <a:off x="11594592" y="18288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20" y="21305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9" name="Shape 27"/>
          <p:cNvSpPr/>
          <p:nvPr/>
        </p:nvSpPr>
        <p:spPr>
          <a:xfrm>
            <a:off x="8577072" y="21305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0" name="Shape 28"/>
          <p:cNvSpPr/>
          <p:nvPr/>
        </p:nvSpPr>
        <p:spPr>
          <a:xfrm>
            <a:off x="8878824" y="21305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1" name="Shape 29"/>
          <p:cNvSpPr/>
          <p:nvPr/>
        </p:nvSpPr>
        <p:spPr>
          <a:xfrm>
            <a:off x="9180576" y="2130552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2" name="Shape 30"/>
          <p:cNvSpPr/>
          <p:nvPr/>
        </p:nvSpPr>
        <p:spPr>
          <a:xfrm>
            <a:off x="9482328" y="21305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3" name="Shape 31"/>
          <p:cNvSpPr/>
          <p:nvPr/>
        </p:nvSpPr>
        <p:spPr>
          <a:xfrm>
            <a:off x="9784080" y="21305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4" name="Shape 32"/>
          <p:cNvSpPr/>
          <p:nvPr/>
        </p:nvSpPr>
        <p:spPr>
          <a:xfrm>
            <a:off x="10085832" y="21305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5" name="Shape 33"/>
          <p:cNvSpPr/>
          <p:nvPr/>
        </p:nvSpPr>
        <p:spPr>
          <a:xfrm>
            <a:off x="10387584" y="2130552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36" name="Shape 34"/>
          <p:cNvSpPr/>
          <p:nvPr/>
        </p:nvSpPr>
        <p:spPr>
          <a:xfrm>
            <a:off x="10689336" y="21305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7" name="Shape 35"/>
          <p:cNvSpPr/>
          <p:nvPr/>
        </p:nvSpPr>
        <p:spPr>
          <a:xfrm>
            <a:off x="10991088" y="21305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8" name="Shape 36"/>
          <p:cNvSpPr/>
          <p:nvPr/>
        </p:nvSpPr>
        <p:spPr>
          <a:xfrm>
            <a:off x="11292840" y="21305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9" name="Shape 37"/>
          <p:cNvSpPr/>
          <p:nvPr/>
        </p:nvSpPr>
        <p:spPr>
          <a:xfrm>
            <a:off x="11594592" y="21305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0" name="Shape 38"/>
          <p:cNvSpPr/>
          <p:nvPr/>
        </p:nvSpPr>
        <p:spPr>
          <a:xfrm>
            <a:off x="8275320" y="243230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1" name="Shape 39"/>
          <p:cNvSpPr/>
          <p:nvPr/>
        </p:nvSpPr>
        <p:spPr>
          <a:xfrm>
            <a:off x="8577072" y="243230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2" name="Shape 40"/>
          <p:cNvSpPr/>
          <p:nvPr/>
        </p:nvSpPr>
        <p:spPr>
          <a:xfrm>
            <a:off x="8878824" y="243230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3" name="Shape 41"/>
          <p:cNvSpPr/>
          <p:nvPr/>
        </p:nvSpPr>
        <p:spPr>
          <a:xfrm>
            <a:off x="9180576" y="2432304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4" name="Shape 42"/>
          <p:cNvSpPr/>
          <p:nvPr/>
        </p:nvSpPr>
        <p:spPr>
          <a:xfrm>
            <a:off x="9482328" y="2432304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5" name="Shape 43"/>
          <p:cNvSpPr/>
          <p:nvPr/>
        </p:nvSpPr>
        <p:spPr>
          <a:xfrm>
            <a:off x="9784080" y="2432304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6" name="Shape 44"/>
          <p:cNvSpPr/>
          <p:nvPr/>
        </p:nvSpPr>
        <p:spPr>
          <a:xfrm>
            <a:off x="10085832" y="2432304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7" name="Shape 45"/>
          <p:cNvSpPr/>
          <p:nvPr/>
        </p:nvSpPr>
        <p:spPr>
          <a:xfrm>
            <a:off x="10387584" y="2432304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48" name="Shape 46"/>
          <p:cNvSpPr/>
          <p:nvPr/>
        </p:nvSpPr>
        <p:spPr>
          <a:xfrm>
            <a:off x="10689336" y="243230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9" name="Shape 47"/>
          <p:cNvSpPr/>
          <p:nvPr/>
        </p:nvSpPr>
        <p:spPr>
          <a:xfrm>
            <a:off x="10991088" y="243230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0" name="Shape 48"/>
          <p:cNvSpPr/>
          <p:nvPr/>
        </p:nvSpPr>
        <p:spPr>
          <a:xfrm>
            <a:off x="11292840" y="243230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1" name="Shape 49"/>
          <p:cNvSpPr/>
          <p:nvPr/>
        </p:nvSpPr>
        <p:spPr>
          <a:xfrm>
            <a:off x="11594592" y="243230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2" name="Shape 50"/>
          <p:cNvSpPr/>
          <p:nvPr/>
        </p:nvSpPr>
        <p:spPr>
          <a:xfrm>
            <a:off x="8275320" y="2734056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3" name="Shape 51"/>
          <p:cNvSpPr/>
          <p:nvPr/>
        </p:nvSpPr>
        <p:spPr>
          <a:xfrm>
            <a:off x="8577072" y="2734056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4" name="Shape 52"/>
          <p:cNvSpPr/>
          <p:nvPr/>
        </p:nvSpPr>
        <p:spPr>
          <a:xfrm>
            <a:off x="8878824" y="2734056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5" name="Shape 53"/>
          <p:cNvSpPr/>
          <p:nvPr/>
        </p:nvSpPr>
        <p:spPr>
          <a:xfrm>
            <a:off x="9180576" y="273405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6" name="Shape 54"/>
          <p:cNvSpPr/>
          <p:nvPr/>
        </p:nvSpPr>
        <p:spPr>
          <a:xfrm>
            <a:off x="9482328" y="2734056"/>
            <a:ext cx="301752" cy="3017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7" name="Shape 55"/>
          <p:cNvSpPr/>
          <p:nvPr/>
        </p:nvSpPr>
        <p:spPr>
          <a:xfrm>
            <a:off x="9784080" y="2734056"/>
            <a:ext cx="301752" cy="3017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8" name="Shape 56"/>
          <p:cNvSpPr/>
          <p:nvPr/>
        </p:nvSpPr>
        <p:spPr>
          <a:xfrm>
            <a:off x="10085832" y="2734056"/>
            <a:ext cx="301752" cy="3017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9" name="Shape 57"/>
          <p:cNvSpPr/>
          <p:nvPr/>
        </p:nvSpPr>
        <p:spPr>
          <a:xfrm>
            <a:off x="10387584" y="2734056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60" name="Shape 58"/>
          <p:cNvSpPr/>
          <p:nvPr/>
        </p:nvSpPr>
        <p:spPr>
          <a:xfrm>
            <a:off x="10689336" y="2734056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1" name="Shape 59"/>
          <p:cNvSpPr/>
          <p:nvPr/>
        </p:nvSpPr>
        <p:spPr>
          <a:xfrm>
            <a:off x="10991088" y="2734056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2" name="Shape 60"/>
          <p:cNvSpPr/>
          <p:nvPr/>
        </p:nvSpPr>
        <p:spPr>
          <a:xfrm>
            <a:off x="11292840" y="2734056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3" name="Shape 61"/>
          <p:cNvSpPr/>
          <p:nvPr/>
        </p:nvSpPr>
        <p:spPr>
          <a:xfrm>
            <a:off x="11594592" y="2734056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4" name="Shape 62"/>
          <p:cNvSpPr/>
          <p:nvPr/>
        </p:nvSpPr>
        <p:spPr>
          <a:xfrm>
            <a:off x="8275320" y="303580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5" name="Shape 63"/>
          <p:cNvSpPr/>
          <p:nvPr/>
        </p:nvSpPr>
        <p:spPr>
          <a:xfrm>
            <a:off x="8577072" y="303580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6" name="Shape 64"/>
          <p:cNvSpPr/>
          <p:nvPr/>
        </p:nvSpPr>
        <p:spPr>
          <a:xfrm>
            <a:off x="8878824" y="3035808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7" name="Shape 65"/>
          <p:cNvSpPr/>
          <p:nvPr/>
        </p:nvSpPr>
        <p:spPr>
          <a:xfrm>
            <a:off x="9180576" y="3035808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68" name="Shape 66"/>
          <p:cNvSpPr/>
          <p:nvPr/>
        </p:nvSpPr>
        <p:spPr>
          <a:xfrm>
            <a:off x="9482328" y="3035808"/>
            <a:ext cx="301752" cy="3017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9" name="Shape 67"/>
          <p:cNvSpPr/>
          <p:nvPr/>
        </p:nvSpPr>
        <p:spPr>
          <a:xfrm>
            <a:off x="9784080" y="3035808"/>
            <a:ext cx="301752" cy="301752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70" name="Shape 68"/>
          <p:cNvSpPr/>
          <p:nvPr/>
        </p:nvSpPr>
        <p:spPr>
          <a:xfrm>
            <a:off x="10085832" y="3035808"/>
            <a:ext cx="301752" cy="301752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71" name="Shape 69"/>
          <p:cNvSpPr/>
          <p:nvPr/>
        </p:nvSpPr>
        <p:spPr>
          <a:xfrm>
            <a:off x="10387584" y="3035808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72" name="Shape 70"/>
          <p:cNvSpPr/>
          <p:nvPr/>
        </p:nvSpPr>
        <p:spPr>
          <a:xfrm>
            <a:off x="10689336" y="3035808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73" name="Shape 71"/>
          <p:cNvSpPr/>
          <p:nvPr/>
        </p:nvSpPr>
        <p:spPr>
          <a:xfrm>
            <a:off x="10991088" y="3035808"/>
            <a:ext cx="301752" cy="3017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4" name="Shape 72"/>
          <p:cNvSpPr/>
          <p:nvPr/>
        </p:nvSpPr>
        <p:spPr>
          <a:xfrm>
            <a:off x="11292840" y="3035808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75" name="Shape 73"/>
          <p:cNvSpPr/>
          <p:nvPr/>
        </p:nvSpPr>
        <p:spPr>
          <a:xfrm>
            <a:off x="11594592" y="303580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6" name="Shape 74"/>
          <p:cNvSpPr/>
          <p:nvPr/>
        </p:nvSpPr>
        <p:spPr>
          <a:xfrm>
            <a:off x="8275320" y="333756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7" name="Shape 75"/>
          <p:cNvSpPr/>
          <p:nvPr/>
        </p:nvSpPr>
        <p:spPr>
          <a:xfrm>
            <a:off x="8577072" y="333756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8" name="Shape 76"/>
          <p:cNvSpPr/>
          <p:nvPr/>
        </p:nvSpPr>
        <p:spPr>
          <a:xfrm>
            <a:off x="8878824" y="3337560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79" name="Shape 77"/>
          <p:cNvSpPr/>
          <p:nvPr/>
        </p:nvSpPr>
        <p:spPr>
          <a:xfrm>
            <a:off x="9180576" y="3337560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0" name="Shape 78"/>
          <p:cNvSpPr/>
          <p:nvPr/>
        </p:nvSpPr>
        <p:spPr>
          <a:xfrm>
            <a:off x="9482328" y="3337560"/>
            <a:ext cx="301752" cy="301752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81" name="Shape 79"/>
          <p:cNvSpPr/>
          <p:nvPr/>
        </p:nvSpPr>
        <p:spPr>
          <a:xfrm>
            <a:off x="9784080" y="3337560"/>
            <a:ext cx="301752" cy="301752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82" name="Shape 80"/>
          <p:cNvSpPr/>
          <p:nvPr/>
        </p:nvSpPr>
        <p:spPr>
          <a:xfrm>
            <a:off x="10085832" y="3337560"/>
            <a:ext cx="301752" cy="301752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83" name="Shape 81"/>
          <p:cNvSpPr/>
          <p:nvPr/>
        </p:nvSpPr>
        <p:spPr>
          <a:xfrm>
            <a:off x="10387584" y="3337560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84" name="Shape 82"/>
          <p:cNvSpPr/>
          <p:nvPr/>
        </p:nvSpPr>
        <p:spPr>
          <a:xfrm>
            <a:off x="10689336" y="3337560"/>
            <a:ext cx="301752" cy="3017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5" name="Shape 83"/>
          <p:cNvSpPr/>
          <p:nvPr/>
        </p:nvSpPr>
        <p:spPr>
          <a:xfrm>
            <a:off x="10991088" y="3337560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86" name="Shape 84"/>
          <p:cNvSpPr/>
          <p:nvPr/>
        </p:nvSpPr>
        <p:spPr>
          <a:xfrm>
            <a:off x="11292840" y="3337560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87" name="Shape 85"/>
          <p:cNvSpPr/>
          <p:nvPr/>
        </p:nvSpPr>
        <p:spPr>
          <a:xfrm>
            <a:off x="11594592" y="333756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8" name="Shape 86"/>
          <p:cNvSpPr/>
          <p:nvPr/>
        </p:nvSpPr>
        <p:spPr>
          <a:xfrm>
            <a:off x="8275320" y="363931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9" name="Shape 87"/>
          <p:cNvSpPr/>
          <p:nvPr/>
        </p:nvSpPr>
        <p:spPr>
          <a:xfrm>
            <a:off x="8577072" y="363931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0" name="Shape 88"/>
          <p:cNvSpPr/>
          <p:nvPr/>
        </p:nvSpPr>
        <p:spPr>
          <a:xfrm>
            <a:off x="8878824" y="3639312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91" name="Shape 89"/>
          <p:cNvSpPr/>
          <p:nvPr/>
        </p:nvSpPr>
        <p:spPr>
          <a:xfrm>
            <a:off x="9180576" y="3639312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2" name="Shape 90"/>
          <p:cNvSpPr/>
          <p:nvPr/>
        </p:nvSpPr>
        <p:spPr>
          <a:xfrm>
            <a:off x="9482328" y="3639312"/>
            <a:ext cx="301752" cy="301752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93" name="Shape 91"/>
          <p:cNvSpPr/>
          <p:nvPr/>
        </p:nvSpPr>
        <p:spPr>
          <a:xfrm>
            <a:off x="9784080" y="3639312"/>
            <a:ext cx="301752" cy="301752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94" name="Shape 92"/>
          <p:cNvSpPr/>
          <p:nvPr/>
        </p:nvSpPr>
        <p:spPr>
          <a:xfrm>
            <a:off x="10085832" y="3639312"/>
            <a:ext cx="301752" cy="301752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95" name="Shape 93"/>
          <p:cNvSpPr/>
          <p:nvPr/>
        </p:nvSpPr>
        <p:spPr>
          <a:xfrm>
            <a:off x="10387584" y="3639312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96" name="Shape 94"/>
          <p:cNvSpPr/>
          <p:nvPr/>
        </p:nvSpPr>
        <p:spPr>
          <a:xfrm>
            <a:off x="10689336" y="3639312"/>
            <a:ext cx="301752" cy="3017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97" name="Shape 95"/>
          <p:cNvSpPr/>
          <p:nvPr/>
        </p:nvSpPr>
        <p:spPr>
          <a:xfrm>
            <a:off x="10991088" y="3639312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98" name="Shape 96"/>
          <p:cNvSpPr/>
          <p:nvPr/>
        </p:nvSpPr>
        <p:spPr>
          <a:xfrm>
            <a:off x="11292840" y="363931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9" name="Shape 97"/>
          <p:cNvSpPr/>
          <p:nvPr/>
        </p:nvSpPr>
        <p:spPr>
          <a:xfrm>
            <a:off x="11594592" y="363931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75320" y="394106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1" name="Shape 99"/>
          <p:cNvSpPr/>
          <p:nvPr/>
        </p:nvSpPr>
        <p:spPr>
          <a:xfrm>
            <a:off x="8577072" y="394106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878824" y="3941064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180576" y="3941064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482328" y="3941064"/>
            <a:ext cx="301752" cy="3017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784080" y="3941064"/>
            <a:ext cx="301752" cy="301752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0085832" y="3941064"/>
            <a:ext cx="301752" cy="3017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0387584" y="3941064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0689336" y="3941064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0991088" y="394106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1292840" y="394106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1594592" y="394106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275320" y="424281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577072" y="424281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878824" y="424281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9180576" y="424281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6" name="Shape 114"/>
          <p:cNvSpPr/>
          <p:nvPr/>
        </p:nvSpPr>
        <p:spPr>
          <a:xfrm>
            <a:off x="9482328" y="424281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784080" y="424281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10085832" y="424281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0387584" y="424281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689336" y="424281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1" name="Shape 119"/>
          <p:cNvSpPr/>
          <p:nvPr/>
        </p:nvSpPr>
        <p:spPr>
          <a:xfrm>
            <a:off x="10991088" y="424281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2" name="Shape 120"/>
          <p:cNvSpPr/>
          <p:nvPr/>
        </p:nvSpPr>
        <p:spPr>
          <a:xfrm>
            <a:off x="11292840" y="424281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3" name="Shape 121"/>
          <p:cNvSpPr/>
          <p:nvPr/>
        </p:nvSpPr>
        <p:spPr>
          <a:xfrm>
            <a:off x="11594592" y="424281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275320" y="454456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577072" y="454456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878824" y="454456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7" name="Shape 125"/>
          <p:cNvSpPr/>
          <p:nvPr/>
        </p:nvSpPr>
        <p:spPr>
          <a:xfrm>
            <a:off x="9180576" y="4544568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482328" y="4544568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784080" y="4544568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085832" y="4544568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10387584" y="4544568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32" name="Shape 130"/>
          <p:cNvSpPr/>
          <p:nvPr/>
        </p:nvSpPr>
        <p:spPr>
          <a:xfrm>
            <a:off x="10689336" y="454456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0991088" y="454456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1292840" y="454456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1594592" y="454456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6" name="Shape 134"/>
          <p:cNvSpPr/>
          <p:nvPr/>
        </p:nvSpPr>
        <p:spPr>
          <a:xfrm>
            <a:off x="8275320" y="484632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7" name="Shape 135"/>
          <p:cNvSpPr/>
          <p:nvPr/>
        </p:nvSpPr>
        <p:spPr>
          <a:xfrm>
            <a:off x="8577072" y="484632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8" name="Shape 136"/>
          <p:cNvSpPr/>
          <p:nvPr/>
        </p:nvSpPr>
        <p:spPr>
          <a:xfrm>
            <a:off x="8878824" y="484632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180576" y="4846320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482328" y="484632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1" name="Shape 139"/>
          <p:cNvSpPr/>
          <p:nvPr/>
        </p:nvSpPr>
        <p:spPr>
          <a:xfrm>
            <a:off x="9784080" y="484632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2" name="Shape 140"/>
          <p:cNvSpPr/>
          <p:nvPr/>
        </p:nvSpPr>
        <p:spPr>
          <a:xfrm>
            <a:off x="10085832" y="484632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3" name="Shape 141"/>
          <p:cNvSpPr/>
          <p:nvPr/>
        </p:nvSpPr>
        <p:spPr>
          <a:xfrm>
            <a:off x="10387584" y="4846320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10689336" y="484632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5" name="Shape 143"/>
          <p:cNvSpPr/>
          <p:nvPr/>
        </p:nvSpPr>
        <p:spPr>
          <a:xfrm>
            <a:off x="10991088" y="484632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6" name="Shape 144"/>
          <p:cNvSpPr/>
          <p:nvPr/>
        </p:nvSpPr>
        <p:spPr>
          <a:xfrm>
            <a:off x="11292840" y="484632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7" name="Shape 145"/>
          <p:cNvSpPr/>
          <p:nvPr/>
        </p:nvSpPr>
        <p:spPr>
          <a:xfrm>
            <a:off x="11594592" y="484632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8" name="Shape 146"/>
          <p:cNvSpPr/>
          <p:nvPr/>
        </p:nvSpPr>
        <p:spPr>
          <a:xfrm>
            <a:off x="8275320" y="514807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9" name="Shape 147"/>
          <p:cNvSpPr/>
          <p:nvPr/>
        </p:nvSpPr>
        <p:spPr>
          <a:xfrm>
            <a:off x="8577072" y="514807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0" name="Shape 148"/>
          <p:cNvSpPr/>
          <p:nvPr/>
        </p:nvSpPr>
        <p:spPr>
          <a:xfrm>
            <a:off x="8878824" y="514807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180576" y="5148072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52" name="Shape 150"/>
          <p:cNvSpPr/>
          <p:nvPr/>
        </p:nvSpPr>
        <p:spPr>
          <a:xfrm>
            <a:off x="9482328" y="514807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3" name="Shape 151"/>
          <p:cNvSpPr/>
          <p:nvPr/>
        </p:nvSpPr>
        <p:spPr>
          <a:xfrm>
            <a:off x="9784080" y="514807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085832" y="514807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387584" y="5148072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689336" y="514807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991088" y="514807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1292840" y="514807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1594592" y="514807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60" name="Shape 158"/>
          <p:cNvSpPr/>
          <p:nvPr/>
        </p:nvSpPr>
        <p:spPr>
          <a:xfrm>
            <a:off x="9844430" y="3458261"/>
            <a:ext cx="271577" cy="271577"/>
          </a:xfrm>
          <a:prstGeom prst="ellipse">
            <a:avLst/>
          </a:prstGeom>
          <a:solidFill>
            <a:srgbClr val="FBBF24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8202168" y="546811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발화 → 골목 건너 확산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· 현장 데이터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팀이 직접 확인한 소방차 진입불가 구간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709160" cy="4160520"/>
          </a:xfrm>
          <a:prstGeom prst="roundRect">
            <a:avLst>
              <a:gd name="adj" fmla="val 1978"/>
            </a:avLst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8308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2331720" y="2331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CA5A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구간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13232" y="2743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창원시 전역 현장조사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8680" y="3246120"/>
            <a:ext cx="4069080" cy="2377440"/>
          </a:xfrm>
          <a:prstGeom prst="roundRect">
            <a:avLst>
              <a:gd name="adj" fmla="val 2308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34440" y="3703320"/>
            <a:ext cx="822960" cy="365760"/>
          </a:xfrm>
          <a:prstGeom prst="line">
            <a:avLst/>
          </a:prstGeom>
          <a:noFill/>
          <a:ln w="31750">
            <a:solidFill>
              <a:srgbClr val="DC26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06040" y="3611880"/>
            <a:ext cx="731520" cy="548640"/>
          </a:xfrm>
          <a:prstGeom prst="line">
            <a:avLst/>
          </a:prstGeom>
          <a:noFill/>
          <a:ln w="31750">
            <a:solidFill>
              <a:srgbClr val="DC26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86200" y="3886200"/>
            <a:ext cx="640080" cy="-182880"/>
          </a:xfrm>
          <a:prstGeom prst="line">
            <a:avLst/>
          </a:prstGeom>
          <a:noFill/>
          <a:ln w="31750">
            <a:solidFill>
              <a:srgbClr val="DC26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17320" y="4709160"/>
            <a:ext cx="822960" cy="457200"/>
          </a:xfrm>
          <a:prstGeom prst="line">
            <a:avLst/>
          </a:prstGeom>
          <a:noFill/>
          <a:ln w="31750">
            <a:solidFill>
              <a:srgbClr val="DC26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88920" y="4617720"/>
            <a:ext cx="731520" cy="457200"/>
          </a:xfrm>
          <a:prstGeom prst="line">
            <a:avLst/>
          </a:prstGeom>
          <a:noFill/>
          <a:ln w="31750">
            <a:solidFill>
              <a:srgbClr val="DC26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77640" y="4800600"/>
            <a:ext cx="594360" cy="411480"/>
          </a:xfrm>
          <a:prstGeom prst="line">
            <a:avLst/>
          </a:prstGeom>
          <a:noFill/>
          <a:ln w="31750">
            <a:solidFill>
              <a:srgbClr val="DC26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83080" y="5303520"/>
            <a:ext cx="731520" cy="137160"/>
          </a:xfrm>
          <a:prstGeom prst="line">
            <a:avLst/>
          </a:prstGeom>
          <a:noFill/>
          <a:ln w="31750">
            <a:solidFill>
              <a:srgbClr val="DC262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46120" y="5303520"/>
            <a:ext cx="731520" cy="91440"/>
          </a:xfrm>
          <a:prstGeom prst="line">
            <a:avLst/>
          </a:prstGeom>
          <a:noFill/>
          <a:ln w="3175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6052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붉은 선 = 진입불가 구간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0" y="1645920"/>
            <a:ext cx="6126480" cy="4160520"/>
          </a:xfrm>
          <a:prstGeom prst="roundRect">
            <a:avLst>
              <a:gd name="adj" fmla="val 197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82880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진입불가 구간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760720" y="2377440"/>
            <a:ext cx="146304" cy="146304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21" name="Text 19"/>
          <p:cNvSpPr/>
          <p:nvPr/>
        </p:nvSpPr>
        <p:spPr>
          <a:xfrm>
            <a:off x="6016752" y="227685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마산어시장 · 오동동 전통시장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641080" y="2377440"/>
            <a:ext cx="146304" cy="146304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23" name="Text 21"/>
          <p:cNvSpPr/>
          <p:nvPr/>
        </p:nvSpPr>
        <p:spPr>
          <a:xfrm>
            <a:off x="8897112" y="227685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진해 중앙동 구도심 골목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760720" y="3218688"/>
            <a:ext cx="146304" cy="146304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25" name="Text 23"/>
          <p:cNvSpPr/>
          <p:nvPr/>
        </p:nvSpPr>
        <p:spPr>
          <a:xfrm>
            <a:off x="6016752" y="31181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자산·완월동 고지대 골목길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641080" y="3218688"/>
            <a:ext cx="146304" cy="146304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27" name="Text 25"/>
          <p:cNvSpPr/>
          <p:nvPr/>
        </p:nvSpPr>
        <p:spPr>
          <a:xfrm>
            <a:off x="8897112" y="31181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명서동 주거밀집 이면도로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60720" y="4059936"/>
            <a:ext cx="146304" cy="146304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29" name="Text 27"/>
          <p:cNvSpPr/>
          <p:nvPr/>
        </p:nvSpPr>
        <p:spPr>
          <a:xfrm>
            <a:off x="6016752" y="395935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상남동 상업지구 이면도로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641080" y="4059936"/>
            <a:ext cx="146304" cy="146304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31" name="Text 29"/>
          <p:cNvSpPr/>
          <p:nvPr/>
        </p:nvSpPr>
        <p:spPr>
          <a:xfrm>
            <a:off x="8897112" y="395935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봉곡동 상가·주택 이면도로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760720" y="4901184"/>
            <a:ext cx="146304" cy="146304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33" name="Text 31"/>
          <p:cNvSpPr/>
          <p:nvPr/>
        </p:nvSpPr>
        <p:spPr>
          <a:xfrm>
            <a:off x="6016752" y="4800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합성동 상가주택 골목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641080" y="4901184"/>
            <a:ext cx="146304" cy="146304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35" name="Text 33"/>
          <p:cNvSpPr/>
          <p:nvPr/>
        </p:nvSpPr>
        <p:spPr>
          <a:xfrm>
            <a:off x="8897112" y="4800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구암동 노후주택가 골목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760720" y="55321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웅남·신촌 공단로, 진해 이동·자은동 주거지 외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· 기술 스택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실주소를 실제 도로 위 시뮬레이션으로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978762" cy="2286000"/>
          </a:xfrm>
          <a:prstGeom prst="roundRect">
            <a:avLst>
              <a:gd name="adj" fmla="val 415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17981" y="2286000"/>
            <a:ext cx="640080" cy="64008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7981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063240"/>
            <a:ext cx="179588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도로명주소·장소명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675888"/>
            <a:ext cx="17958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부림시장, 창원시청 …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509114" y="2011680"/>
            <a:ext cx="3291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20010" y="2011680"/>
            <a:ext cx="1978762" cy="2286000"/>
          </a:xfrm>
          <a:prstGeom prst="roundRect">
            <a:avLst>
              <a:gd name="adj" fmla="val 415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89350" y="2286000"/>
            <a:ext cx="640080" cy="64008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8935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11450" y="3063240"/>
            <a:ext cx="179588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위경도 좌표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911450" y="3675888"/>
            <a:ext cx="17958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Kakao Local API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80483" y="2011680"/>
            <a:ext cx="3291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091379" y="2011680"/>
            <a:ext cx="1978762" cy="2286000"/>
          </a:xfrm>
          <a:prstGeom prst="roundRect">
            <a:avLst>
              <a:gd name="adj" fmla="val 415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60720" y="2286000"/>
            <a:ext cx="640080" cy="64008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182819" y="3063240"/>
            <a:ext cx="179588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도로망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182819" y="3675888"/>
            <a:ext cx="17958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OpenStreetMap 실측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051853" y="2011680"/>
            <a:ext cx="3291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362749" y="2011680"/>
            <a:ext cx="1978762" cy="2286000"/>
          </a:xfrm>
          <a:prstGeom prst="roundRect">
            <a:avLst>
              <a:gd name="adj" fmla="val 415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32090" y="2286000"/>
            <a:ext cx="640080" cy="64008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F9731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3209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454189" y="3063240"/>
            <a:ext cx="179588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가구 복원·격자화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454189" y="3675888"/>
            <a:ext cx="17958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격자 · 300×300m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323222" y="2011680"/>
            <a:ext cx="3291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634118" y="2011680"/>
            <a:ext cx="1978762" cy="2286000"/>
          </a:xfrm>
          <a:prstGeom prst="roundRect">
            <a:avLst>
              <a:gd name="adj" fmla="val 415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03459" y="2286000"/>
            <a:ext cx="640080" cy="64008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F8717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03459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725558" y="3063240"/>
            <a:ext cx="179588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화재확산 모델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725558" y="3675888"/>
            <a:ext cx="17958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골목폭·복사열·바람 반영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470916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" y="48646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6EF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가정이 아니라 실제 데이터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22960" y="523036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 형상은 OSM 실측, 소방차 도착은 OSRM 실도로 라우팅, 진입불가 구간은 팀 현장조사.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주소를 넣어도 그 지점의 실제 도로 위에서 시뮬레이션한다.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· 기술 스택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요소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4114800"/>
          </a:xfrm>
          <a:prstGeom prst="roundRect">
            <a:avLst>
              <a:gd name="adj" fmla="val 230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84248"/>
            <a:ext cx="384048" cy="38404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075688"/>
            <a:ext cx="201168" cy="201168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1325880" y="194767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프론트엔드 · 시각화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04672" y="2697480"/>
            <a:ext cx="3054096" cy="859536"/>
          </a:xfrm>
          <a:prstGeom prst="roundRect">
            <a:avLst>
              <a:gd name="adj" fmla="val 6383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807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Leaflet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60120" y="31272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소방서 거점·경로·도면 범위 지도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04672" y="3685032"/>
            <a:ext cx="3054096" cy="859536"/>
          </a:xfrm>
          <a:prstGeom prst="roundRect">
            <a:avLst>
              <a:gd name="adj" fmla="val 6383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794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HTML5 Canvas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0120" y="41148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격자 확산 시뮬레이션 렌더·확대/이동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566160" cy="4114800"/>
          </a:xfrm>
          <a:prstGeom prst="roundRect">
            <a:avLst>
              <a:gd name="adj" fmla="val 230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1984248"/>
            <a:ext cx="384048" cy="38404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2075688"/>
            <a:ext cx="201168" cy="201168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7" name="Text 15"/>
          <p:cNvSpPr/>
          <p:nvPr/>
        </p:nvSpPr>
        <p:spPr>
          <a:xfrm>
            <a:off x="5074920" y="194767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데이터 API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4553712" y="2697480"/>
            <a:ext cx="3054096" cy="859536"/>
          </a:xfrm>
          <a:prstGeom prst="roundRect">
            <a:avLst>
              <a:gd name="adj" fmla="val 6383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2807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Kakao Local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709160" y="31272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주소·장소명 → 위경도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53712" y="3685032"/>
            <a:ext cx="3054096" cy="859536"/>
          </a:xfrm>
          <a:prstGeom prst="roundRect">
            <a:avLst>
              <a:gd name="adj" fmla="val 6383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9160" y="3794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OpenStreetMap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709160" y="41148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도로망·건물 형상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53712" y="4672584"/>
            <a:ext cx="3054096" cy="859536"/>
          </a:xfrm>
          <a:prstGeom prst="roundRect">
            <a:avLst>
              <a:gd name="adj" fmla="val 6383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47823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OSRM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709160" y="510235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 실도로 최속경로·소요시간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046720" y="1691640"/>
            <a:ext cx="3566160" cy="4114800"/>
          </a:xfrm>
          <a:prstGeom prst="roundRect">
            <a:avLst>
              <a:gd name="adj" fmla="val 230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1040" y="1984248"/>
            <a:ext cx="384048" cy="38404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0" y="2075688"/>
            <a:ext cx="201168" cy="201168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30" name="Text 28"/>
          <p:cNvSpPr/>
          <p:nvPr/>
        </p:nvSpPr>
        <p:spPr>
          <a:xfrm>
            <a:off x="8823960" y="194767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시뮬레이션 코어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8302752" y="2697480"/>
            <a:ext cx="3054096" cy="859536"/>
          </a:xfrm>
          <a:prstGeom prst="roundRect">
            <a:avLst>
              <a:gd name="adj" fmla="val 6383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58200" y="2807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화재확산 모델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458200" y="31272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복사열 건너뜀·바람·밀집도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302752" y="3685032"/>
            <a:ext cx="3054096" cy="859536"/>
          </a:xfrm>
          <a:prstGeom prst="roundRect">
            <a:avLst>
              <a:gd name="adj" fmla="val 6383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58200" y="3794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군집 드론 로직 (Python)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458200" y="41148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Boids 비행 · 역할 기반 진압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화재 확산 시뮬레이션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모델은 이렇게 움직인다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749808" y="1709928"/>
            <a:ext cx="3767328" cy="3767328"/>
          </a:xfrm>
          <a:prstGeom prst="roundRect">
            <a:avLst>
              <a:gd name="adj" fmla="val 1456"/>
            </a:avLst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8308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Shape 4"/>
          <p:cNvSpPr/>
          <p:nvPr/>
        </p:nvSpPr>
        <p:spPr>
          <a:xfrm>
            <a:off x="1124712" y="178308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Shape 5"/>
          <p:cNvSpPr/>
          <p:nvPr/>
        </p:nvSpPr>
        <p:spPr>
          <a:xfrm>
            <a:off x="1426464" y="178308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" name="Shape 6"/>
          <p:cNvSpPr/>
          <p:nvPr/>
        </p:nvSpPr>
        <p:spPr>
          <a:xfrm>
            <a:off x="1728216" y="1783080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Shape 7"/>
          <p:cNvSpPr/>
          <p:nvPr/>
        </p:nvSpPr>
        <p:spPr>
          <a:xfrm>
            <a:off x="2029968" y="178308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" name="Shape 8"/>
          <p:cNvSpPr/>
          <p:nvPr/>
        </p:nvSpPr>
        <p:spPr>
          <a:xfrm>
            <a:off x="2331720" y="178308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9"/>
          <p:cNvSpPr/>
          <p:nvPr/>
        </p:nvSpPr>
        <p:spPr>
          <a:xfrm>
            <a:off x="2633472" y="178308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" name="Shape 10"/>
          <p:cNvSpPr/>
          <p:nvPr/>
        </p:nvSpPr>
        <p:spPr>
          <a:xfrm>
            <a:off x="2935224" y="1783080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3" name="Shape 11"/>
          <p:cNvSpPr/>
          <p:nvPr/>
        </p:nvSpPr>
        <p:spPr>
          <a:xfrm>
            <a:off x="3236976" y="178308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" name="Shape 12"/>
          <p:cNvSpPr/>
          <p:nvPr/>
        </p:nvSpPr>
        <p:spPr>
          <a:xfrm>
            <a:off x="3538728" y="178308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" name="Shape 13"/>
          <p:cNvSpPr/>
          <p:nvPr/>
        </p:nvSpPr>
        <p:spPr>
          <a:xfrm>
            <a:off x="3840480" y="178308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6" name="Shape 14"/>
          <p:cNvSpPr/>
          <p:nvPr/>
        </p:nvSpPr>
        <p:spPr>
          <a:xfrm>
            <a:off x="4142232" y="178308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208483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8" name="Shape 16"/>
          <p:cNvSpPr/>
          <p:nvPr/>
        </p:nvSpPr>
        <p:spPr>
          <a:xfrm>
            <a:off x="1124712" y="208483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9" name="Shape 17"/>
          <p:cNvSpPr/>
          <p:nvPr/>
        </p:nvSpPr>
        <p:spPr>
          <a:xfrm>
            <a:off x="1426464" y="208483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0" name="Shape 18"/>
          <p:cNvSpPr/>
          <p:nvPr/>
        </p:nvSpPr>
        <p:spPr>
          <a:xfrm>
            <a:off x="1728216" y="2084832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1" name="Shape 19"/>
          <p:cNvSpPr/>
          <p:nvPr/>
        </p:nvSpPr>
        <p:spPr>
          <a:xfrm>
            <a:off x="2029968" y="208483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2" name="Shape 20"/>
          <p:cNvSpPr/>
          <p:nvPr/>
        </p:nvSpPr>
        <p:spPr>
          <a:xfrm>
            <a:off x="2331720" y="208483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3" name="Shape 21"/>
          <p:cNvSpPr/>
          <p:nvPr/>
        </p:nvSpPr>
        <p:spPr>
          <a:xfrm>
            <a:off x="2633472" y="208483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5224" y="2084832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25" name="Shape 23"/>
          <p:cNvSpPr/>
          <p:nvPr/>
        </p:nvSpPr>
        <p:spPr>
          <a:xfrm>
            <a:off x="3236976" y="208483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6" name="Shape 24"/>
          <p:cNvSpPr/>
          <p:nvPr/>
        </p:nvSpPr>
        <p:spPr>
          <a:xfrm>
            <a:off x="3538728" y="208483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0480" y="208483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232" y="208483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9" name="Shape 27"/>
          <p:cNvSpPr/>
          <p:nvPr/>
        </p:nvSpPr>
        <p:spPr>
          <a:xfrm>
            <a:off x="822960" y="238658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0" name="Shape 28"/>
          <p:cNvSpPr/>
          <p:nvPr/>
        </p:nvSpPr>
        <p:spPr>
          <a:xfrm>
            <a:off x="1124712" y="238658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1" name="Shape 29"/>
          <p:cNvSpPr/>
          <p:nvPr/>
        </p:nvSpPr>
        <p:spPr>
          <a:xfrm>
            <a:off x="1426464" y="238658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2" name="Shape 30"/>
          <p:cNvSpPr/>
          <p:nvPr/>
        </p:nvSpPr>
        <p:spPr>
          <a:xfrm>
            <a:off x="1728216" y="2386584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3" name="Shape 31"/>
          <p:cNvSpPr/>
          <p:nvPr/>
        </p:nvSpPr>
        <p:spPr>
          <a:xfrm>
            <a:off x="2029968" y="2386584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4" name="Shape 32"/>
          <p:cNvSpPr/>
          <p:nvPr/>
        </p:nvSpPr>
        <p:spPr>
          <a:xfrm>
            <a:off x="2331720" y="2386584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5" name="Shape 33"/>
          <p:cNvSpPr/>
          <p:nvPr/>
        </p:nvSpPr>
        <p:spPr>
          <a:xfrm>
            <a:off x="2633472" y="2386584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6" name="Shape 34"/>
          <p:cNvSpPr/>
          <p:nvPr/>
        </p:nvSpPr>
        <p:spPr>
          <a:xfrm>
            <a:off x="2935224" y="2386584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37" name="Shape 35"/>
          <p:cNvSpPr/>
          <p:nvPr/>
        </p:nvSpPr>
        <p:spPr>
          <a:xfrm>
            <a:off x="3236976" y="238658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8" name="Shape 36"/>
          <p:cNvSpPr/>
          <p:nvPr/>
        </p:nvSpPr>
        <p:spPr>
          <a:xfrm>
            <a:off x="3538728" y="238658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9" name="Shape 37"/>
          <p:cNvSpPr/>
          <p:nvPr/>
        </p:nvSpPr>
        <p:spPr>
          <a:xfrm>
            <a:off x="3840480" y="238658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0" name="Shape 38"/>
          <p:cNvSpPr/>
          <p:nvPr/>
        </p:nvSpPr>
        <p:spPr>
          <a:xfrm>
            <a:off x="4142232" y="238658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1" name="Shape 39"/>
          <p:cNvSpPr/>
          <p:nvPr/>
        </p:nvSpPr>
        <p:spPr>
          <a:xfrm>
            <a:off x="822960" y="2688336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2" name="Shape 40"/>
          <p:cNvSpPr/>
          <p:nvPr/>
        </p:nvSpPr>
        <p:spPr>
          <a:xfrm>
            <a:off x="1124712" y="2688336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3" name="Shape 41"/>
          <p:cNvSpPr/>
          <p:nvPr/>
        </p:nvSpPr>
        <p:spPr>
          <a:xfrm>
            <a:off x="1426464" y="2688336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4" name="Shape 42"/>
          <p:cNvSpPr/>
          <p:nvPr/>
        </p:nvSpPr>
        <p:spPr>
          <a:xfrm>
            <a:off x="1728216" y="268833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5" name="Shape 43"/>
          <p:cNvSpPr/>
          <p:nvPr/>
        </p:nvSpPr>
        <p:spPr>
          <a:xfrm>
            <a:off x="2029968" y="2688336"/>
            <a:ext cx="301752" cy="3017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6" name="Shape 44"/>
          <p:cNvSpPr/>
          <p:nvPr/>
        </p:nvSpPr>
        <p:spPr>
          <a:xfrm>
            <a:off x="2331720" y="2688336"/>
            <a:ext cx="301752" cy="3017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7" name="Shape 45"/>
          <p:cNvSpPr/>
          <p:nvPr/>
        </p:nvSpPr>
        <p:spPr>
          <a:xfrm>
            <a:off x="2633472" y="2688336"/>
            <a:ext cx="301752" cy="3017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8" name="Shape 46"/>
          <p:cNvSpPr/>
          <p:nvPr/>
        </p:nvSpPr>
        <p:spPr>
          <a:xfrm>
            <a:off x="2935224" y="2688336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49" name="Shape 47"/>
          <p:cNvSpPr/>
          <p:nvPr/>
        </p:nvSpPr>
        <p:spPr>
          <a:xfrm>
            <a:off x="3236976" y="2688336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50" name="Shape 48"/>
          <p:cNvSpPr/>
          <p:nvPr/>
        </p:nvSpPr>
        <p:spPr>
          <a:xfrm>
            <a:off x="3538728" y="2688336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1" name="Shape 49"/>
          <p:cNvSpPr/>
          <p:nvPr/>
        </p:nvSpPr>
        <p:spPr>
          <a:xfrm>
            <a:off x="3840480" y="2688336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2" name="Shape 50"/>
          <p:cNvSpPr/>
          <p:nvPr/>
        </p:nvSpPr>
        <p:spPr>
          <a:xfrm>
            <a:off x="4142232" y="2688336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3" name="Shape 51"/>
          <p:cNvSpPr/>
          <p:nvPr/>
        </p:nvSpPr>
        <p:spPr>
          <a:xfrm>
            <a:off x="822960" y="299008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4" name="Shape 52"/>
          <p:cNvSpPr/>
          <p:nvPr/>
        </p:nvSpPr>
        <p:spPr>
          <a:xfrm>
            <a:off x="1124712" y="299008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5" name="Shape 53"/>
          <p:cNvSpPr/>
          <p:nvPr/>
        </p:nvSpPr>
        <p:spPr>
          <a:xfrm>
            <a:off x="1426464" y="2990088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56" name="Shape 54"/>
          <p:cNvSpPr/>
          <p:nvPr/>
        </p:nvSpPr>
        <p:spPr>
          <a:xfrm>
            <a:off x="1728216" y="2990088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7" name="Shape 55"/>
          <p:cNvSpPr/>
          <p:nvPr/>
        </p:nvSpPr>
        <p:spPr>
          <a:xfrm>
            <a:off x="2029968" y="2990088"/>
            <a:ext cx="301752" cy="3017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8" name="Shape 56"/>
          <p:cNvSpPr/>
          <p:nvPr/>
        </p:nvSpPr>
        <p:spPr>
          <a:xfrm>
            <a:off x="2331720" y="2990088"/>
            <a:ext cx="301752" cy="301752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9" name="Shape 57"/>
          <p:cNvSpPr/>
          <p:nvPr/>
        </p:nvSpPr>
        <p:spPr>
          <a:xfrm>
            <a:off x="2633472" y="2990088"/>
            <a:ext cx="301752" cy="301752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60" name="Shape 58"/>
          <p:cNvSpPr/>
          <p:nvPr/>
        </p:nvSpPr>
        <p:spPr>
          <a:xfrm>
            <a:off x="2935224" y="2990088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61" name="Shape 59"/>
          <p:cNvSpPr/>
          <p:nvPr/>
        </p:nvSpPr>
        <p:spPr>
          <a:xfrm>
            <a:off x="3236976" y="2990088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2" name="Shape 60"/>
          <p:cNvSpPr/>
          <p:nvPr/>
        </p:nvSpPr>
        <p:spPr>
          <a:xfrm>
            <a:off x="3538728" y="2990088"/>
            <a:ext cx="301752" cy="3017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3" name="Shape 61"/>
          <p:cNvSpPr/>
          <p:nvPr/>
        </p:nvSpPr>
        <p:spPr>
          <a:xfrm>
            <a:off x="3840480" y="2990088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4" name="Shape 62"/>
          <p:cNvSpPr/>
          <p:nvPr/>
        </p:nvSpPr>
        <p:spPr>
          <a:xfrm>
            <a:off x="4142232" y="299008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5" name="Shape 63"/>
          <p:cNvSpPr/>
          <p:nvPr/>
        </p:nvSpPr>
        <p:spPr>
          <a:xfrm>
            <a:off x="822960" y="329184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6" name="Shape 64"/>
          <p:cNvSpPr/>
          <p:nvPr/>
        </p:nvSpPr>
        <p:spPr>
          <a:xfrm>
            <a:off x="1124712" y="329184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7" name="Shape 65"/>
          <p:cNvSpPr/>
          <p:nvPr/>
        </p:nvSpPr>
        <p:spPr>
          <a:xfrm>
            <a:off x="1426464" y="3291840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8" name="Shape 66"/>
          <p:cNvSpPr/>
          <p:nvPr/>
        </p:nvSpPr>
        <p:spPr>
          <a:xfrm>
            <a:off x="1728216" y="3291840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69" name="Shape 67"/>
          <p:cNvSpPr/>
          <p:nvPr/>
        </p:nvSpPr>
        <p:spPr>
          <a:xfrm>
            <a:off x="2029968" y="3291840"/>
            <a:ext cx="301752" cy="301752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70" name="Shape 68"/>
          <p:cNvSpPr/>
          <p:nvPr/>
        </p:nvSpPr>
        <p:spPr>
          <a:xfrm>
            <a:off x="2331720" y="3291840"/>
            <a:ext cx="301752" cy="301752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71" name="Shape 69"/>
          <p:cNvSpPr/>
          <p:nvPr/>
        </p:nvSpPr>
        <p:spPr>
          <a:xfrm>
            <a:off x="2633472" y="3291840"/>
            <a:ext cx="301752" cy="301752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72" name="Shape 70"/>
          <p:cNvSpPr/>
          <p:nvPr/>
        </p:nvSpPr>
        <p:spPr>
          <a:xfrm>
            <a:off x="2935224" y="3291840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73" name="Shape 71"/>
          <p:cNvSpPr/>
          <p:nvPr/>
        </p:nvSpPr>
        <p:spPr>
          <a:xfrm>
            <a:off x="3236976" y="3291840"/>
            <a:ext cx="301752" cy="3017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4" name="Shape 72"/>
          <p:cNvSpPr/>
          <p:nvPr/>
        </p:nvSpPr>
        <p:spPr>
          <a:xfrm>
            <a:off x="3538728" y="3291840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75" name="Shape 73"/>
          <p:cNvSpPr/>
          <p:nvPr/>
        </p:nvSpPr>
        <p:spPr>
          <a:xfrm>
            <a:off x="3840480" y="3291840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76" name="Shape 74"/>
          <p:cNvSpPr/>
          <p:nvPr/>
        </p:nvSpPr>
        <p:spPr>
          <a:xfrm>
            <a:off x="4142232" y="329184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7" name="Shape 75"/>
          <p:cNvSpPr/>
          <p:nvPr/>
        </p:nvSpPr>
        <p:spPr>
          <a:xfrm>
            <a:off x="822960" y="359359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8" name="Shape 76"/>
          <p:cNvSpPr/>
          <p:nvPr/>
        </p:nvSpPr>
        <p:spPr>
          <a:xfrm>
            <a:off x="1124712" y="359359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9" name="Shape 77"/>
          <p:cNvSpPr/>
          <p:nvPr/>
        </p:nvSpPr>
        <p:spPr>
          <a:xfrm>
            <a:off x="1426464" y="3593592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80" name="Shape 78"/>
          <p:cNvSpPr/>
          <p:nvPr/>
        </p:nvSpPr>
        <p:spPr>
          <a:xfrm>
            <a:off x="1728216" y="3593592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1" name="Shape 79"/>
          <p:cNvSpPr/>
          <p:nvPr/>
        </p:nvSpPr>
        <p:spPr>
          <a:xfrm>
            <a:off x="2029968" y="3593592"/>
            <a:ext cx="301752" cy="301752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82" name="Shape 80"/>
          <p:cNvSpPr/>
          <p:nvPr/>
        </p:nvSpPr>
        <p:spPr>
          <a:xfrm>
            <a:off x="2331720" y="3593592"/>
            <a:ext cx="301752" cy="301752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83" name="Shape 81"/>
          <p:cNvSpPr/>
          <p:nvPr/>
        </p:nvSpPr>
        <p:spPr>
          <a:xfrm>
            <a:off x="2633472" y="3593592"/>
            <a:ext cx="301752" cy="301752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84" name="Shape 82"/>
          <p:cNvSpPr/>
          <p:nvPr/>
        </p:nvSpPr>
        <p:spPr>
          <a:xfrm>
            <a:off x="2935224" y="3593592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85" name="Shape 83"/>
          <p:cNvSpPr/>
          <p:nvPr/>
        </p:nvSpPr>
        <p:spPr>
          <a:xfrm>
            <a:off x="3236976" y="3593592"/>
            <a:ext cx="301752" cy="3017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6" name="Shape 84"/>
          <p:cNvSpPr/>
          <p:nvPr/>
        </p:nvSpPr>
        <p:spPr>
          <a:xfrm>
            <a:off x="3538728" y="3593592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87" name="Shape 85"/>
          <p:cNvSpPr/>
          <p:nvPr/>
        </p:nvSpPr>
        <p:spPr>
          <a:xfrm>
            <a:off x="3840480" y="359359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8" name="Shape 86"/>
          <p:cNvSpPr/>
          <p:nvPr/>
        </p:nvSpPr>
        <p:spPr>
          <a:xfrm>
            <a:off x="4142232" y="359359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9" name="Shape 87"/>
          <p:cNvSpPr/>
          <p:nvPr/>
        </p:nvSpPr>
        <p:spPr>
          <a:xfrm>
            <a:off x="822960" y="389534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0" name="Shape 88"/>
          <p:cNvSpPr/>
          <p:nvPr/>
        </p:nvSpPr>
        <p:spPr>
          <a:xfrm>
            <a:off x="1124712" y="389534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1" name="Shape 89"/>
          <p:cNvSpPr/>
          <p:nvPr/>
        </p:nvSpPr>
        <p:spPr>
          <a:xfrm>
            <a:off x="1426464" y="3895344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92" name="Shape 90"/>
          <p:cNvSpPr/>
          <p:nvPr/>
        </p:nvSpPr>
        <p:spPr>
          <a:xfrm>
            <a:off x="1728216" y="3895344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3" name="Shape 91"/>
          <p:cNvSpPr/>
          <p:nvPr/>
        </p:nvSpPr>
        <p:spPr>
          <a:xfrm>
            <a:off x="2029968" y="3895344"/>
            <a:ext cx="301752" cy="3017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4" name="Shape 92"/>
          <p:cNvSpPr/>
          <p:nvPr/>
        </p:nvSpPr>
        <p:spPr>
          <a:xfrm>
            <a:off x="2331720" y="3895344"/>
            <a:ext cx="301752" cy="301752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95" name="Shape 93"/>
          <p:cNvSpPr/>
          <p:nvPr/>
        </p:nvSpPr>
        <p:spPr>
          <a:xfrm>
            <a:off x="2633472" y="3895344"/>
            <a:ext cx="301752" cy="3017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6" name="Shape 94"/>
          <p:cNvSpPr/>
          <p:nvPr/>
        </p:nvSpPr>
        <p:spPr>
          <a:xfrm>
            <a:off x="2935224" y="3895344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97" name="Shape 95"/>
          <p:cNvSpPr/>
          <p:nvPr/>
        </p:nvSpPr>
        <p:spPr>
          <a:xfrm>
            <a:off x="3236976" y="3895344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98" name="Shape 96"/>
          <p:cNvSpPr/>
          <p:nvPr/>
        </p:nvSpPr>
        <p:spPr>
          <a:xfrm>
            <a:off x="3538728" y="389534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9" name="Shape 97"/>
          <p:cNvSpPr/>
          <p:nvPr/>
        </p:nvSpPr>
        <p:spPr>
          <a:xfrm>
            <a:off x="3840480" y="389534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0" name="Shape 98"/>
          <p:cNvSpPr/>
          <p:nvPr/>
        </p:nvSpPr>
        <p:spPr>
          <a:xfrm>
            <a:off x="4142232" y="3895344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1" name="Shape 99"/>
          <p:cNvSpPr/>
          <p:nvPr/>
        </p:nvSpPr>
        <p:spPr>
          <a:xfrm>
            <a:off x="822960" y="419709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124712" y="419709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426464" y="419709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728216" y="419709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029968" y="419709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331720" y="419709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633472" y="419709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935224" y="419709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236976" y="419709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538728" y="419709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840480" y="419709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142232" y="4197096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22960" y="449884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124712" y="449884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426464" y="449884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6" name="Shape 114"/>
          <p:cNvSpPr/>
          <p:nvPr/>
        </p:nvSpPr>
        <p:spPr>
          <a:xfrm>
            <a:off x="1728216" y="4498848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029968" y="4498848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331720" y="4498848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633472" y="4498848"/>
            <a:ext cx="301752" cy="30175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935224" y="4498848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236976" y="449884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538728" y="449884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840480" y="449884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142232" y="4498848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22960" y="48006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6" name="Shape 124"/>
          <p:cNvSpPr/>
          <p:nvPr/>
        </p:nvSpPr>
        <p:spPr>
          <a:xfrm>
            <a:off x="1124712" y="48006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7" name="Shape 125"/>
          <p:cNvSpPr/>
          <p:nvPr/>
        </p:nvSpPr>
        <p:spPr>
          <a:xfrm>
            <a:off x="1426464" y="48006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8" name="Shape 126"/>
          <p:cNvSpPr/>
          <p:nvPr/>
        </p:nvSpPr>
        <p:spPr>
          <a:xfrm>
            <a:off x="1728216" y="4800600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029968" y="48006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331720" y="48006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633472" y="48006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935224" y="4800600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236976" y="48006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4" name="Shape 132"/>
          <p:cNvSpPr/>
          <p:nvPr/>
        </p:nvSpPr>
        <p:spPr>
          <a:xfrm>
            <a:off x="3538728" y="48006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840480" y="48006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42232" y="4800600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7" name="Shape 135"/>
          <p:cNvSpPr/>
          <p:nvPr/>
        </p:nvSpPr>
        <p:spPr>
          <a:xfrm>
            <a:off x="822960" y="51023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8" name="Shape 136"/>
          <p:cNvSpPr/>
          <p:nvPr/>
        </p:nvSpPr>
        <p:spPr>
          <a:xfrm>
            <a:off x="1124712" y="51023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426464" y="51023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0" name="Shape 138"/>
          <p:cNvSpPr/>
          <p:nvPr/>
        </p:nvSpPr>
        <p:spPr>
          <a:xfrm>
            <a:off x="1728216" y="5102352"/>
            <a:ext cx="301752" cy="3017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029968" y="51023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331720" y="51023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3" name="Shape 141"/>
          <p:cNvSpPr/>
          <p:nvPr/>
        </p:nvSpPr>
        <p:spPr>
          <a:xfrm>
            <a:off x="2633472" y="51023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4" name="Shape 142"/>
          <p:cNvSpPr/>
          <p:nvPr/>
        </p:nvSpPr>
        <p:spPr>
          <a:xfrm>
            <a:off x="2935224" y="5102352"/>
            <a:ext cx="301752" cy="30175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236976" y="51023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538728" y="51023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7" name="Shape 145"/>
          <p:cNvSpPr/>
          <p:nvPr/>
        </p:nvSpPr>
        <p:spPr>
          <a:xfrm>
            <a:off x="3840480" y="51023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142232" y="5102352"/>
            <a:ext cx="301752" cy="30175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9" name="Shape 147"/>
          <p:cNvSpPr/>
          <p:nvPr/>
        </p:nvSpPr>
        <p:spPr>
          <a:xfrm>
            <a:off x="2392070" y="3412541"/>
            <a:ext cx="271577" cy="271577"/>
          </a:xfrm>
          <a:prstGeom prst="ellipse">
            <a:avLst/>
          </a:prstGeom>
          <a:solidFill>
            <a:srgbClr val="FBBF24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3232" y="5696712"/>
            <a:ext cx="164592" cy="16459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1" name="Text 149"/>
          <p:cNvSpPr/>
          <p:nvPr/>
        </p:nvSpPr>
        <p:spPr>
          <a:xfrm>
            <a:off x="932688" y="56327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건물(가연물)</a:t>
            </a:r>
            <a:endParaRPr lang="en-US" sz="950" dirty="0"/>
          </a:p>
        </p:txBody>
      </p:sp>
      <p:sp>
        <p:nvSpPr>
          <p:cNvPr id="152" name="Shape 150"/>
          <p:cNvSpPr/>
          <p:nvPr/>
        </p:nvSpPr>
        <p:spPr>
          <a:xfrm>
            <a:off x="2313432" y="5696712"/>
            <a:ext cx="164592" cy="16459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53" name="Text 151"/>
          <p:cNvSpPr/>
          <p:nvPr/>
        </p:nvSpPr>
        <p:spPr>
          <a:xfrm>
            <a:off x="2532888" y="56327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진입가능 도로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3913632" y="5696712"/>
            <a:ext cx="164592" cy="164592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55" name="Text 153"/>
          <p:cNvSpPr/>
          <p:nvPr/>
        </p:nvSpPr>
        <p:spPr>
          <a:xfrm>
            <a:off x="4133088" y="56327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협소 골목</a:t>
            </a:r>
            <a:endParaRPr lang="en-US" sz="950" dirty="0"/>
          </a:p>
        </p:txBody>
      </p:sp>
      <p:sp>
        <p:nvSpPr>
          <p:cNvPr id="156" name="Shape 154"/>
          <p:cNvSpPr/>
          <p:nvPr/>
        </p:nvSpPr>
        <p:spPr>
          <a:xfrm>
            <a:off x="713232" y="6016752"/>
            <a:ext cx="164592" cy="16459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57" name="Text 155"/>
          <p:cNvSpPr/>
          <p:nvPr/>
        </p:nvSpPr>
        <p:spPr>
          <a:xfrm>
            <a:off x="932688" y="59527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연소</a:t>
            </a:r>
            <a:endParaRPr lang="en-US" sz="950" dirty="0"/>
          </a:p>
        </p:txBody>
      </p:sp>
      <p:sp>
        <p:nvSpPr>
          <p:cNvPr id="158" name="Shape 156"/>
          <p:cNvSpPr/>
          <p:nvPr/>
        </p:nvSpPr>
        <p:spPr>
          <a:xfrm>
            <a:off x="2313432" y="6016752"/>
            <a:ext cx="164592" cy="164592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159" name="Text 157"/>
          <p:cNvSpPr/>
          <p:nvPr/>
        </p:nvSpPr>
        <p:spPr>
          <a:xfrm>
            <a:off x="2532888" y="59527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전소</a:t>
            </a:r>
            <a:endParaRPr lang="en-US" sz="950" dirty="0"/>
          </a:p>
        </p:txBody>
      </p:sp>
      <p:sp>
        <p:nvSpPr>
          <p:cNvPr id="160" name="Shape 158"/>
          <p:cNvSpPr/>
          <p:nvPr/>
        </p:nvSpPr>
        <p:spPr>
          <a:xfrm>
            <a:off x="3913632" y="6016752"/>
            <a:ext cx="164592" cy="164592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161" name="Text 159"/>
          <p:cNvSpPr/>
          <p:nvPr/>
        </p:nvSpPr>
        <p:spPr>
          <a:xfrm>
            <a:off x="4133088" y="59527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진압</a:t>
            </a:r>
            <a:endParaRPr lang="en-US" sz="950" dirty="0"/>
          </a:p>
        </p:txBody>
      </p:sp>
      <p:sp>
        <p:nvSpPr>
          <p:cNvPr id="162" name="Shape 160"/>
          <p:cNvSpPr/>
          <p:nvPr/>
        </p:nvSpPr>
        <p:spPr>
          <a:xfrm>
            <a:off x="5806440" y="1828800"/>
            <a:ext cx="5806440" cy="1170432"/>
          </a:xfrm>
          <a:prstGeom prst="roundRect">
            <a:avLst>
              <a:gd name="adj" fmla="val 703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6035040" y="197510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도로망을 골격으로</a:t>
            </a:r>
            <a:endParaRPr lang="en-US" sz="1500" dirty="0"/>
          </a:p>
        </p:txBody>
      </p:sp>
      <p:sp>
        <p:nvSpPr>
          <p:cNvPr id="164" name="Text 162"/>
          <p:cNvSpPr/>
          <p:nvPr/>
        </p:nvSpPr>
        <p:spPr>
          <a:xfrm>
            <a:off x="6035040" y="2359152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 사이 가구(街區)를 건물 조직으로 복원해 3m 격자로 채운다.</a:t>
            </a:r>
            <a:endParaRPr lang="en-US" sz="1200" dirty="0"/>
          </a:p>
        </p:txBody>
      </p:sp>
      <p:sp>
        <p:nvSpPr>
          <p:cNvPr id="165" name="Shape 163"/>
          <p:cNvSpPr/>
          <p:nvPr/>
        </p:nvSpPr>
        <p:spPr>
          <a:xfrm>
            <a:off x="5806440" y="3127248"/>
            <a:ext cx="5806440" cy="1170432"/>
          </a:xfrm>
          <a:prstGeom prst="roundRect">
            <a:avLst>
              <a:gd name="adj" fmla="val 703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6035040" y="327355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 폭이 확산을 가른다</a:t>
            </a:r>
            <a:endParaRPr lang="en-US" sz="1500" dirty="0"/>
          </a:p>
        </p:txBody>
      </p:sp>
      <p:sp>
        <p:nvSpPr>
          <p:cNvPr id="167" name="Text 165"/>
          <p:cNvSpPr/>
          <p:nvPr/>
        </p:nvSpPr>
        <p:spPr>
          <a:xfrm>
            <a:off x="6035040" y="3657600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넓은 도로는 자연 방화선, 좁은 골목은 복사열로 불을 그대로 건너보낸다.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5806440" y="4425696"/>
            <a:ext cx="5806440" cy="1170432"/>
          </a:xfrm>
          <a:prstGeom prst="roundRect">
            <a:avLst>
              <a:gd name="adj" fmla="val 703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6035040" y="4572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 진입 가능성 반영</a:t>
            </a:r>
            <a:endParaRPr lang="en-US" sz="1500" dirty="0"/>
          </a:p>
        </p:txBody>
      </p:sp>
      <p:sp>
        <p:nvSpPr>
          <p:cNvPr id="170" name="Text 168"/>
          <p:cNvSpPr/>
          <p:nvPr/>
        </p:nvSpPr>
        <p:spPr>
          <a:xfrm>
            <a:off x="6035040" y="4956048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 4m 미만 구간과 팀 조사 진입불가 구간을 우선 데이터로 표시한다.</a:t>
            </a:r>
            <a:endParaRPr lang="en-US" sz="1200" dirty="0"/>
          </a:p>
        </p:txBody>
      </p:sp>
      <p:sp>
        <p:nvSpPr>
          <p:cNvPr id="171" name="Text 169"/>
          <p:cNvSpPr/>
          <p:nvPr/>
        </p:nvSpPr>
        <p:spPr>
          <a:xfrm>
            <a:off x="5806440" y="5760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조절 변수</a:t>
            </a:r>
            <a:endParaRPr lang="en-US" sz="1100" dirty="0"/>
          </a:p>
        </p:txBody>
      </p:sp>
      <p:sp>
        <p:nvSpPr>
          <p:cNvPr id="172" name="Shape 170"/>
          <p:cNvSpPr/>
          <p:nvPr/>
        </p:nvSpPr>
        <p:spPr>
          <a:xfrm>
            <a:off x="6903720" y="5724144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6903720" y="57241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풍향</a:t>
            </a:r>
            <a:endParaRPr lang="en-US" sz="1050" dirty="0"/>
          </a:p>
        </p:txBody>
      </p:sp>
      <p:sp>
        <p:nvSpPr>
          <p:cNvPr id="174" name="Shape 172"/>
          <p:cNvSpPr/>
          <p:nvPr/>
        </p:nvSpPr>
        <p:spPr>
          <a:xfrm>
            <a:off x="8138160" y="5724144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8138160" y="57241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풍속</a:t>
            </a:r>
            <a:endParaRPr lang="en-US" sz="1050" dirty="0"/>
          </a:p>
        </p:txBody>
      </p:sp>
      <p:sp>
        <p:nvSpPr>
          <p:cNvPr id="176" name="Shape 174"/>
          <p:cNvSpPr/>
          <p:nvPr/>
        </p:nvSpPr>
        <p:spPr>
          <a:xfrm>
            <a:off x="9372600" y="5724144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372600" y="57241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 밀집도</a:t>
            </a:r>
            <a:endParaRPr lang="en-US" sz="1050" dirty="0"/>
          </a:p>
        </p:txBody>
      </p:sp>
      <p:sp>
        <p:nvSpPr>
          <p:cNvPr id="178" name="Shape 176"/>
          <p:cNvSpPr/>
          <p:nvPr/>
        </p:nvSpPr>
        <p:spPr>
          <a:xfrm>
            <a:off x="10607040" y="5724144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607040" y="57241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인지~도착 시간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화재 확산 시뮬레이션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발화부터 완전 진화까지 · 5국면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029968" cy="3383280"/>
          </a:xfrm>
          <a:prstGeom prst="roundRect">
            <a:avLst>
              <a:gd name="adj" fmla="val 405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7864" y="2286000"/>
            <a:ext cx="731520" cy="731520"/>
          </a:xfrm>
          <a:prstGeom prst="ellipse">
            <a:avLst/>
          </a:prstGeom>
          <a:solidFill>
            <a:srgbClr val="0B1220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97864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94360" y="320040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중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370332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도착 전 — 불길이 골목을 건너 번진다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60320" y="1965960"/>
            <a:ext cx="265176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07208" y="1965960"/>
            <a:ext cx="2029968" cy="3383280"/>
          </a:xfrm>
          <a:prstGeom prst="roundRect">
            <a:avLst>
              <a:gd name="adj" fmla="val 405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56432" y="2286000"/>
            <a:ext cx="731520" cy="731520"/>
          </a:xfrm>
          <a:prstGeom prst="ellipse">
            <a:avLst/>
          </a:prstGeom>
          <a:solidFill>
            <a:srgbClr val="0B1220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852928" y="320040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포위 진압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44368" y="370332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드론이 외곽 화선부터 차단한다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18888" y="1965960"/>
            <a:ext cx="265176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65776" y="1965960"/>
            <a:ext cx="2029968" cy="3383280"/>
          </a:xfrm>
          <a:prstGeom prst="roundRect">
            <a:avLst>
              <a:gd name="adj" fmla="val 405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15000" y="2286000"/>
            <a:ext cx="731520" cy="731520"/>
          </a:xfrm>
          <a:prstGeom prst="ellipse">
            <a:avLst/>
          </a:prstGeom>
          <a:solidFill>
            <a:srgbClr val="0B1220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1500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111496" y="320040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화선 후퇴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02936" y="370332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연소 구역 바깥선이 안쪽으로 밀린다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077456" y="1965960"/>
            <a:ext cx="265176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24344" y="1965960"/>
            <a:ext cx="2029968" cy="3383280"/>
          </a:xfrm>
          <a:prstGeom prst="roundRect">
            <a:avLst>
              <a:gd name="adj" fmla="val 405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73568" y="2286000"/>
            <a:ext cx="731520" cy="731520"/>
          </a:xfrm>
          <a:prstGeom prst="ellipse">
            <a:avLst/>
          </a:prstGeom>
          <a:solidFill>
            <a:srgbClr val="0B1220"/>
          </a:solidFill>
          <a:ln w="254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73568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370064" y="320040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저지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461504" y="370332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착화가 멈춘다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336024" y="1965960"/>
            <a:ext cx="265176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582912" y="1965960"/>
            <a:ext cx="2029968" cy="3383280"/>
          </a:xfrm>
          <a:prstGeom prst="roundRect">
            <a:avLst>
              <a:gd name="adj" fmla="val 405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232136" y="2286000"/>
            <a:ext cx="731520" cy="731520"/>
          </a:xfrm>
          <a:prstGeom prst="ellipse">
            <a:avLst/>
          </a:prstGeom>
          <a:solidFill>
            <a:srgbClr val="0B1220"/>
          </a:solidFill>
          <a:ln w="25400">
            <a:solidFill>
              <a:srgbClr val="4ADE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232136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9628632" y="320040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진화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720072" y="370332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연소가 종료된다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국면 전환 시각은 시뮬레이션이 자동 기록한다 — 화선 후퇴·확산 저지·완전 진화 시점.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화재 확산 시뮬레이션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— 마산어시장 지점 재생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207008" y="1618488"/>
            <a:ext cx="2231136" cy="2231136"/>
          </a:xfrm>
          <a:prstGeom prst="roundRect">
            <a:avLst>
              <a:gd name="adj" fmla="val 2459"/>
            </a:avLst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Shape 4"/>
          <p:cNvSpPr/>
          <p:nvPr/>
        </p:nvSpPr>
        <p:spPr>
          <a:xfrm>
            <a:off x="1453896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Shape 5"/>
          <p:cNvSpPr/>
          <p:nvPr/>
        </p:nvSpPr>
        <p:spPr>
          <a:xfrm>
            <a:off x="1627632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" name="Shape 6"/>
          <p:cNvSpPr/>
          <p:nvPr/>
        </p:nvSpPr>
        <p:spPr>
          <a:xfrm>
            <a:off x="1801368" y="1691640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Shape 7"/>
          <p:cNvSpPr/>
          <p:nvPr/>
        </p:nvSpPr>
        <p:spPr>
          <a:xfrm>
            <a:off x="1975104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" name="Shape 8"/>
          <p:cNvSpPr/>
          <p:nvPr/>
        </p:nvSpPr>
        <p:spPr>
          <a:xfrm>
            <a:off x="2148840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9"/>
          <p:cNvSpPr/>
          <p:nvPr/>
        </p:nvSpPr>
        <p:spPr>
          <a:xfrm>
            <a:off x="2322576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" name="Shape 10"/>
          <p:cNvSpPr/>
          <p:nvPr/>
        </p:nvSpPr>
        <p:spPr>
          <a:xfrm>
            <a:off x="2496312" y="1691640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3" name="Shape 11"/>
          <p:cNvSpPr/>
          <p:nvPr/>
        </p:nvSpPr>
        <p:spPr>
          <a:xfrm>
            <a:off x="2670048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" name="Shape 12"/>
          <p:cNvSpPr/>
          <p:nvPr/>
        </p:nvSpPr>
        <p:spPr>
          <a:xfrm>
            <a:off x="2843784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" name="Shape 13"/>
          <p:cNvSpPr/>
          <p:nvPr/>
        </p:nvSpPr>
        <p:spPr>
          <a:xfrm>
            <a:off x="3017520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6" name="Shape 14"/>
          <p:cNvSpPr/>
          <p:nvPr/>
        </p:nvSpPr>
        <p:spPr>
          <a:xfrm>
            <a:off x="3191256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7" name="Shape 15"/>
          <p:cNvSpPr/>
          <p:nvPr/>
        </p:nvSpPr>
        <p:spPr>
          <a:xfrm>
            <a:off x="1280160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8" name="Shape 16"/>
          <p:cNvSpPr/>
          <p:nvPr/>
        </p:nvSpPr>
        <p:spPr>
          <a:xfrm>
            <a:off x="1453896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9" name="Shape 17"/>
          <p:cNvSpPr/>
          <p:nvPr/>
        </p:nvSpPr>
        <p:spPr>
          <a:xfrm>
            <a:off x="1627632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0" name="Shape 18"/>
          <p:cNvSpPr/>
          <p:nvPr/>
        </p:nvSpPr>
        <p:spPr>
          <a:xfrm>
            <a:off x="1801368" y="1865376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975104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2" name="Shape 20"/>
          <p:cNvSpPr/>
          <p:nvPr/>
        </p:nvSpPr>
        <p:spPr>
          <a:xfrm>
            <a:off x="2148840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3" name="Shape 21"/>
          <p:cNvSpPr/>
          <p:nvPr/>
        </p:nvSpPr>
        <p:spPr>
          <a:xfrm>
            <a:off x="2322576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4" name="Shape 22"/>
          <p:cNvSpPr/>
          <p:nvPr/>
        </p:nvSpPr>
        <p:spPr>
          <a:xfrm>
            <a:off x="2496312" y="1865376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25" name="Shape 23"/>
          <p:cNvSpPr/>
          <p:nvPr/>
        </p:nvSpPr>
        <p:spPr>
          <a:xfrm>
            <a:off x="2670048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6" name="Shape 24"/>
          <p:cNvSpPr/>
          <p:nvPr/>
        </p:nvSpPr>
        <p:spPr>
          <a:xfrm>
            <a:off x="2843784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17520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8" name="Shape 26"/>
          <p:cNvSpPr/>
          <p:nvPr/>
        </p:nvSpPr>
        <p:spPr>
          <a:xfrm>
            <a:off x="3191256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9" name="Shape 27"/>
          <p:cNvSpPr/>
          <p:nvPr/>
        </p:nvSpPr>
        <p:spPr>
          <a:xfrm>
            <a:off x="1280160" y="20391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0" name="Shape 28"/>
          <p:cNvSpPr/>
          <p:nvPr/>
        </p:nvSpPr>
        <p:spPr>
          <a:xfrm>
            <a:off x="1453896" y="20391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1" name="Shape 29"/>
          <p:cNvSpPr/>
          <p:nvPr/>
        </p:nvSpPr>
        <p:spPr>
          <a:xfrm>
            <a:off x="1627632" y="20391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2" name="Shape 30"/>
          <p:cNvSpPr/>
          <p:nvPr/>
        </p:nvSpPr>
        <p:spPr>
          <a:xfrm>
            <a:off x="1801368" y="2039112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3" name="Shape 31"/>
          <p:cNvSpPr/>
          <p:nvPr/>
        </p:nvSpPr>
        <p:spPr>
          <a:xfrm>
            <a:off x="1975104" y="20391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4" name="Shape 32"/>
          <p:cNvSpPr/>
          <p:nvPr/>
        </p:nvSpPr>
        <p:spPr>
          <a:xfrm>
            <a:off x="2148840" y="20391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5" name="Shape 33"/>
          <p:cNvSpPr/>
          <p:nvPr/>
        </p:nvSpPr>
        <p:spPr>
          <a:xfrm>
            <a:off x="2322576" y="20391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6" name="Shape 34"/>
          <p:cNvSpPr/>
          <p:nvPr/>
        </p:nvSpPr>
        <p:spPr>
          <a:xfrm>
            <a:off x="2496312" y="2039112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37" name="Shape 35"/>
          <p:cNvSpPr/>
          <p:nvPr/>
        </p:nvSpPr>
        <p:spPr>
          <a:xfrm>
            <a:off x="2670048" y="20391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8" name="Shape 36"/>
          <p:cNvSpPr/>
          <p:nvPr/>
        </p:nvSpPr>
        <p:spPr>
          <a:xfrm>
            <a:off x="2843784" y="20391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9" name="Shape 37"/>
          <p:cNvSpPr/>
          <p:nvPr/>
        </p:nvSpPr>
        <p:spPr>
          <a:xfrm>
            <a:off x="3017520" y="20391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0" name="Shape 38"/>
          <p:cNvSpPr/>
          <p:nvPr/>
        </p:nvSpPr>
        <p:spPr>
          <a:xfrm>
            <a:off x="3191256" y="20391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0160" y="221284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2" name="Shape 40"/>
          <p:cNvSpPr/>
          <p:nvPr/>
        </p:nvSpPr>
        <p:spPr>
          <a:xfrm>
            <a:off x="1453896" y="221284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3" name="Shape 41"/>
          <p:cNvSpPr/>
          <p:nvPr/>
        </p:nvSpPr>
        <p:spPr>
          <a:xfrm>
            <a:off x="1627632" y="221284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4" name="Shape 42"/>
          <p:cNvSpPr/>
          <p:nvPr/>
        </p:nvSpPr>
        <p:spPr>
          <a:xfrm>
            <a:off x="1801368" y="22128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5" name="Shape 43"/>
          <p:cNvSpPr/>
          <p:nvPr/>
        </p:nvSpPr>
        <p:spPr>
          <a:xfrm>
            <a:off x="1975104" y="221284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6" name="Shape 44"/>
          <p:cNvSpPr/>
          <p:nvPr/>
        </p:nvSpPr>
        <p:spPr>
          <a:xfrm>
            <a:off x="2148840" y="221284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7" name="Shape 45"/>
          <p:cNvSpPr/>
          <p:nvPr/>
        </p:nvSpPr>
        <p:spPr>
          <a:xfrm>
            <a:off x="2322576" y="221284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8" name="Shape 46"/>
          <p:cNvSpPr/>
          <p:nvPr/>
        </p:nvSpPr>
        <p:spPr>
          <a:xfrm>
            <a:off x="2496312" y="2212848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49" name="Shape 47"/>
          <p:cNvSpPr/>
          <p:nvPr/>
        </p:nvSpPr>
        <p:spPr>
          <a:xfrm>
            <a:off x="2670048" y="221284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0" name="Shape 48"/>
          <p:cNvSpPr/>
          <p:nvPr/>
        </p:nvSpPr>
        <p:spPr>
          <a:xfrm>
            <a:off x="2843784" y="221284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1" name="Shape 49"/>
          <p:cNvSpPr/>
          <p:nvPr/>
        </p:nvSpPr>
        <p:spPr>
          <a:xfrm>
            <a:off x="3017520" y="221284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2" name="Shape 50"/>
          <p:cNvSpPr/>
          <p:nvPr/>
        </p:nvSpPr>
        <p:spPr>
          <a:xfrm>
            <a:off x="3191256" y="221284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3" name="Shape 51"/>
          <p:cNvSpPr/>
          <p:nvPr/>
        </p:nvSpPr>
        <p:spPr>
          <a:xfrm>
            <a:off x="1280160" y="23865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4" name="Shape 52"/>
          <p:cNvSpPr/>
          <p:nvPr/>
        </p:nvSpPr>
        <p:spPr>
          <a:xfrm>
            <a:off x="1453896" y="23865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5" name="Shape 53"/>
          <p:cNvSpPr/>
          <p:nvPr/>
        </p:nvSpPr>
        <p:spPr>
          <a:xfrm>
            <a:off x="1627632" y="23865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6" name="Shape 54"/>
          <p:cNvSpPr/>
          <p:nvPr/>
        </p:nvSpPr>
        <p:spPr>
          <a:xfrm>
            <a:off x="1801368" y="2386584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7" name="Shape 55"/>
          <p:cNvSpPr/>
          <p:nvPr/>
        </p:nvSpPr>
        <p:spPr>
          <a:xfrm>
            <a:off x="1975104" y="2386584"/>
            <a:ext cx="173736" cy="17373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8" name="Shape 56"/>
          <p:cNvSpPr/>
          <p:nvPr/>
        </p:nvSpPr>
        <p:spPr>
          <a:xfrm>
            <a:off x="2148840" y="2386584"/>
            <a:ext cx="173736" cy="17373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9" name="Shape 57"/>
          <p:cNvSpPr/>
          <p:nvPr/>
        </p:nvSpPr>
        <p:spPr>
          <a:xfrm>
            <a:off x="2322576" y="2386584"/>
            <a:ext cx="173736" cy="17373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0" name="Shape 58"/>
          <p:cNvSpPr/>
          <p:nvPr/>
        </p:nvSpPr>
        <p:spPr>
          <a:xfrm>
            <a:off x="2496312" y="2386584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61" name="Shape 59"/>
          <p:cNvSpPr/>
          <p:nvPr/>
        </p:nvSpPr>
        <p:spPr>
          <a:xfrm>
            <a:off x="2670048" y="23865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2" name="Shape 60"/>
          <p:cNvSpPr/>
          <p:nvPr/>
        </p:nvSpPr>
        <p:spPr>
          <a:xfrm>
            <a:off x="2843784" y="23865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3" name="Shape 61"/>
          <p:cNvSpPr/>
          <p:nvPr/>
        </p:nvSpPr>
        <p:spPr>
          <a:xfrm>
            <a:off x="3017520" y="23865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4" name="Shape 62"/>
          <p:cNvSpPr/>
          <p:nvPr/>
        </p:nvSpPr>
        <p:spPr>
          <a:xfrm>
            <a:off x="3191256" y="23865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5" name="Shape 63"/>
          <p:cNvSpPr/>
          <p:nvPr/>
        </p:nvSpPr>
        <p:spPr>
          <a:xfrm>
            <a:off x="1280160" y="25603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6" name="Shape 64"/>
          <p:cNvSpPr/>
          <p:nvPr/>
        </p:nvSpPr>
        <p:spPr>
          <a:xfrm>
            <a:off x="1453896" y="25603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7" name="Shape 65"/>
          <p:cNvSpPr/>
          <p:nvPr/>
        </p:nvSpPr>
        <p:spPr>
          <a:xfrm>
            <a:off x="1627632" y="25603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8" name="Shape 66"/>
          <p:cNvSpPr/>
          <p:nvPr/>
        </p:nvSpPr>
        <p:spPr>
          <a:xfrm>
            <a:off x="1801368" y="2560320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69" name="Shape 67"/>
          <p:cNvSpPr/>
          <p:nvPr/>
        </p:nvSpPr>
        <p:spPr>
          <a:xfrm>
            <a:off x="1975104" y="2560320"/>
            <a:ext cx="173736" cy="17373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0" name="Shape 68"/>
          <p:cNvSpPr/>
          <p:nvPr/>
        </p:nvSpPr>
        <p:spPr>
          <a:xfrm>
            <a:off x="2148840" y="2560320"/>
            <a:ext cx="173736" cy="17373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1" name="Shape 69"/>
          <p:cNvSpPr/>
          <p:nvPr/>
        </p:nvSpPr>
        <p:spPr>
          <a:xfrm>
            <a:off x="2322576" y="2560320"/>
            <a:ext cx="173736" cy="17373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2" name="Shape 70"/>
          <p:cNvSpPr/>
          <p:nvPr/>
        </p:nvSpPr>
        <p:spPr>
          <a:xfrm>
            <a:off x="2496312" y="2560320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73" name="Shape 71"/>
          <p:cNvSpPr/>
          <p:nvPr/>
        </p:nvSpPr>
        <p:spPr>
          <a:xfrm>
            <a:off x="2670048" y="25603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4" name="Shape 72"/>
          <p:cNvSpPr/>
          <p:nvPr/>
        </p:nvSpPr>
        <p:spPr>
          <a:xfrm>
            <a:off x="2843784" y="25603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5" name="Shape 73"/>
          <p:cNvSpPr/>
          <p:nvPr/>
        </p:nvSpPr>
        <p:spPr>
          <a:xfrm>
            <a:off x="3017520" y="25603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6" name="Shape 74"/>
          <p:cNvSpPr/>
          <p:nvPr/>
        </p:nvSpPr>
        <p:spPr>
          <a:xfrm>
            <a:off x="3191256" y="25603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7" name="Shape 75"/>
          <p:cNvSpPr/>
          <p:nvPr/>
        </p:nvSpPr>
        <p:spPr>
          <a:xfrm>
            <a:off x="1280160" y="27340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8" name="Shape 76"/>
          <p:cNvSpPr/>
          <p:nvPr/>
        </p:nvSpPr>
        <p:spPr>
          <a:xfrm>
            <a:off x="1453896" y="27340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9" name="Shape 77"/>
          <p:cNvSpPr/>
          <p:nvPr/>
        </p:nvSpPr>
        <p:spPr>
          <a:xfrm>
            <a:off x="1627632" y="27340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0" name="Shape 78"/>
          <p:cNvSpPr/>
          <p:nvPr/>
        </p:nvSpPr>
        <p:spPr>
          <a:xfrm>
            <a:off x="1801368" y="2734056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1" name="Shape 79"/>
          <p:cNvSpPr/>
          <p:nvPr/>
        </p:nvSpPr>
        <p:spPr>
          <a:xfrm>
            <a:off x="1975104" y="2734056"/>
            <a:ext cx="173736" cy="17373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2" name="Shape 80"/>
          <p:cNvSpPr/>
          <p:nvPr/>
        </p:nvSpPr>
        <p:spPr>
          <a:xfrm>
            <a:off x="2148840" y="2734056"/>
            <a:ext cx="173736" cy="17373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3" name="Shape 81"/>
          <p:cNvSpPr/>
          <p:nvPr/>
        </p:nvSpPr>
        <p:spPr>
          <a:xfrm>
            <a:off x="2322576" y="2734056"/>
            <a:ext cx="173736" cy="17373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4" name="Shape 82"/>
          <p:cNvSpPr/>
          <p:nvPr/>
        </p:nvSpPr>
        <p:spPr>
          <a:xfrm>
            <a:off x="2496312" y="2734056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85" name="Shape 83"/>
          <p:cNvSpPr/>
          <p:nvPr/>
        </p:nvSpPr>
        <p:spPr>
          <a:xfrm>
            <a:off x="2670048" y="27340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6" name="Shape 84"/>
          <p:cNvSpPr/>
          <p:nvPr/>
        </p:nvSpPr>
        <p:spPr>
          <a:xfrm>
            <a:off x="2843784" y="27340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7" name="Shape 85"/>
          <p:cNvSpPr/>
          <p:nvPr/>
        </p:nvSpPr>
        <p:spPr>
          <a:xfrm>
            <a:off x="3017520" y="27340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8" name="Shape 86"/>
          <p:cNvSpPr/>
          <p:nvPr/>
        </p:nvSpPr>
        <p:spPr>
          <a:xfrm>
            <a:off x="3191256" y="27340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9" name="Shape 87"/>
          <p:cNvSpPr/>
          <p:nvPr/>
        </p:nvSpPr>
        <p:spPr>
          <a:xfrm>
            <a:off x="1280160" y="290779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0" name="Shape 88"/>
          <p:cNvSpPr/>
          <p:nvPr/>
        </p:nvSpPr>
        <p:spPr>
          <a:xfrm>
            <a:off x="1453896" y="290779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1" name="Shape 89"/>
          <p:cNvSpPr/>
          <p:nvPr/>
        </p:nvSpPr>
        <p:spPr>
          <a:xfrm>
            <a:off x="1627632" y="290779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2" name="Shape 90"/>
          <p:cNvSpPr/>
          <p:nvPr/>
        </p:nvSpPr>
        <p:spPr>
          <a:xfrm>
            <a:off x="1801368" y="2907792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3" name="Shape 91"/>
          <p:cNvSpPr/>
          <p:nvPr/>
        </p:nvSpPr>
        <p:spPr>
          <a:xfrm>
            <a:off x="1975104" y="290779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4" name="Shape 92"/>
          <p:cNvSpPr/>
          <p:nvPr/>
        </p:nvSpPr>
        <p:spPr>
          <a:xfrm>
            <a:off x="2148840" y="2907792"/>
            <a:ext cx="173736" cy="17373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95" name="Shape 93"/>
          <p:cNvSpPr/>
          <p:nvPr/>
        </p:nvSpPr>
        <p:spPr>
          <a:xfrm>
            <a:off x="2322576" y="2907792"/>
            <a:ext cx="173736" cy="17373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96" name="Shape 94"/>
          <p:cNvSpPr/>
          <p:nvPr/>
        </p:nvSpPr>
        <p:spPr>
          <a:xfrm>
            <a:off x="2496312" y="2907792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97" name="Shape 95"/>
          <p:cNvSpPr/>
          <p:nvPr/>
        </p:nvSpPr>
        <p:spPr>
          <a:xfrm>
            <a:off x="2670048" y="290779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8" name="Shape 96"/>
          <p:cNvSpPr/>
          <p:nvPr/>
        </p:nvSpPr>
        <p:spPr>
          <a:xfrm>
            <a:off x="2843784" y="290779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9" name="Shape 97"/>
          <p:cNvSpPr/>
          <p:nvPr/>
        </p:nvSpPr>
        <p:spPr>
          <a:xfrm>
            <a:off x="3017520" y="290779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0" name="Shape 98"/>
          <p:cNvSpPr/>
          <p:nvPr/>
        </p:nvSpPr>
        <p:spPr>
          <a:xfrm>
            <a:off x="3191256" y="290779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1" name="Shape 99"/>
          <p:cNvSpPr/>
          <p:nvPr/>
        </p:nvSpPr>
        <p:spPr>
          <a:xfrm>
            <a:off x="1280160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453896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627632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801368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975104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148840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322576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496312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670048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843784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017520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191256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280160" y="325526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453896" y="325526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627632" y="325526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6" name="Shape 114"/>
          <p:cNvSpPr/>
          <p:nvPr/>
        </p:nvSpPr>
        <p:spPr>
          <a:xfrm>
            <a:off x="1801368" y="3255264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975104" y="325526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148840" y="325526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322576" y="325526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496312" y="3255264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670048" y="325526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843784" y="325526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017520" y="325526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191256" y="325526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1280160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6" name="Shape 124"/>
          <p:cNvSpPr/>
          <p:nvPr/>
        </p:nvSpPr>
        <p:spPr>
          <a:xfrm>
            <a:off x="1453896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7" name="Shape 125"/>
          <p:cNvSpPr/>
          <p:nvPr/>
        </p:nvSpPr>
        <p:spPr>
          <a:xfrm>
            <a:off x="1627632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8" name="Shape 126"/>
          <p:cNvSpPr/>
          <p:nvPr/>
        </p:nvSpPr>
        <p:spPr>
          <a:xfrm>
            <a:off x="1801368" y="3429000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1975104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148840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322576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496312" y="3429000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670048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843784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017520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6" name="Shape 134"/>
          <p:cNvSpPr/>
          <p:nvPr/>
        </p:nvSpPr>
        <p:spPr>
          <a:xfrm>
            <a:off x="3191256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280160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8" name="Shape 136"/>
          <p:cNvSpPr/>
          <p:nvPr/>
        </p:nvSpPr>
        <p:spPr>
          <a:xfrm>
            <a:off x="1453896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627632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0" name="Shape 138"/>
          <p:cNvSpPr/>
          <p:nvPr/>
        </p:nvSpPr>
        <p:spPr>
          <a:xfrm>
            <a:off x="1801368" y="3602736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41" name="Shape 139"/>
          <p:cNvSpPr/>
          <p:nvPr/>
        </p:nvSpPr>
        <p:spPr>
          <a:xfrm>
            <a:off x="1975104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148840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3" name="Shape 141"/>
          <p:cNvSpPr/>
          <p:nvPr/>
        </p:nvSpPr>
        <p:spPr>
          <a:xfrm>
            <a:off x="2322576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4" name="Shape 142"/>
          <p:cNvSpPr/>
          <p:nvPr/>
        </p:nvSpPr>
        <p:spPr>
          <a:xfrm>
            <a:off x="2496312" y="3602736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2670048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6" name="Shape 144"/>
          <p:cNvSpPr/>
          <p:nvPr/>
        </p:nvSpPr>
        <p:spPr>
          <a:xfrm>
            <a:off x="2843784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7" name="Shape 145"/>
          <p:cNvSpPr/>
          <p:nvPr/>
        </p:nvSpPr>
        <p:spPr>
          <a:xfrm>
            <a:off x="3017520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8" name="Shape 146"/>
          <p:cNvSpPr/>
          <p:nvPr/>
        </p:nvSpPr>
        <p:spPr>
          <a:xfrm>
            <a:off x="3191256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9" name="Shape 147"/>
          <p:cNvSpPr/>
          <p:nvPr/>
        </p:nvSpPr>
        <p:spPr>
          <a:xfrm>
            <a:off x="2183587" y="2629814"/>
            <a:ext cx="156362" cy="15636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361188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발화</a:t>
            </a:r>
            <a:endParaRPr lang="en-US" sz="1500" dirty="0"/>
          </a:p>
        </p:txBody>
      </p:sp>
      <p:sp>
        <p:nvSpPr>
          <p:cNvPr id="151" name="Text 149"/>
          <p:cNvSpPr/>
          <p:nvPr/>
        </p:nvSpPr>
        <p:spPr>
          <a:xfrm>
            <a:off x="3611880" y="2441448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도면상 건물에서 착화</a:t>
            </a:r>
            <a:endParaRPr lang="en-US" sz="1150" dirty="0"/>
          </a:p>
        </p:txBody>
      </p:sp>
      <p:sp>
        <p:nvSpPr>
          <p:cNvPr id="152" name="Shape 150"/>
          <p:cNvSpPr/>
          <p:nvPr/>
        </p:nvSpPr>
        <p:spPr>
          <a:xfrm>
            <a:off x="6784848" y="1618488"/>
            <a:ext cx="2231136" cy="2231136"/>
          </a:xfrm>
          <a:prstGeom prst="roundRect">
            <a:avLst>
              <a:gd name="adj" fmla="val 2459"/>
            </a:avLst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6858000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4" name="Shape 152"/>
          <p:cNvSpPr/>
          <p:nvPr/>
        </p:nvSpPr>
        <p:spPr>
          <a:xfrm>
            <a:off x="7031736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5" name="Shape 153"/>
          <p:cNvSpPr/>
          <p:nvPr/>
        </p:nvSpPr>
        <p:spPr>
          <a:xfrm>
            <a:off x="7205472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379208" y="1691640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552944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726680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900416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60" name="Shape 158"/>
          <p:cNvSpPr/>
          <p:nvPr/>
        </p:nvSpPr>
        <p:spPr>
          <a:xfrm>
            <a:off x="8074152" y="1691640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61" name="Shape 159"/>
          <p:cNvSpPr/>
          <p:nvPr/>
        </p:nvSpPr>
        <p:spPr>
          <a:xfrm>
            <a:off x="8247888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62" name="Shape 160"/>
          <p:cNvSpPr/>
          <p:nvPr/>
        </p:nvSpPr>
        <p:spPr>
          <a:xfrm>
            <a:off x="8421624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63" name="Shape 161"/>
          <p:cNvSpPr/>
          <p:nvPr/>
        </p:nvSpPr>
        <p:spPr>
          <a:xfrm>
            <a:off x="8595360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64" name="Shape 162"/>
          <p:cNvSpPr/>
          <p:nvPr/>
        </p:nvSpPr>
        <p:spPr>
          <a:xfrm>
            <a:off x="8769096" y="16916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858000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031736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205472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379208" y="1865376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552944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26680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900416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72" name="Shape 170"/>
          <p:cNvSpPr/>
          <p:nvPr/>
        </p:nvSpPr>
        <p:spPr>
          <a:xfrm>
            <a:off x="8074152" y="1865376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73" name="Shape 171"/>
          <p:cNvSpPr/>
          <p:nvPr/>
        </p:nvSpPr>
        <p:spPr>
          <a:xfrm>
            <a:off x="8247888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74" name="Shape 172"/>
          <p:cNvSpPr/>
          <p:nvPr/>
        </p:nvSpPr>
        <p:spPr>
          <a:xfrm>
            <a:off x="8421624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75" name="Shape 173"/>
          <p:cNvSpPr/>
          <p:nvPr/>
        </p:nvSpPr>
        <p:spPr>
          <a:xfrm>
            <a:off x="8595360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76" name="Shape 174"/>
          <p:cNvSpPr/>
          <p:nvPr/>
        </p:nvSpPr>
        <p:spPr>
          <a:xfrm>
            <a:off x="8769096" y="18653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858000" y="20391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78" name="Shape 176"/>
          <p:cNvSpPr/>
          <p:nvPr/>
        </p:nvSpPr>
        <p:spPr>
          <a:xfrm>
            <a:off x="7031736" y="20391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79" name="Shape 177"/>
          <p:cNvSpPr/>
          <p:nvPr/>
        </p:nvSpPr>
        <p:spPr>
          <a:xfrm>
            <a:off x="7205472" y="20391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80" name="Shape 178"/>
          <p:cNvSpPr/>
          <p:nvPr/>
        </p:nvSpPr>
        <p:spPr>
          <a:xfrm>
            <a:off x="7379208" y="2039112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81" name="Shape 179"/>
          <p:cNvSpPr/>
          <p:nvPr/>
        </p:nvSpPr>
        <p:spPr>
          <a:xfrm>
            <a:off x="7552944" y="2039112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82" name="Shape 180"/>
          <p:cNvSpPr/>
          <p:nvPr/>
        </p:nvSpPr>
        <p:spPr>
          <a:xfrm>
            <a:off x="7726680" y="2039112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83" name="Shape 181"/>
          <p:cNvSpPr/>
          <p:nvPr/>
        </p:nvSpPr>
        <p:spPr>
          <a:xfrm>
            <a:off x="7900416" y="2039112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074152" y="2039112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85" name="Shape 183"/>
          <p:cNvSpPr/>
          <p:nvPr/>
        </p:nvSpPr>
        <p:spPr>
          <a:xfrm>
            <a:off x="8247888" y="20391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86" name="Shape 184"/>
          <p:cNvSpPr/>
          <p:nvPr/>
        </p:nvSpPr>
        <p:spPr>
          <a:xfrm>
            <a:off x="8421624" y="20391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87" name="Shape 185"/>
          <p:cNvSpPr/>
          <p:nvPr/>
        </p:nvSpPr>
        <p:spPr>
          <a:xfrm>
            <a:off x="8595360" y="20391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88" name="Shape 186"/>
          <p:cNvSpPr/>
          <p:nvPr/>
        </p:nvSpPr>
        <p:spPr>
          <a:xfrm>
            <a:off x="8769096" y="20391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858000" y="221284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031736" y="221284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05472" y="221284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79208" y="22128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552944" y="2212848"/>
            <a:ext cx="173736" cy="17373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26680" y="2212848"/>
            <a:ext cx="173736" cy="17373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900416" y="2212848"/>
            <a:ext cx="173736" cy="17373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96" name="Shape 194"/>
          <p:cNvSpPr/>
          <p:nvPr/>
        </p:nvSpPr>
        <p:spPr>
          <a:xfrm>
            <a:off x="8074152" y="2212848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197" name="Shape 195"/>
          <p:cNvSpPr/>
          <p:nvPr/>
        </p:nvSpPr>
        <p:spPr>
          <a:xfrm>
            <a:off x="8247888" y="2212848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98" name="Shape 196"/>
          <p:cNvSpPr/>
          <p:nvPr/>
        </p:nvSpPr>
        <p:spPr>
          <a:xfrm>
            <a:off x="8421624" y="221284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99" name="Shape 197"/>
          <p:cNvSpPr/>
          <p:nvPr/>
        </p:nvSpPr>
        <p:spPr>
          <a:xfrm>
            <a:off x="8595360" y="221284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00" name="Shape 198"/>
          <p:cNvSpPr/>
          <p:nvPr/>
        </p:nvSpPr>
        <p:spPr>
          <a:xfrm>
            <a:off x="8769096" y="221284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858000" y="23865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031736" y="23865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205472" y="2386584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379208" y="2386584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552944" y="2386584"/>
            <a:ext cx="173736" cy="17373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726680" y="2386584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207" name="Shape 205"/>
          <p:cNvSpPr/>
          <p:nvPr/>
        </p:nvSpPr>
        <p:spPr>
          <a:xfrm>
            <a:off x="7900416" y="2386584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074152" y="2386584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209" name="Shape 207"/>
          <p:cNvSpPr/>
          <p:nvPr/>
        </p:nvSpPr>
        <p:spPr>
          <a:xfrm>
            <a:off x="8247888" y="2386584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10" name="Shape 208"/>
          <p:cNvSpPr/>
          <p:nvPr/>
        </p:nvSpPr>
        <p:spPr>
          <a:xfrm>
            <a:off x="8421624" y="2386584"/>
            <a:ext cx="173736" cy="17373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1" name="Shape 209"/>
          <p:cNvSpPr/>
          <p:nvPr/>
        </p:nvSpPr>
        <p:spPr>
          <a:xfrm>
            <a:off x="8595360" y="2386584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12" name="Shape 210"/>
          <p:cNvSpPr/>
          <p:nvPr/>
        </p:nvSpPr>
        <p:spPr>
          <a:xfrm>
            <a:off x="8769096" y="23865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858000" y="25603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14" name="Shape 212"/>
          <p:cNvSpPr/>
          <p:nvPr/>
        </p:nvSpPr>
        <p:spPr>
          <a:xfrm>
            <a:off x="7031736" y="25603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15" name="Shape 213"/>
          <p:cNvSpPr/>
          <p:nvPr/>
        </p:nvSpPr>
        <p:spPr>
          <a:xfrm>
            <a:off x="7205472" y="2560320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16" name="Shape 214"/>
          <p:cNvSpPr/>
          <p:nvPr/>
        </p:nvSpPr>
        <p:spPr>
          <a:xfrm>
            <a:off x="7379208" y="2560320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17" name="Shape 215"/>
          <p:cNvSpPr/>
          <p:nvPr/>
        </p:nvSpPr>
        <p:spPr>
          <a:xfrm>
            <a:off x="7552944" y="2560320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218" name="Shape 216"/>
          <p:cNvSpPr/>
          <p:nvPr/>
        </p:nvSpPr>
        <p:spPr>
          <a:xfrm>
            <a:off x="7726680" y="2560320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219" name="Shape 217"/>
          <p:cNvSpPr/>
          <p:nvPr/>
        </p:nvSpPr>
        <p:spPr>
          <a:xfrm>
            <a:off x="7900416" y="2560320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220" name="Shape 218"/>
          <p:cNvSpPr/>
          <p:nvPr/>
        </p:nvSpPr>
        <p:spPr>
          <a:xfrm>
            <a:off x="8074152" y="2560320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221" name="Shape 219"/>
          <p:cNvSpPr/>
          <p:nvPr/>
        </p:nvSpPr>
        <p:spPr>
          <a:xfrm>
            <a:off x="8247888" y="2560320"/>
            <a:ext cx="173736" cy="17373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22" name="Shape 220"/>
          <p:cNvSpPr/>
          <p:nvPr/>
        </p:nvSpPr>
        <p:spPr>
          <a:xfrm>
            <a:off x="8421624" y="2560320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23" name="Shape 221"/>
          <p:cNvSpPr/>
          <p:nvPr/>
        </p:nvSpPr>
        <p:spPr>
          <a:xfrm>
            <a:off x="8595360" y="2560320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24" name="Shape 222"/>
          <p:cNvSpPr/>
          <p:nvPr/>
        </p:nvSpPr>
        <p:spPr>
          <a:xfrm>
            <a:off x="8769096" y="25603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25" name="Shape 223"/>
          <p:cNvSpPr/>
          <p:nvPr/>
        </p:nvSpPr>
        <p:spPr>
          <a:xfrm>
            <a:off x="6858000" y="27340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031736" y="27340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205472" y="2734056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379208" y="2734056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552944" y="2734056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230" name="Shape 228"/>
          <p:cNvSpPr/>
          <p:nvPr/>
        </p:nvSpPr>
        <p:spPr>
          <a:xfrm>
            <a:off x="7726680" y="2734056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900416" y="2734056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232" name="Shape 230"/>
          <p:cNvSpPr/>
          <p:nvPr/>
        </p:nvSpPr>
        <p:spPr>
          <a:xfrm>
            <a:off x="8074152" y="2734056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233" name="Shape 231"/>
          <p:cNvSpPr/>
          <p:nvPr/>
        </p:nvSpPr>
        <p:spPr>
          <a:xfrm>
            <a:off x="8247888" y="2734056"/>
            <a:ext cx="173736" cy="17373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34" name="Shape 232"/>
          <p:cNvSpPr/>
          <p:nvPr/>
        </p:nvSpPr>
        <p:spPr>
          <a:xfrm>
            <a:off x="8421624" y="2734056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35" name="Shape 233"/>
          <p:cNvSpPr/>
          <p:nvPr/>
        </p:nvSpPr>
        <p:spPr>
          <a:xfrm>
            <a:off x="8595360" y="27340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36" name="Shape 234"/>
          <p:cNvSpPr/>
          <p:nvPr/>
        </p:nvSpPr>
        <p:spPr>
          <a:xfrm>
            <a:off x="8769096" y="27340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37" name="Shape 235"/>
          <p:cNvSpPr/>
          <p:nvPr/>
        </p:nvSpPr>
        <p:spPr>
          <a:xfrm>
            <a:off x="6858000" y="290779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38" name="Shape 236"/>
          <p:cNvSpPr/>
          <p:nvPr/>
        </p:nvSpPr>
        <p:spPr>
          <a:xfrm>
            <a:off x="7031736" y="290779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39" name="Shape 237"/>
          <p:cNvSpPr/>
          <p:nvPr/>
        </p:nvSpPr>
        <p:spPr>
          <a:xfrm>
            <a:off x="7205472" y="2907792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379208" y="2907792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41" name="Shape 239"/>
          <p:cNvSpPr/>
          <p:nvPr/>
        </p:nvSpPr>
        <p:spPr>
          <a:xfrm>
            <a:off x="7552944" y="2907792"/>
            <a:ext cx="173736" cy="17373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26680" y="2907792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900416" y="2907792"/>
            <a:ext cx="173736" cy="17373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44" name="Shape 242"/>
          <p:cNvSpPr/>
          <p:nvPr/>
        </p:nvSpPr>
        <p:spPr>
          <a:xfrm>
            <a:off x="8074152" y="2907792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247888" y="2907792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46" name="Shape 244"/>
          <p:cNvSpPr/>
          <p:nvPr/>
        </p:nvSpPr>
        <p:spPr>
          <a:xfrm>
            <a:off x="8421624" y="290779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595360" y="290779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769096" y="290779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49" name="Shape 247"/>
          <p:cNvSpPr/>
          <p:nvPr/>
        </p:nvSpPr>
        <p:spPr>
          <a:xfrm>
            <a:off x="6858000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50" name="Shape 248"/>
          <p:cNvSpPr/>
          <p:nvPr/>
        </p:nvSpPr>
        <p:spPr>
          <a:xfrm>
            <a:off x="7031736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205472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52" name="Shape 250"/>
          <p:cNvSpPr/>
          <p:nvPr/>
        </p:nvSpPr>
        <p:spPr>
          <a:xfrm>
            <a:off x="7379208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53" name="Shape 251"/>
          <p:cNvSpPr/>
          <p:nvPr/>
        </p:nvSpPr>
        <p:spPr>
          <a:xfrm>
            <a:off x="7552944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54" name="Shape 252"/>
          <p:cNvSpPr/>
          <p:nvPr/>
        </p:nvSpPr>
        <p:spPr>
          <a:xfrm>
            <a:off x="7726680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55" name="Shape 253"/>
          <p:cNvSpPr/>
          <p:nvPr/>
        </p:nvSpPr>
        <p:spPr>
          <a:xfrm>
            <a:off x="7900416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56" name="Shape 254"/>
          <p:cNvSpPr/>
          <p:nvPr/>
        </p:nvSpPr>
        <p:spPr>
          <a:xfrm>
            <a:off x="8074152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57" name="Shape 255"/>
          <p:cNvSpPr/>
          <p:nvPr/>
        </p:nvSpPr>
        <p:spPr>
          <a:xfrm>
            <a:off x="8247888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58" name="Shape 256"/>
          <p:cNvSpPr/>
          <p:nvPr/>
        </p:nvSpPr>
        <p:spPr>
          <a:xfrm>
            <a:off x="8421624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59" name="Shape 257"/>
          <p:cNvSpPr/>
          <p:nvPr/>
        </p:nvSpPr>
        <p:spPr>
          <a:xfrm>
            <a:off x="8595360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60" name="Shape 258"/>
          <p:cNvSpPr/>
          <p:nvPr/>
        </p:nvSpPr>
        <p:spPr>
          <a:xfrm>
            <a:off x="8769096" y="308152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61" name="Shape 259"/>
          <p:cNvSpPr/>
          <p:nvPr/>
        </p:nvSpPr>
        <p:spPr>
          <a:xfrm>
            <a:off x="6858000" y="325526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62" name="Shape 260"/>
          <p:cNvSpPr/>
          <p:nvPr/>
        </p:nvSpPr>
        <p:spPr>
          <a:xfrm>
            <a:off x="7031736" y="325526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63" name="Shape 261"/>
          <p:cNvSpPr/>
          <p:nvPr/>
        </p:nvSpPr>
        <p:spPr>
          <a:xfrm>
            <a:off x="7205472" y="325526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64" name="Shape 262"/>
          <p:cNvSpPr/>
          <p:nvPr/>
        </p:nvSpPr>
        <p:spPr>
          <a:xfrm>
            <a:off x="7379208" y="3255264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65" name="Shape 263"/>
          <p:cNvSpPr/>
          <p:nvPr/>
        </p:nvSpPr>
        <p:spPr>
          <a:xfrm>
            <a:off x="7552944" y="3255264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66" name="Shape 264"/>
          <p:cNvSpPr/>
          <p:nvPr/>
        </p:nvSpPr>
        <p:spPr>
          <a:xfrm>
            <a:off x="7726680" y="3255264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67" name="Shape 265"/>
          <p:cNvSpPr/>
          <p:nvPr/>
        </p:nvSpPr>
        <p:spPr>
          <a:xfrm>
            <a:off x="7900416" y="3255264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68" name="Shape 266"/>
          <p:cNvSpPr/>
          <p:nvPr/>
        </p:nvSpPr>
        <p:spPr>
          <a:xfrm>
            <a:off x="8074152" y="3255264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269" name="Shape 267"/>
          <p:cNvSpPr/>
          <p:nvPr/>
        </p:nvSpPr>
        <p:spPr>
          <a:xfrm>
            <a:off x="8247888" y="325526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70" name="Shape 268"/>
          <p:cNvSpPr/>
          <p:nvPr/>
        </p:nvSpPr>
        <p:spPr>
          <a:xfrm>
            <a:off x="8421624" y="325526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71" name="Shape 269"/>
          <p:cNvSpPr/>
          <p:nvPr/>
        </p:nvSpPr>
        <p:spPr>
          <a:xfrm>
            <a:off x="8595360" y="325526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72" name="Shape 270"/>
          <p:cNvSpPr/>
          <p:nvPr/>
        </p:nvSpPr>
        <p:spPr>
          <a:xfrm>
            <a:off x="8769096" y="325526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858000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74" name="Shape 272"/>
          <p:cNvSpPr/>
          <p:nvPr/>
        </p:nvSpPr>
        <p:spPr>
          <a:xfrm>
            <a:off x="7031736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75" name="Shape 273"/>
          <p:cNvSpPr/>
          <p:nvPr/>
        </p:nvSpPr>
        <p:spPr>
          <a:xfrm>
            <a:off x="7205472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76" name="Shape 274"/>
          <p:cNvSpPr/>
          <p:nvPr/>
        </p:nvSpPr>
        <p:spPr>
          <a:xfrm>
            <a:off x="7379208" y="3429000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77" name="Shape 275"/>
          <p:cNvSpPr/>
          <p:nvPr/>
        </p:nvSpPr>
        <p:spPr>
          <a:xfrm>
            <a:off x="7552944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78" name="Shape 276"/>
          <p:cNvSpPr/>
          <p:nvPr/>
        </p:nvSpPr>
        <p:spPr>
          <a:xfrm>
            <a:off x="7726680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79" name="Shape 277"/>
          <p:cNvSpPr/>
          <p:nvPr/>
        </p:nvSpPr>
        <p:spPr>
          <a:xfrm>
            <a:off x="7900416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80" name="Shape 278"/>
          <p:cNvSpPr/>
          <p:nvPr/>
        </p:nvSpPr>
        <p:spPr>
          <a:xfrm>
            <a:off x="8074152" y="3429000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281" name="Shape 279"/>
          <p:cNvSpPr/>
          <p:nvPr/>
        </p:nvSpPr>
        <p:spPr>
          <a:xfrm>
            <a:off x="8247888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82" name="Shape 280"/>
          <p:cNvSpPr/>
          <p:nvPr/>
        </p:nvSpPr>
        <p:spPr>
          <a:xfrm>
            <a:off x="8421624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83" name="Shape 281"/>
          <p:cNvSpPr/>
          <p:nvPr/>
        </p:nvSpPr>
        <p:spPr>
          <a:xfrm>
            <a:off x="8595360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84" name="Shape 282"/>
          <p:cNvSpPr/>
          <p:nvPr/>
        </p:nvSpPr>
        <p:spPr>
          <a:xfrm>
            <a:off x="8769096" y="342900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858000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31736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205472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379208" y="3602736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552944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726680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900416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92" name="Shape 290"/>
          <p:cNvSpPr/>
          <p:nvPr/>
        </p:nvSpPr>
        <p:spPr>
          <a:xfrm>
            <a:off x="8074152" y="3602736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293" name="Shape 291"/>
          <p:cNvSpPr/>
          <p:nvPr/>
        </p:nvSpPr>
        <p:spPr>
          <a:xfrm>
            <a:off x="8247888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94" name="Shape 292"/>
          <p:cNvSpPr/>
          <p:nvPr/>
        </p:nvSpPr>
        <p:spPr>
          <a:xfrm>
            <a:off x="8421624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95" name="Shape 293"/>
          <p:cNvSpPr/>
          <p:nvPr/>
        </p:nvSpPr>
        <p:spPr>
          <a:xfrm>
            <a:off x="8595360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96" name="Shape 294"/>
          <p:cNvSpPr/>
          <p:nvPr/>
        </p:nvSpPr>
        <p:spPr>
          <a:xfrm>
            <a:off x="8769096" y="360273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761427" y="2629814"/>
            <a:ext cx="156362" cy="15636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298" name="Text 296"/>
          <p:cNvSpPr/>
          <p:nvPr/>
        </p:nvSpPr>
        <p:spPr>
          <a:xfrm>
            <a:off x="918972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확산</a:t>
            </a:r>
            <a:endParaRPr lang="en-US" sz="1500" dirty="0"/>
          </a:p>
        </p:txBody>
      </p:sp>
      <p:sp>
        <p:nvSpPr>
          <p:cNvPr id="299" name="Text 297"/>
          <p:cNvSpPr/>
          <p:nvPr/>
        </p:nvSpPr>
        <p:spPr>
          <a:xfrm>
            <a:off x="9189720" y="2441448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골목을 건너 외곽으로 번짐</a:t>
            </a:r>
            <a:endParaRPr lang="en-US" sz="1150" dirty="0"/>
          </a:p>
        </p:txBody>
      </p:sp>
      <p:sp>
        <p:nvSpPr>
          <p:cNvPr id="300" name="Shape 298"/>
          <p:cNvSpPr/>
          <p:nvPr/>
        </p:nvSpPr>
        <p:spPr>
          <a:xfrm>
            <a:off x="1207008" y="3950208"/>
            <a:ext cx="2231136" cy="2231136"/>
          </a:xfrm>
          <a:prstGeom prst="roundRect">
            <a:avLst>
              <a:gd name="adj" fmla="val 2459"/>
            </a:avLst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1280160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02" name="Shape 300"/>
          <p:cNvSpPr/>
          <p:nvPr/>
        </p:nvSpPr>
        <p:spPr>
          <a:xfrm>
            <a:off x="1453896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03" name="Shape 301"/>
          <p:cNvSpPr/>
          <p:nvPr/>
        </p:nvSpPr>
        <p:spPr>
          <a:xfrm>
            <a:off x="1627632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04" name="Shape 302"/>
          <p:cNvSpPr/>
          <p:nvPr/>
        </p:nvSpPr>
        <p:spPr>
          <a:xfrm>
            <a:off x="1801368" y="4023360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05" name="Shape 303"/>
          <p:cNvSpPr/>
          <p:nvPr/>
        </p:nvSpPr>
        <p:spPr>
          <a:xfrm>
            <a:off x="1975104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06" name="Shape 304"/>
          <p:cNvSpPr/>
          <p:nvPr/>
        </p:nvSpPr>
        <p:spPr>
          <a:xfrm>
            <a:off x="2148840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07" name="Shape 305"/>
          <p:cNvSpPr/>
          <p:nvPr/>
        </p:nvSpPr>
        <p:spPr>
          <a:xfrm>
            <a:off x="2322576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08" name="Shape 306"/>
          <p:cNvSpPr/>
          <p:nvPr/>
        </p:nvSpPr>
        <p:spPr>
          <a:xfrm>
            <a:off x="2496312" y="4023360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670048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10" name="Shape 308"/>
          <p:cNvSpPr/>
          <p:nvPr/>
        </p:nvSpPr>
        <p:spPr>
          <a:xfrm>
            <a:off x="2843784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11" name="Shape 309"/>
          <p:cNvSpPr/>
          <p:nvPr/>
        </p:nvSpPr>
        <p:spPr>
          <a:xfrm>
            <a:off x="3017520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12" name="Shape 310"/>
          <p:cNvSpPr/>
          <p:nvPr/>
        </p:nvSpPr>
        <p:spPr>
          <a:xfrm>
            <a:off x="3191256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13" name="Shape 311"/>
          <p:cNvSpPr/>
          <p:nvPr/>
        </p:nvSpPr>
        <p:spPr>
          <a:xfrm>
            <a:off x="1280160" y="419709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14" name="Shape 312"/>
          <p:cNvSpPr/>
          <p:nvPr/>
        </p:nvSpPr>
        <p:spPr>
          <a:xfrm>
            <a:off x="1453896" y="419709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15" name="Shape 313"/>
          <p:cNvSpPr/>
          <p:nvPr/>
        </p:nvSpPr>
        <p:spPr>
          <a:xfrm>
            <a:off x="1627632" y="419709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16" name="Shape 314"/>
          <p:cNvSpPr/>
          <p:nvPr/>
        </p:nvSpPr>
        <p:spPr>
          <a:xfrm>
            <a:off x="1801368" y="4197096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17" name="Shape 315"/>
          <p:cNvSpPr/>
          <p:nvPr/>
        </p:nvSpPr>
        <p:spPr>
          <a:xfrm>
            <a:off x="1975104" y="419709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18" name="Shape 316"/>
          <p:cNvSpPr/>
          <p:nvPr/>
        </p:nvSpPr>
        <p:spPr>
          <a:xfrm>
            <a:off x="2148840" y="419709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19" name="Shape 317"/>
          <p:cNvSpPr/>
          <p:nvPr/>
        </p:nvSpPr>
        <p:spPr>
          <a:xfrm>
            <a:off x="2322576" y="419709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20" name="Shape 318"/>
          <p:cNvSpPr/>
          <p:nvPr/>
        </p:nvSpPr>
        <p:spPr>
          <a:xfrm>
            <a:off x="2496312" y="4197096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321" name="Shape 319"/>
          <p:cNvSpPr/>
          <p:nvPr/>
        </p:nvSpPr>
        <p:spPr>
          <a:xfrm>
            <a:off x="2670048" y="419709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22" name="Shape 320"/>
          <p:cNvSpPr/>
          <p:nvPr/>
        </p:nvSpPr>
        <p:spPr>
          <a:xfrm>
            <a:off x="2843784" y="419709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23" name="Shape 321"/>
          <p:cNvSpPr/>
          <p:nvPr/>
        </p:nvSpPr>
        <p:spPr>
          <a:xfrm>
            <a:off x="3017520" y="419709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24" name="Shape 322"/>
          <p:cNvSpPr/>
          <p:nvPr/>
        </p:nvSpPr>
        <p:spPr>
          <a:xfrm>
            <a:off x="3191256" y="419709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25" name="Shape 323"/>
          <p:cNvSpPr/>
          <p:nvPr/>
        </p:nvSpPr>
        <p:spPr>
          <a:xfrm>
            <a:off x="1280160" y="437083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26" name="Shape 324"/>
          <p:cNvSpPr/>
          <p:nvPr/>
        </p:nvSpPr>
        <p:spPr>
          <a:xfrm>
            <a:off x="1453896" y="437083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27" name="Shape 325"/>
          <p:cNvSpPr/>
          <p:nvPr/>
        </p:nvSpPr>
        <p:spPr>
          <a:xfrm>
            <a:off x="1627632" y="437083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28" name="Shape 326"/>
          <p:cNvSpPr/>
          <p:nvPr/>
        </p:nvSpPr>
        <p:spPr>
          <a:xfrm>
            <a:off x="1801368" y="4370832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29" name="Shape 327"/>
          <p:cNvSpPr/>
          <p:nvPr/>
        </p:nvSpPr>
        <p:spPr>
          <a:xfrm>
            <a:off x="1975104" y="4370832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30" name="Shape 328"/>
          <p:cNvSpPr/>
          <p:nvPr/>
        </p:nvSpPr>
        <p:spPr>
          <a:xfrm>
            <a:off x="2148840" y="4370832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31" name="Shape 329"/>
          <p:cNvSpPr/>
          <p:nvPr/>
        </p:nvSpPr>
        <p:spPr>
          <a:xfrm>
            <a:off x="2322576" y="4370832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32" name="Shape 330"/>
          <p:cNvSpPr/>
          <p:nvPr/>
        </p:nvSpPr>
        <p:spPr>
          <a:xfrm>
            <a:off x="2496312" y="4370832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333" name="Shape 331"/>
          <p:cNvSpPr/>
          <p:nvPr/>
        </p:nvSpPr>
        <p:spPr>
          <a:xfrm>
            <a:off x="2670048" y="437083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34" name="Shape 332"/>
          <p:cNvSpPr/>
          <p:nvPr/>
        </p:nvSpPr>
        <p:spPr>
          <a:xfrm>
            <a:off x="2843784" y="437083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35" name="Shape 333"/>
          <p:cNvSpPr/>
          <p:nvPr/>
        </p:nvSpPr>
        <p:spPr>
          <a:xfrm>
            <a:off x="3017520" y="437083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36" name="Shape 334"/>
          <p:cNvSpPr/>
          <p:nvPr/>
        </p:nvSpPr>
        <p:spPr>
          <a:xfrm>
            <a:off x="3191256" y="437083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37" name="Shape 335"/>
          <p:cNvSpPr/>
          <p:nvPr/>
        </p:nvSpPr>
        <p:spPr>
          <a:xfrm>
            <a:off x="1280160" y="454456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38" name="Shape 336"/>
          <p:cNvSpPr/>
          <p:nvPr/>
        </p:nvSpPr>
        <p:spPr>
          <a:xfrm>
            <a:off x="1453896" y="4544568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339" name="Shape 337"/>
          <p:cNvSpPr/>
          <p:nvPr/>
        </p:nvSpPr>
        <p:spPr>
          <a:xfrm>
            <a:off x="1627632" y="4544568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340" name="Shape 338"/>
          <p:cNvSpPr/>
          <p:nvPr/>
        </p:nvSpPr>
        <p:spPr>
          <a:xfrm>
            <a:off x="1801368" y="454456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41" name="Shape 339"/>
          <p:cNvSpPr/>
          <p:nvPr/>
        </p:nvSpPr>
        <p:spPr>
          <a:xfrm>
            <a:off x="1975104" y="4544568"/>
            <a:ext cx="173736" cy="17373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42" name="Shape 340"/>
          <p:cNvSpPr/>
          <p:nvPr/>
        </p:nvSpPr>
        <p:spPr>
          <a:xfrm>
            <a:off x="2148840" y="4544568"/>
            <a:ext cx="173736" cy="17373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43" name="Shape 341"/>
          <p:cNvSpPr/>
          <p:nvPr/>
        </p:nvSpPr>
        <p:spPr>
          <a:xfrm>
            <a:off x="2322576" y="4544568"/>
            <a:ext cx="173736" cy="17373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44" name="Shape 342"/>
          <p:cNvSpPr/>
          <p:nvPr/>
        </p:nvSpPr>
        <p:spPr>
          <a:xfrm>
            <a:off x="2496312" y="4544568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345" name="Shape 343"/>
          <p:cNvSpPr/>
          <p:nvPr/>
        </p:nvSpPr>
        <p:spPr>
          <a:xfrm>
            <a:off x="2670048" y="4544568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46" name="Shape 344"/>
          <p:cNvSpPr/>
          <p:nvPr/>
        </p:nvSpPr>
        <p:spPr>
          <a:xfrm>
            <a:off x="2843784" y="454456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47" name="Shape 345"/>
          <p:cNvSpPr/>
          <p:nvPr/>
        </p:nvSpPr>
        <p:spPr>
          <a:xfrm>
            <a:off x="3017520" y="454456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48" name="Shape 346"/>
          <p:cNvSpPr/>
          <p:nvPr/>
        </p:nvSpPr>
        <p:spPr>
          <a:xfrm>
            <a:off x="3191256" y="454456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49" name="Shape 347"/>
          <p:cNvSpPr/>
          <p:nvPr/>
        </p:nvSpPr>
        <p:spPr>
          <a:xfrm>
            <a:off x="1280160" y="471830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50" name="Shape 348"/>
          <p:cNvSpPr/>
          <p:nvPr/>
        </p:nvSpPr>
        <p:spPr>
          <a:xfrm>
            <a:off x="1453896" y="4718304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351" name="Shape 349"/>
          <p:cNvSpPr/>
          <p:nvPr/>
        </p:nvSpPr>
        <p:spPr>
          <a:xfrm>
            <a:off x="1627632" y="4718304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52" name="Shape 350"/>
          <p:cNvSpPr/>
          <p:nvPr/>
        </p:nvSpPr>
        <p:spPr>
          <a:xfrm>
            <a:off x="1801368" y="4718304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53" name="Shape 351"/>
          <p:cNvSpPr/>
          <p:nvPr/>
        </p:nvSpPr>
        <p:spPr>
          <a:xfrm>
            <a:off x="1975104" y="4718304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354" name="Shape 352"/>
          <p:cNvSpPr/>
          <p:nvPr/>
        </p:nvSpPr>
        <p:spPr>
          <a:xfrm>
            <a:off x="2148840" y="4718304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355" name="Shape 353"/>
          <p:cNvSpPr/>
          <p:nvPr/>
        </p:nvSpPr>
        <p:spPr>
          <a:xfrm>
            <a:off x="2322576" y="4718304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356" name="Shape 354"/>
          <p:cNvSpPr/>
          <p:nvPr/>
        </p:nvSpPr>
        <p:spPr>
          <a:xfrm>
            <a:off x="2496312" y="4718304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357" name="Shape 355"/>
          <p:cNvSpPr/>
          <p:nvPr/>
        </p:nvSpPr>
        <p:spPr>
          <a:xfrm>
            <a:off x="2670048" y="4718304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58" name="Shape 356"/>
          <p:cNvSpPr/>
          <p:nvPr/>
        </p:nvSpPr>
        <p:spPr>
          <a:xfrm>
            <a:off x="2843784" y="4718304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359" name="Shape 357"/>
          <p:cNvSpPr/>
          <p:nvPr/>
        </p:nvSpPr>
        <p:spPr>
          <a:xfrm>
            <a:off x="3017520" y="471830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60" name="Shape 358"/>
          <p:cNvSpPr/>
          <p:nvPr/>
        </p:nvSpPr>
        <p:spPr>
          <a:xfrm>
            <a:off x="3191256" y="471830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61" name="Shape 359"/>
          <p:cNvSpPr/>
          <p:nvPr/>
        </p:nvSpPr>
        <p:spPr>
          <a:xfrm>
            <a:off x="1280160" y="48920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62" name="Shape 360"/>
          <p:cNvSpPr/>
          <p:nvPr/>
        </p:nvSpPr>
        <p:spPr>
          <a:xfrm>
            <a:off x="1453896" y="4892040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363" name="Shape 361"/>
          <p:cNvSpPr/>
          <p:nvPr/>
        </p:nvSpPr>
        <p:spPr>
          <a:xfrm>
            <a:off x="1627632" y="4892040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64" name="Shape 362"/>
          <p:cNvSpPr/>
          <p:nvPr/>
        </p:nvSpPr>
        <p:spPr>
          <a:xfrm>
            <a:off x="1801368" y="4892040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65" name="Shape 363"/>
          <p:cNvSpPr/>
          <p:nvPr/>
        </p:nvSpPr>
        <p:spPr>
          <a:xfrm>
            <a:off x="1975104" y="4892040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366" name="Shape 364"/>
          <p:cNvSpPr/>
          <p:nvPr/>
        </p:nvSpPr>
        <p:spPr>
          <a:xfrm>
            <a:off x="2148840" y="4892040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367" name="Shape 365"/>
          <p:cNvSpPr/>
          <p:nvPr/>
        </p:nvSpPr>
        <p:spPr>
          <a:xfrm>
            <a:off x="2322576" y="4892040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368" name="Shape 366"/>
          <p:cNvSpPr/>
          <p:nvPr/>
        </p:nvSpPr>
        <p:spPr>
          <a:xfrm>
            <a:off x="2496312" y="4892040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369" name="Shape 367"/>
          <p:cNvSpPr/>
          <p:nvPr/>
        </p:nvSpPr>
        <p:spPr>
          <a:xfrm>
            <a:off x="2670048" y="4892040"/>
            <a:ext cx="173736" cy="17373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70" name="Shape 368"/>
          <p:cNvSpPr/>
          <p:nvPr/>
        </p:nvSpPr>
        <p:spPr>
          <a:xfrm>
            <a:off x="2843784" y="4892040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371" name="Shape 369"/>
          <p:cNvSpPr/>
          <p:nvPr/>
        </p:nvSpPr>
        <p:spPr>
          <a:xfrm>
            <a:off x="3017520" y="48920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72" name="Shape 370"/>
          <p:cNvSpPr/>
          <p:nvPr/>
        </p:nvSpPr>
        <p:spPr>
          <a:xfrm>
            <a:off x="3191256" y="48920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73" name="Shape 371"/>
          <p:cNvSpPr/>
          <p:nvPr/>
        </p:nvSpPr>
        <p:spPr>
          <a:xfrm>
            <a:off x="1280160" y="50657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74" name="Shape 372"/>
          <p:cNvSpPr/>
          <p:nvPr/>
        </p:nvSpPr>
        <p:spPr>
          <a:xfrm>
            <a:off x="1453896" y="5065776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375" name="Shape 373"/>
          <p:cNvSpPr/>
          <p:nvPr/>
        </p:nvSpPr>
        <p:spPr>
          <a:xfrm>
            <a:off x="1627632" y="5065776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76" name="Shape 374"/>
          <p:cNvSpPr/>
          <p:nvPr/>
        </p:nvSpPr>
        <p:spPr>
          <a:xfrm>
            <a:off x="1801368" y="5065776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77" name="Shape 375"/>
          <p:cNvSpPr/>
          <p:nvPr/>
        </p:nvSpPr>
        <p:spPr>
          <a:xfrm>
            <a:off x="1975104" y="5065776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378" name="Shape 376"/>
          <p:cNvSpPr/>
          <p:nvPr/>
        </p:nvSpPr>
        <p:spPr>
          <a:xfrm>
            <a:off x="2148840" y="5065776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379" name="Shape 377"/>
          <p:cNvSpPr/>
          <p:nvPr/>
        </p:nvSpPr>
        <p:spPr>
          <a:xfrm>
            <a:off x="2322576" y="5065776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380" name="Shape 378"/>
          <p:cNvSpPr/>
          <p:nvPr/>
        </p:nvSpPr>
        <p:spPr>
          <a:xfrm>
            <a:off x="2496312" y="5065776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381" name="Shape 379"/>
          <p:cNvSpPr/>
          <p:nvPr/>
        </p:nvSpPr>
        <p:spPr>
          <a:xfrm>
            <a:off x="2670048" y="5065776"/>
            <a:ext cx="173736" cy="17373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82" name="Shape 380"/>
          <p:cNvSpPr/>
          <p:nvPr/>
        </p:nvSpPr>
        <p:spPr>
          <a:xfrm>
            <a:off x="2843784" y="50657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83" name="Shape 381"/>
          <p:cNvSpPr/>
          <p:nvPr/>
        </p:nvSpPr>
        <p:spPr>
          <a:xfrm>
            <a:off x="3017520" y="50657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84" name="Shape 382"/>
          <p:cNvSpPr/>
          <p:nvPr/>
        </p:nvSpPr>
        <p:spPr>
          <a:xfrm>
            <a:off x="3191256" y="50657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85" name="Shape 383"/>
          <p:cNvSpPr/>
          <p:nvPr/>
        </p:nvSpPr>
        <p:spPr>
          <a:xfrm>
            <a:off x="1280160" y="52395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86" name="Shape 384"/>
          <p:cNvSpPr/>
          <p:nvPr/>
        </p:nvSpPr>
        <p:spPr>
          <a:xfrm>
            <a:off x="1453896" y="5239512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387" name="Shape 385"/>
          <p:cNvSpPr/>
          <p:nvPr/>
        </p:nvSpPr>
        <p:spPr>
          <a:xfrm>
            <a:off x="1627632" y="5239512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88" name="Shape 386"/>
          <p:cNvSpPr/>
          <p:nvPr/>
        </p:nvSpPr>
        <p:spPr>
          <a:xfrm>
            <a:off x="1801368" y="5239512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89" name="Shape 387"/>
          <p:cNvSpPr/>
          <p:nvPr/>
        </p:nvSpPr>
        <p:spPr>
          <a:xfrm>
            <a:off x="1975104" y="5239512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390" name="Shape 388"/>
          <p:cNvSpPr/>
          <p:nvPr/>
        </p:nvSpPr>
        <p:spPr>
          <a:xfrm>
            <a:off x="2148840" y="5239512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391" name="Shape 389"/>
          <p:cNvSpPr/>
          <p:nvPr/>
        </p:nvSpPr>
        <p:spPr>
          <a:xfrm>
            <a:off x="2322576" y="5239512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392" name="Shape 390"/>
          <p:cNvSpPr/>
          <p:nvPr/>
        </p:nvSpPr>
        <p:spPr>
          <a:xfrm>
            <a:off x="2496312" y="5239512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393" name="Shape 391"/>
          <p:cNvSpPr/>
          <p:nvPr/>
        </p:nvSpPr>
        <p:spPr>
          <a:xfrm>
            <a:off x="2670048" y="5239512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94" name="Shape 392"/>
          <p:cNvSpPr/>
          <p:nvPr/>
        </p:nvSpPr>
        <p:spPr>
          <a:xfrm>
            <a:off x="2843784" y="52395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95" name="Shape 393"/>
          <p:cNvSpPr/>
          <p:nvPr/>
        </p:nvSpPr>
        <p:spPr>
          <a:xfrm>
            <a:off x="3017520" y="52395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96" name="Shape 394"/>
          <p:cNvSpPr/>
          <p:nvPr/>
        </p:nvSpPr>
        <p:spPr>
          <a:xfrm>
            <a:off x="3191256" y="52395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97" name="Shape 395"/>
          <p:cNvSpPr/>
          <p:nvPr/>
        </p:nvSpPr>
        <p:spPr>
          <a:xfrm>
            <a:off x="1280160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98" name="Shape 396"/>
          <p:cNvSpPr/>
          <p:nvPr/>
        </p:nvSpPr>
        <p:spPr>
          <a:xfrm>
            <a:off x="1453896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99" name="Shape 397"/>
          <p:cNvSpPr/>
          <p:nvPr/>
        </p:nvSpPr>
        <p:spPr>
          <a:xfrm>
            <a:off x="1627632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00" name="Shape 398"/>
          <p:cNvSpPr/>
          <p:nvPr/>
        </p:nvSpPr>
        <p:spPr>
          <a:xfrm>
            <a:off x="1801368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01" name="Shape 399"/>
          <p:cNvSpPr/>
          <p:nvPr/>
        </p:nvSpPr>
        <p:spPr>
          <a:xfrm>
            <a:off x="1975104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02" name="Shape 400"/>
          <p:cNvSpPr/>
          <p:nvPr/>
        </p:nvSpPr>
        <p:spPr>
          <a:xfrm>
            <a:off x="2148840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03" name="Shape 401"/>
          <p:cNvSpPr/>
          <p:nvPr/>
        </p:nvSpPr>
        <p:spPr>
          <a:xfrm>
            <a:off x="2322576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04" name="Shape 402"/>
          <p:cNvSpPr/>
          <p:nvPr/>
        </p:nvSpPr>
        <p:spPr>
          <a:xfrm>
            <a:off x="2496312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05" name="Shape 403"/>
          <p:cNvSpPr/>
          <p:nvPr/>
        </p:nvSpPr>
        <p:spPr>
          <a:xfrm>
            <a:off x="2670048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06" name="Shape 404"/>
          <p:cNvSpPr/>
          <p:nvPr/>
        </p:nvSpPr>
        <p:spPr>
          <a:xfrm>
            <a:off x="2843784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07" name="Shape 405"/>
          <p:cNvSpPr/>
          <p:nvPr/>
        </p:nvSpPr>
        <p:spPr>
          <a:xfrm>
            <a:off x="3017520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08" name="Shape 406"/>
          <p:cNvSpPr/>
          <p:nvPr/>
        </p:nvSpPr>
        <p:spPr>
          <a:xfrm>
            <a:off x="3191256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09" name="Shape 407"/>
          <p:cNvSpPr/>
          <p:nvPr/>
        </p:nvSpPr>
        <p:spPr>
          <a:xfrm>
            <a:off x="1280160" y="55869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10" name="Shape 408"/>
          <p:cNvSpPr/>
          <p:nvPr/>
        </p:nvSpPr>
        <p:spPr>
          <a:xfrm>
            <a:off x="1453896" y="55869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11" name="Shape 409"/>
          <p:cNvSpPr/>
          <p:nvPr/>
        </p:nvSpPr>
        <p:spPr>
          <a:xfrm>
            <a:off x="1627632" y="5586984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412" name="Shape 410"/>
          <p:cNvSpPr/>
          <p:nvPr/>
        </p:nvSpPr>
        <p:spPr>
          <a:xfrm>
            <a:off x="1801368" y="5586984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13" name="Shape 411"/>
          <p:cNvSpPr/>
          <p:nvPr/>
        </p:nvSpPr>
        <p:spPr>
          <a:xfrm>
            <a:off x="1975104" y="5586984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414" name="Shape 412"/>
          <p:cNvSpPr/>
          <p:nvPr/>
        </p:nvSpPr>
        <p:spPr>
          <a:xfrm>
            <a:off x="2148840" y="5586984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15" name="Shape 413"/>
          <p:cNvSpPr/>
          <p:nvPr/>
        </p:nvSpPr>
        <p:spPr>
          <a:xfrm>
            <a:off x="2322576" y="5586984"/>
            <a:ext cx="173736" cy="1737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16" name="Shape 414"/>
          <p:cNvSpPr/>
          <p:nvPr/>
        </p:nvSpPr>
        <p:spPr>
          <a:xfrm>
            <a:off x="2496312" y="5586984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417" name="Shape 415"/>
          <p:cNvSpPr/>
          <p:nvPr/>
        </p:nvSpPr>
        <p:spPr>
          <a:xfrm>
            <a:off x="2670048" y="5586984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418" name="Shape 416"/>
          <p:cNvSpPr/>
          <p:nvPr/>
        </p:nvSpPr>
        <p:spPr>
          <a:xfrm>
            <a:off x="2843784" y="55869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19" name="Shape 417"/>
          <p:cNvSpPr/>
          <p:nvPr/>
        </p:nvSpPr>
        <p:spPr>
          <a:xfrm>
            <a:off x="3017520" y="55869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20" name="Shape 418"/>
          <p:cNvSpPr/>
          <p:nvPr/>
        </p:nvSpPr>
        <p:spPr>
          <a:xfrm>
            <a:off x="3191256" y="55869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21" name="Shape 419"/>
          <p:cNvSpPr/>
          <p:nvPr/>
        </p:nvSpPr>
        <p:spPr>
          <a:xfrm>
            <a:off x="1280160" y="57607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22" name="Shape 420"/>
          <p:cNvSpPr/>
          <p:nvPr/>
        </p:nvSpPr>
        <p:spPr>
          <a:xfrm>
            <a:off x="1453896" y="57607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23" name="Shape 421"/>
          <p:cNvSpPr/>
          <p:nvPr/>
        </p:nvSpPr>
        <p:spPr>
          <a:xfrm>
            <a:off x="1627632" y="57607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24" name="Shape 422"/>
          <p:cNvSpPr/>
          <p:nvPr/>
        </p:nvSpPr>
        <p:spPr>
          <a:xfrm>
            <a:off x="1801368" y="5760720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25" name="Shape 423"/>
          <p:cNvSpPr/>
          <p:nvPr/>
        </p:nvSpPr>
        <p:spPr>
          <a:xfrm>
            <a:off x="1975104" y="5760720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426" name="Shape 424"/>
          <p:cNvSpPr/>
          <p:nvPr/>
        </p:nvSpPr>
        <p:spPr>
          <a:xfrm>
            <a:off x="2148840" y="5760720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427" name="Shape 425"/>
          <p:cNvSpPr/>
          <p:nvPr/>
        </p:nvSpPr>
        <p:spPr>
          <a:xfrm>
            <a:off x="2322576" y="5760720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428" name="Shape 426"/>
          <p:cNvSpPr/>
          <p:nvPr/>
        </p:nvSpPr>
        <p:spPr>
          <a:xfrm>
            <a:off x="2496312" y="5760720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429" name="Shape 427"/>
          <p:cNvSpPr/>
          <p:nvPr/>
        </p:nvSpPr>
        <p:spPr>
          <a:xfrm>
            <a:off x="2670048" y="57607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30" name="Shape 428"/>
          <p:cNvSpPr/>
          <p:nvPr/>
        </p:nvSpPr>
        <p:spPr>
          <a:xfrm>
            <a:off x="2843784" y="57607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31" name="Shape 429"/>
          <p:cNvSpPr/>
          <p:nvPr/>
        </p:nvSpPr>
        <p:spPr>
          <a:xfrm>
            <a:off x="3017520" y="57607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32" name="Shape 430"/>
          <p:cNvSpPr/>
          <p:nvPr/>
        </p:nvSpPr>
        <p:spPr>
          <a:xfrm>
            <a:off x="3191256" y="57607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33" name="Shape 431"/>
          <p:cNvSpPr/>
          <p:nvPr/>
        </p:nvSpPr>
        <p:spPr>
          <a:xfrm>
            <a:off x="1280160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34" name="Shape 432"/>
          <p:cNvSpPr/>
          <p:nvPr/>
        </p:nvSpPr>
        <p:spPr>
          <a:xfrm>
            <a:off x="1453896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35" name="Shape 433"/>
          <p:cNvSpPr/>
          <p:nvPr/>
        </p:nvSpPr>
        <p:spPr>
          <a:xfrm>
            <a:off x="1627632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36" name="Shape 434"/>
          <p:cNvSpPr/>
          <p:nvPr/>
        </p:nvSpPr>
        <p:spPr>
          <a:xfrm>
            <a:off x="1801368" y="5934456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37" name="Shape 435"/>
          <p:cNvSpPr/>
          <p:nvPr/>
        </p:nvSpPr>
        <p:spPr>
          <a:xfrm>
            <a:off x="1975104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38" name="Shape 436"/>
          <p:cNvSpPr/>
          <p:nvPr/>
        </p:nvSpPr>
        <p:spPr>
          <a:xfrm>
            <a:off x="2148840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39" name="Shape 437"/>
          <p:cNvSpPr/>
          <p:nvPr/>
        </p:nvSpPr>
        <p:spPr>
          <a:xfrm>
            <a:off x="2322576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40" name="Shape 438"/>
          <p:cNvSpPr/>
          <p:nvPr/>
        </p:nvSpPr>
        <p:spPr>
          <a:xfrm>
            <a:off x="2496312" y="5934456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441" name="Shape 439"/>
          <p:cNvSpPr/>
          <p:nvPr/>
        </p:nvSpPr>
        <p:spPr>
          <a:xfrm>
            <a:off x="2670048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42" name="Shape 440"/>
          <p:cNvSpPr/>
          <p:nvPr/>
        </p:nvSpPr>
        <p:spPr>
          <a:xfrm>
            <a:off x="2843784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43" name="Shape 441"/>
          <p:cNvSpPr/>
          <p:nvPr/>
        </p:nvSpPr>
        <p:spPr>
          <a:xfrm>
            <a:off x="3017520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44" name="Shape 442"/>
          <p:cNvSpPr/>
          <p:nvPr/>
        </p:nvSpPr>
        <p:spPr>
          <a:xfrm>
            <a:off x="3191256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45" name="Shape 443"/>
          <p:cNvSpPr/>
          <p:nvPr/>
        </p:nvSpPr>
        <p:spPr>
          <a:xfrm>
            <a:off x="2183587" y="4961534"/>
            <a:ext cx="156362" cy="15636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2148840" y="4544568"/>
            <a:ext cx="125090" cy="12509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2843784" y="4718304"/>
            <a:ext cx="125090" cy="12509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1975104" y="5413248"/>
            <a:ext cx="125090" cy="12509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2496312" y="5239512"/>
            <a:ext cx="125090" cy="12509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2496312" y="4370832"/>
            <a:ext cx="125090" cy="12509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451" name="Text 449"/>
          <p:cNvSpPr/>
          <p:nvPr/>
        </p:nvSpPr>
        <p:spPr>
          <a:xfrm>
            <a:off x="3611880" y="4343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포위 진압</a:t>
            </a:r>
            <a:endParaRPr lang="en-US" sz="1500" dirty="0"/>
          </a:p>
        </p:txBody>
      </p:sp>
      <p:sp>
        <p:nvSpPr>
          <p:cNvPr id="452" name="Text 450"/>
          <p:cNvSpPr/>
          <p:nvPr/>
        </p:nvSpPr>
        <p:spPr>
          <a:xfrm>
            <a:off x="3611880" y="4773168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6대 외곽 화선 차단</a:t>
            </a:r>
            <a:endParaRPr lang="en-US" sz="1150" dirty="0"/>
          </a:p>
        </p:txBody>
      </p:sp>
      <p:sp>
        <p:nvSpPr>
          <p:cNvPr id="453" name="Shape 451"/>
          <p:cNvSpPr/>
          <p:nvPr/>
        </p:nvSpPr>
        <p:spPr>
          <a:xfrm>
            <a:off x="6784848" y="3950208"/>
            <a:ext cx="2231136" cy="2231136"/>
          </a:xfrm>
          <a:prstGeom prst="roundRect">
            <a:avLst>
              <a:gd name="adj" fmla="val 2459"/>
            </a:avLst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6858000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55" name="Shape 453"/>
          <p:cNvSpPr/>
          <p:nvPr/>
        </p:nvSpPr>
        <p:spPr>
          <a:xfrm>
            <a:off x="7031736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56" name="Shape 454"/>
          <p:cNvSpPr/>
          <p:nvPr/>
        </p:nvSpPr>
        <p:spPr>
          <a:xfrm>
            <a:off x="7205472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57" name="Shape 455"/>
          <p:cNvSpPr/>
          <p:nvPr/>
        </p:nvSpPr>
        <p:spPr>
          <a:xfrm>
            <a:off x="7379208" y="4023360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58" name="Shape 456"/>
          <p:cNvSpPr/>
          <p:nvPr/>
        </p:nvSpPr>
        <p:spPr>
          <a:xfrm>
            <a:off x="7552944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59" name="Shape 457"/>
          <p:cNvSpPr/>
          <p:nvPr/>
        </p:nvSpPr>
        <p:spPr>
          <a:xfrm>
            <a:off x="7726680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60" name="Shape 458"/>
          <p:cNvSpPr/>
          <p:nvPr/>
        </p:nvSpPr>
        <p:spPr>
          <a:xfrm>
            <a:off x="7900416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61" name="Shape 459"/>
          <p:cNvSpPr/>
          <p:nvPr/>
        </p:nvSpPr>
        <p:spPr>
          <a:xfrm>
            <a:off x="8074152" y="4023360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462" name="Shape 460"/>
          <p:cNvSpPr/>
          <p:nvPr/>
        </p:nvSpPr>
        <p:spPr>
          <a:xfrm>
            <a:off x="8247888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63" name="Shape 461"/>
          <p:cNvSpPr/>
          <p:nvPr/>
        </p:nvSpPr>
        <p:spPr>
          <a:xfrm>
            <a:off x="8421624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64" name="Shape 462"/>
          <p:cNvSpPr/>
          <p:nvPr/>
        </p:nvSpPr>
        <p:spPr>
          <a:xfrm>
            <a:off x="8595360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65" name="Shape 463"/>
          <p:cNvSpPr/>
          <p:nvPr/>
        </p:nvSpPr>
        <p:spPr>
          <a:xfrm>
            <a:off x="8769096" y="402336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66" name="Shape 464"/>
          <p:cNvSpPr/>
          <p:nvPr/>
        </p:nvSpPr>
        <p:spPr>
          <a:xfrm>
            <a:off x="6858000" y="419709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67" name="Shape 465"/>
          <p:cNvSpPr/>
          <p:nvPr/>
        </p:nvSpPr>
        <p:spPr>
          <a:xfrm>
            <a:off x="7031736" y="419709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68" name="Shape 466"/>
          <p:cNvSpPr/>
          <p:nvPr/>
        </p:nvSpPr>
        <p:spPr>
          <a:xfrm>
            <a:off x="7205472" y="419709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69" name="Shape 467"/>
          <p:cNvSpPr/>
          <p:nvPr/>
        </p:nvSpPr>
        <p:spPr>
          <a:xfrm>
            <a:off x="7379208" y="4197096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70" name="Shape 468"/>
          <p:cNvSpPr/>
          <p:nvPr/>
        </p:nvSpPr>
        <p:spPr>
          <a:xfrm>
            <a:off x="7552944" y="4197096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471" name="Shape 469"/>
          <p:cNvSpPr/>
          <p:nvPr/>
        </p:nvSpPr>
        <p:spPr>
          <a:xfrm>
            <a:off x="7726680" y="4197096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472" name="Shape 470"/>
          <p:cNvSpPr/>
          <p:nvPr/>
        </p:nvSpPr>
        <p:spPr>
          <a:xfrm>
            <a:off x="7900416" y="4197096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473" name="Shape 471"/>
          <p:cNvSpPr/>
          <p:nvPr/>
        </p:nvSpPr>
        <p:spPr>
          <a:xfrm>
            <a:off x="8074152" y="4197096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474" name="Shape 472"/>
          <p:cNvSpPr/>
          <p:nvPr/>
        </p:nvSpPr>
        <p:spPr>
          <a:xfrm>
            <a:off x="8247888" y="419709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75" name="Shape 473"/>
          <p:cNvSpPr/>
          <p:nvPr/>
        </p:nvSpPr>
        <p:spPr>
          <a:xfrm>
            <a:off x="8421624" y="419709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76" name="Shape 474"/>
          <p:cNvSpPr/>
          <p:nvPr/>
        </p:nvSpPr>
        <p:spPr>
          <a:xfrm>
            <a:off x="8595360" y="419709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77" name="Shape 475"/>
          <p:cNvSpPr/>
          <p:nvPr/>
        </p:nvSpPr>
        <p:spPr>
          <a:xfrm>
            <a:off x="8769096" y="419709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78" name="Shape 476"/>
          <p:cNvSpPr/>
          <p:nvPr/>
        </p:nvSpPr>
        <p:spPr>
          <a:xfrm>
            <a:off x="6858000" y="437083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79" name="Shape 477"/>
          <p:cNvSpPr/>
          <p:nvPr/>
        </p:nvSpPr>
        <p:spPr>
          <a:xfrm>
            <a:off x="7031736" y="437083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80" name="Shape 478"/>
          <p:cNvSpPr/>
          <p:nvPr/>
        </p:nvSpPr>
        <p:spPr>
          <a:xfrm>
            <a:off x="7205472" y="4370832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481" name="Shape 479"/>
          <p:cNvSpPr/>
          <p:nvPr/>
        </p:nvSpPr>
        <p:spPr>
          <a:xfrm>
            <a:off x="7379208" y="4370832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82" name="Shape 480"/>
          <p:cNvSpPr/>
          <p:nvPr/>
        </p:nvSpPr>
        <p:spPr>
          <a:xfrm>
            <a:off x="7552944" y="4370832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483" name="Shape 481"/>
          <p:cNvSpPr/>
          <p:nvPr/>
        </p:nvSpPr>
        <p:spPr>
          <a:xfrm>
            <a:off x="7726680" y="4370832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484" name="Shape 482"/>
          <p:cNvSpPr/>
          <p:nvPr/>
        </p:nvSpPr>
        <p:spPr>
          <a:xfrm>
            <a:off x="7900416" y="4370832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485" name="Shape 483"/>
          <p:cNvSpPr/>
          <p:nvPr/>
        </p:nvSpPr>
        <p:spPr>
          <a:xfrm>
            <a:off x="8074152" y="4370832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486" name="Shape 484"/>
          <p:cNvSpPr/>
          <p:nvPr/>
        </p:nvSpPr>
        <p:spPr>
          <a:xfrm>
            <a:off x="8247888" y="4370832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487" name="Shape 485"/>
          <p:cNvSpPr/>
          <p:nvPr/>
        </p:nvSpPr>
        <p:spPr>
          <a:xfrm>
            <a:off x="8421624" y="437083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88" name="Shape 486"/>
          <p:cNvSpPr/>
          <p:nvPr/>
        </p:nvSpPr>
        <p:spPr>
          <a:xfrm>
            <a:off x="8595360" y="437083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89" name="Shape 487"/>
          <p:cNvSpPr/>
          <p:nvPr/>
        </p:nvSpPr>
        <p:spPr>
          <a:xfrm>
            <a:off x="8769096" y="437083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90" name="Shape 488"/>
          <p:cNvSpPr/>
          <p:nvPr/>
        </p:nvSpPr>
        <p:spPr>
          <a:xfrm>
            <a:off x="6858000" y="454456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91" name="Shape 489"/>
          <p:cNvSpPr/>
          <p:nvPr/>
        </p:nvSpPr>
        <p:spPr>
          <a:xfrm>
            <a:off x="7031736" y="454456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92" name="Shape 490"/>
          <p:cNvSpPr/>
          <p:nvPr/>
        </p:nvSpPr>
        <p:spPr>
          <a:xfrm>
            <a:off x="7205472" y="4544568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493" name="Shape 491"/>
          <p:cNvSpPr/>
          <p:nvPr/>
        </p:nvSpPr>
        <p:spPr>
          <a:xfrm>
            <a:off x="7379208" y="454456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94" name="Shape 492"/>
          <p:cNvSpPr/>
          <p:nvPr/>
        </p:nvSpPr>
        <p:spPr>
          <a:xfrm>
            <a:off x="7552944" y="4544568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495" name="Shape 493"/>
          <p:cNvSpPr/>
          <p:nvPr/>
        </p:nvSpPr>
        <p:spPr>
          <a:xfrm>
            <a:off x="7726680" y="4544568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496" name="Shape 494"/>
          <p:cNvSpPr/>
          <p:nvPr/>
        </p:nvSpPr>
        <p:spPr>
          <a:xfrm>
            <a:off x="7900416" y="4544568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497" name="Shape 495"/>
          <p:cNvSpPr/>
          <p:nvPr/>
        </p:nvSpPr>
        <p:spPr>
          <a:xfrm>
            <a:off x="8074152" y="4544568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498" name="Shape 496"/>
          <p:cNvSpPr/>
          <p:nvPr/>
        </p:nvSpPr>
        <p:spPr>
          <a:xfrm>
            <a:off x="8247888" y="4544568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499" name="Shape 497"/>
          <p:cNvSpPr/>
          <p:nvPr/>
        </p:nvSpPr>
        <p:spPr>
          <a:xfrm>
            <a:off x="8421624" y="4544568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500" name="Shape 498"/>
          <p:cNvSpPr/>
          <p:nvPr/>
        </p:nvSpPr>
        <p:spPr>
          <a:xfrm>
            <a:off x="8595360" y="454456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01" name="Shape 499"/>
          <p:cNvSpPr/>
          <p:nvPr/>
        </p:nvSpPr>
        <p:spPr>
          <a:xfrm>
            <a:off x="8769096" y="4544568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02" name="Shape 500"/>
          <p:cNvSpPr/>
          <p:nvPr/>
        </p:nvSpPr>
        <p:spPr>
          <a:xfrm>
            <a:off x="6858000" y="471830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03" name="Shape 501"/>
          <p:cNvSpPr/>
          <p:nvPr/>
        </p:nvSpPr>
        <p:spPr>
          <a:xfrm>
            <a:off x="7031736" y="4718304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504" name="Shape 502"/>
          <p:cNvSpPr/>
          <p:nvPr/>
        </p:nvSpPr>
        <p:spPr>
          <a:xfrm>
            <a:off x="7205472" y="4718304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05" name="Shape 503"/>
          <p:cNvSpPr/>
          <p:nvPr/>
        </p:nvSpPr>
        <p:spPr>
          <a:xfrm>
            <a:off x="7379208" y="4718304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06" name="Shape 504"/>
          <p:cNvSpPr/>
          <p:nvPr/>
        </p:nvSpPr>
        <p:spPr>
          <a:xfrm>
            <a:off x="7552944" y="4718304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507" name="Shape 505"/>
          <p:cNvSpPr/>
          <p:nvPr/>
        </p:nvSpPr>
        <p:spPr>
          <a:xfrm>
            <a:off x="7726680" y="4718304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08" name="Shape 506"/>
          <p:cNvSpPr/>
          <p:nvPr/>
        </p:nvSpPr>
        <p:spPr>
          <a:xfrm>
            <a:off x="7900416" y="4718304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09" name="Shape 507"/>
          <p:cNvSpPr/>
          <p:nvPr/>
        </p:nvSpPr>
        <p:spPr>
          <a:xfrm>
            <a:off x="8074152" y="4718304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510" name="Shape 508"/>
          <p:cNvSpPr/>
          <p:nvPr/>
        </p:nvSpPr>
        <p:spPr>
          <a:xfrm>
            <a:off x="8247888" y="4718304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11" name="Shape 509"/>
          <p:cNvSpPr/>
          <p:nvPr/>
        </p:nvSpPr>
        <p:spPr>
          <a:xfrm>
            <a:off x="8421624" y="4718304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12" name="Shape 510"/>
          <p:cNvSpPr/>
          <p:nvPr/>
        </p:nvSpPr>
        <p:spPr>
          <a:xfrm>
            <a:off x="8595360" y="4718304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513" name="Shape 511"/>
          <p:cNvSpPr/>
          <p:nvPr/>
        </p:nvSpPr>
        <p:spPr>
          <a:xfrm>
            <a:off x="8769096" y="471830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14" name="Shape 512"/>
          <p:cNvSpPr/>
          <p:nvPr/>
        </p:nvSpPr>
        <p:spPr>
          <a:xfrm>
            <a:off x="6858000" y="48920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15" name="Shape 513"/>
          <p:cNvSpPr/>
          <p:nvPr/>
        </p:nvSpPr>
        <p:spPr>
          <a:xfrm>
            <a:off x="7031736" y="4892040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16" name="Shape 514"/>
          <p:cNvSpPr/>
          <p:nvPr/>
        </p:nvSpPr>
        <p:spPr>
          <a:xfrm>
            <a:off x="7205472" y="4892040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517" name="Shape 515"/>
          <p:cNvSpPr/>
          <p:nvPr/>
        </p:nvSpPr>
        <p:spPr>
          <a:xfrm>
            <a:off x="7379208" y="4892040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18" name="Shape 516"/>
          <p:cNvSpPr/>
          <p:nvPr/>
        </p:nvSpPr>
        <p:spPr>
          <a:xfrm>
            <a:off x="7552944" y="4892040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19" name="Shape 517"/>
          <p:cNvSpPr/>
          <p:nvPr/>
        </p:nvSpPr>
        <p:spPr>
          <a:xfrm>
            <a:off x="7726680" y="4892040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520" name="Shape 518"/>
          <p:cNvSpPr/>
          <p:nvPr/>
        </p:nvSpPr>
        <p:spPr>
          <a:xfrm>
            <a:off x="7900416" y="4892040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21" name="Shape 519"/>
          <p:cNvSpPr/>
          <p:nvPr/>
        </p:nvSpPr>
        <p:spPr>
          <a:xfrm>
            <a:off x="8074152" y="4892040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522" name="Shape 520"/>
          <p:cNvSpPr/>
          <p:nvPr/>
        </p:nvSpPr>
        <p:spPr>
          <a:xfrm>
            <a:off x="8247888" y="4892040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523" name="Shape 521"/>
          <p:cNvSpPr/>
          <p:nvPr/>
        </p:nvSpPr>
        <p:spPr>
          <a:xfrm>
            <a:off x="8421624" y="4892040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24" name="Shape 522"/>
          <p:cNvSpPr/>
          <p:nvPr/>
        </p:nvSpPr>
        <p:spPr>
          <a:xfrm>
            <a:off x="8595360" y="4892040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525" name="Shape 523"/>
          <p:cNvSpPr/>
          <p:nvPr/>
        </p:nvSpPr>
        <p:spPr>
          <a:xfrm>
            <a:off x="8769096" y="489204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26" name="Shape 524"/>
          <p:cNvSpPr/>
          <p:nvPr/>
        </p:nvSpPr>
        <p:spPr>
          <a:xfrm>
            <a:off x="6858000" y="50657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27" name="Shape 525"/>
          <p:cNvSpPr/>
          <p:nvPr/>
        </p:nvSpPr>
        <p:spPr>
          <a:xfrm>
            <a:off x="7031736" y="5065776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28" name="Shape 526"/>
          <p:cNvSpPr/>
          <p:nvPr/>
        </p:nvSpPr>
        <p:spPr>
          <a:xfrm>
            <a:off x="7205472" y="5065776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29" name="Shape 527"/>
          <p:cNvSpPr/>
          <p:nvPr/>
        </p:nvSpPr>
        <p:spPr>
          <a:xfrm>
            <a:off x="7379208" y="5065776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30" name="Shape 528"/>
          <p:cNvSpPr/>
          <p:nvPr/>
        </p:nvSpPr>
        <p:spPr>
          <a:xfrm>
            <a:off x="7552944" y="5065776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31" name="Shape 529"/>
          <p:cNvSpPr/>
          <p:nvPr/>
        </p:nvSpPr>
        <p:spPr>
          <a:xfrm>
            <a:off x="7726680" y="5065776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32" name="Shape 530"/>
          <p:cNvSpPr/>
          <p:nvPr/>
        </p:nvSpPr>
        <p:spPr>
          <a:xfrm>
            <a:off x="7900416" y="5065776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533" name="Shape 531"/>
          <p:cNvSpPr/>
          <p:nvPr/>
        </p:nvSpPr>
        <p:spPr>
          <a:xfrm>
            <a:off x="8074152" y="5065776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534" name="Shape 532"/>
          <p:cNvSpPr/>
          <p:nvPr/>
        </p:nvSpPr>
        <p:spPr>
          <a:xfrm>
            <a:off x="8247888" y="5065776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35" name="Shape 533"/>
          <p:cNvSpPr/>
          <p:nvPr/>
        </p:nvSpPr>
        <p:spPr>
          <a:xfrm>
            <a:off x="8421624" y="5065776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536" name="Shape 534"/>
          <p:cNvSpPr/>
          <p:nvPr/>
        </p:nvSpPr>
        <p:spPr>
          <a:xfrm>
            <a:off x="8595360" y="50657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37" name="Shape 535"/>
          <p:cNvSpPr/>
          <p:nvPr/>
        </p:nvSpPr>
        <p:spPr>
          <a:xfrm>
            <a:off x="8769096" y="506577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38" name="Shape 536"/>
          <p:cNvSpPr/>
          <p:nvPr/>
        </p:nvSpPr>
        <p:spPr>
          <a:xfrm>
            <a:off x="6858000" y="52395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39" name="Shape 537"/>
          <p:cNvSpPr/>
          <p:nvPr/>
        </p:nvSpPr>
        <p:spPr>
          <a:xfrm>
            <a:off x="7031736" y="5239512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540" name="Shape 538"/>
          <p:cNvSpPr/>
          <p:nvPr/>
        </p:nvSpPr>
        <p:spPr>
          <a:xfrm>
            <a:off x="7205472" y="5239512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41" name="Shape 539"/>
          <p:cNvSpPr/>
          <p:nvPr/>
        </p:nvSpPr>
        <p:spPr>
          <a:xfrm>
            <a:off x="7379208" y="5239512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42" name="Shape 540"/>
          <p:cNvSpPr/>
          <p:nvPr/>
        </p:nvSpPr>
        <p:spPr>
          <a:xfrm>
            <a:off x="7552944" y="5239512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543" name="Shape 541"/>
          <p:cNvSpPr/>
          <p:nvPr/>
        </p:nvSpPr>
        <p:spPr>
          <a:xfrm>
            <a:off x="7726680" y="5239512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44" name="Shape 542"/>
          <p:cNvSpPr/>
          <p:nvPr/>
        </p:nvSpPr>
        <p:spPr>
          <a:xfrm>
            <a:off x="7900416" y="5239512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45" name="Shape 543"/>
          <p:cNvSpPr/>
          <p:nvPr/>
        </p:nvSpPr>
        <p:spPr>
          <a:xfrm>
            <a:off x="8074152" y="5239512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546" name="Shape 544"/>
          <p:cNvSpPr/>
          <p:nvPr/>
        </p:nvSpPr>
        <p:spPr>
          <a:xfrm>
            <a:off x="8247888" y="5239512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47" name="Shape 545"/>
          <p:cNvSpPr/>
          <p:nvPr/>
        </p:nvSpPr>
        <p:spPr>
          <a:xfrm>
            <a:off x="8421624" y="5239512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48" name="Shape 546"/>
          <p:cNvSpPr/>
          <p:nvPr/>
        </p:nvSpPr>
        <p:spPr>
          <a:xfrm>
            <a:off x="8595360" y="52395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49" name="Shape 547"/>
          <p:cNvSpPr/>
          <p:nvPr/>
        </p:nvSpPr>
        <p:spPr>
          <a:xfrm>
            <a:off x="8769096" y="5239512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50" name="Shape 548"/>
          <p:cNvSpPr/>
          <p:nvPr/>
        </p:nvSpPr>
        <p:spPr>
          <a:xfrm>
            <a:off x="6858000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51" name="Shape 549"/>
          <p:cNvSpPr/>
          <p:nvPr/>
        </p:nvSpPr>
        <p:spPr>
          <a:xfrm>
            <a:off x="7031736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52" name="Shape 550"/>
          <p:cNvSpPr/>
          <p:nvPr/>
        </p:nvSpPr>
        <p:spPr>
          <a:xfrm>
            <a:off x="7205472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53" name="Shape 551"/>
          <p:cNvSpPr/>
          <p:nvPr/>
        </p:nvSpPr>
        <p:spPr>
          <a:xfrm>
            <a:off x="7379208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54" name="Shape 552"/>
          <p:cNvSpPr/>
          <p:nvPr/>
        </p:nvSpPr>
        <p:spPr>
          <a:xfrm>
            <a:off x="7552944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55" name="Shape 553"/>
          <p:cNvSpPr/>
          <p:nvPr/>
        </p:nvSpPr>
        <p:spPr>
          <a:xfrm>
            <a:off x="7726680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56" name="Shape 554"/>
          <p:cNvSpPr/>
          <p:nvPr/>
        </p:nvSpPr>
        <p:spPr>
          <a:xfrm>
            <a:off x="7900416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57" name="Shape 555"/>
          <p:cNvSpPr/>
          <p:nvPr/>
        </p:nvSpPr>
        <p:spPr>
          <a:xfrm>
            <a:off x="8074152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58" name="Shape 556"/>
          <p:cNvSpPr/>
          <p:nvPr/>
        </p:nvSpPr>
        <p:spPr>
          <a:xfrm>
            <a:off x="8247888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59" name="Shape 557"/>
          <p:cNvSpPr/>
          <p:nvPr/>
        </p:nvSpPr>
        <p:spPr>
          <a:xfrm>
            <a:off x="8421624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60" name="Shape 558"/>
          <p:cNvSpPr/>
          <p:nvPr/>
        </p:nvSpPr>
        <p:spPr>
          <a:xfrm>
            <a:off x="8595360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61" name="Shape 559"/>
          <p:cNvSpPr/>
          <p:nvPr/>
        </p:nvSpPr>
        <p:spPr>
          <a:xfrm>
            <a:off x="8769096" y="5413248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62" name="Shape 560"/>
          <p:cNvSpPr/>
          <p:nvPr/>
        </p:nvSpPr>
        <p:spPr>
          <a:xfrm>
            <a:off x="6858000" y="55869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63" name="Shape 561"/>
          <p:cNvSpPr/>
          <p:nvPr/>
        </p:nvSpPr>
        <p:spPr>
          <a:xfrm>
            <a:off x="7031736" y="55869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64" name="Shape 562"/>
          <p:cNvSpPr/>
          <p:nvPr/>
        </p:nvSpPr>
        <p:spPr>
          <a:xfrm>
            <a:off x="7205472" y="55869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65" name="Shape 563"/>
          <p:cNvSpPr/>
          <p:nvPr/>
        </p:nvSpPr>
        <p:spPr>
          <a:xfrm>
            <a:off x="7379208" y="5586984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66" name="Shape 564"/>
          <p:cNvSpPr/>
          <p:nvPr/>
        </p:nvSpPr>
        <p:spPr>
          <a:xfrm>
            <a:off x="7552944" y="5586984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67" name="Shape 565"/>
          <p:cNvSpPr/>
          <p:nvPr/>
        </p:nvSpPr>
        <p:spPr>
          <a:xfrm>
            <a:off x="7726680" y="5586984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68" name="Shape 566"/>
          <p:cNvSpPr/>
          <p:nvPr/>
        </p:nvSpPr>
        <p:spPr>
          <a:xfrm>
            <a:off x="7900416" y="5586984"/>
            <a:ext cx="173736" cy="173736"/>
          </a:xfrm>
          <a:prstGeom prst="rect">
            <a:avLst/>
          </a:prstGeom>
          <a:solidFill>
            <a:srgbClr val="0C4A6E"/>
          </a:solidFill>
          <a:ln/>
        </p:spPr>
      </p:sp>
      <p:sp>
        <p:nvSpPr>
          <p:cNvPr id="569" name="Shape 567"/>
          <p:cNvSpPr/>
          <p:nvPr/>
        </p:nvSpPr>
        <p:spPr>
          <a:xfrm>
            <a:off x="8074152" y="5586984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570" name="Shape 568"/>
          <p:cNvSpPr/>
          <p:nvPr/>
        </p:nvSpPr>
        <p:spPr>
          <a:xfrm>
            <a:off x="8247888" y="5586984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71" name="Shape 569"/>
          <p:cNvSpPr/>
          <p:nvPr/>
        </p:nvSpPr>
        <p:spPr>
          <a:xfrm>
            <a:off x="8421624" y="55869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72" name="Shape 570"/>
          <p:cNvSpPr/>
          <p:nvPr/>
        </p:nvSpPr>
        <p:spPr>
          <a:xfrm>
            <a:off x="8595360" y="55869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73" name="Shape 571"/>
          <p:cNvSpPr/>
          <p:nvPr/>
        </p:nvSpPr>
        <p:spPr>
          <a:xfrm>
            <a:off x="8769096" y="5586984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74" name="Shape 572"/>
          <p:cNvSpPr/>
          <p:nvPr/>
        </p:nvSpPr>
        <p:spPr>
          <a:xfrm>
            <a:off x="6858000" y="57607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75" name="Shape 573"/>
          <p:cNvSpPr/>
          <p:nvPr/>
        </p:nvSpPr>
        <p:spPr>
          <a:xfrm>
            <a:off x="7031736" y="57607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76" name="Shape 574"/>
          <p:cNvSpPr/>
          <p:nvPr/>
        </p:nvSpPr>
        <p:spPr>
          <a:xfrm>
            <a:off x="7205472" y="57607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77" name="Shape 575"/>
          <p:cNvSpPr/>
          <p:nvPr/>
        </p:nvSpPr>
        <p:spPr>
          <a:xfrm>
            <a:off x="7379208" y="5760720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78" name="Shape 576"/>
          <p:cNvSpPr/>
          <p:nvPr/>
        </p:nvSpPr>
        <p:spPr>
          <a:xfrm>
            <a:off x="7552944" y="57607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79" name="Shape 577"/>
          <p:cNvSpPr/>
          <p:nvPr/>
        </p:nvSpPr>
        <p:spPr>
          <a:xfrm>
            <a:off x="7726680" y="5760720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80" name="Shape 578"/>
          <p:cNvSpPr/>
          <p:nvPr/>
        </p:nvSpPr>
        <p:spPr>
          <a:xfrm>
            <a:off x="7900416" y="5760720"/>
            <a:ext cx="173736" cy="173736"/>
          </a:xfrm>
          <a:prstGeom prst="rect">
            <a:avLst/>
          </a:prstGeom>
          <a:solidFill>
            <a:srgbClr val="1C1917"/>
          </a:solidFill>
          <a:ln/>
        </p:spPr>
      </p:sp>
      <p:sp>
        <p:nvSpPr>
          <p:cNvPr id="581" name="Shape 579"/>
          <p:cNvSpPr/>
          <p:nvPr/>
        </p:nvSpPr>
        <p:spPr>
          <a:xfrm>
            <a:off x="8074152" y="5760720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582" name="Shape 580"/>
          <p:cNvSpPr/>
          <p:nvPr/>
        </p:nvSpPr>
        <p:spPr>
          <a:xfrm>
            <a:off x="8247888" y="57607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83" name="Shape 581"/>
          <p:cNvSpPr/>
          <p:nvPr/>
        </p:nvSpPr>
        <p:spPr>
          <a:xfrm>
            <a:off x="8421624" y="57607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84" name="Shape 582"/>
          <p:cNvSpPr/>
          <p:nvPr/>
        </p:nvSpPr>
        <p:spPr>
          <a:xfrm>
            <a:off x="8595360" y="57607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85" name="Shape 583"/>
          <p:cNvSpPr/>
          <p:nvPr/>
        </p:nvSpPr>
        <p:spPr>
          <a:xfrm>
            <a:off x="8769096" y="5760720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86" name="Shape 584"/>
          <p:cNvSpPr/>
          <p:nvPr/>
        </p:nvSpPr>
        <p:spPr>
          <a:xfrm>
            <a:off x="6858000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87" name="Shape 585"/>
          <p:cNvSpPr/>
          <p:nvPr/>
        </p:nvSpPr>
        <p:spPr>
          <a:xfrm>
            <a:off x="7031736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88" name="Shape 586"/>
          <p:cNvSpPr/>
          <p:nvPr/>
        </p:nvSpPr>
        <p:spPr>
          <a:xfrm>
            <a:off x="7205472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89" name="Shape 587"/>
          <p:cNvSpPr/>
          <p:nvPr/>
        </p:nvSpPr>
        <p:spPr>
          <a:xfrm>
            <a:off x="7379208" y="5934456"/>
            <a:ext cx="173736" cy="17373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90" name="Shape 588"/>
          <p:cNvSpPr/>
          <p:nvPr/>
        </p:nvSpPr>
        <p:spPr>
          <a:xfrm>
            <a:off x="7552944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91" name="Shape 589"/>
          <p:cNvSpPr/>
          <p:nvPr/>
        </p:nvSpPr>
        <p:spPr>
          <a:xfrm>
            <a:off x="7726680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92" name="Shape 590"/>
          <p:cNvSpPr/>
          <p:nvPr/>
        </p:nvSpPr>
        <p:spPr>
          <a:xfrm>
            <a:off x="7900416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93" name="Shape 591"/>
          <p:cNvSpPr/>
          <p:nvPr/>
        </p:nvSpPr>
        <p:spPr>
          <a:xfrm>
            <a:off x="8074152" y="5934456"/>
            <a:ext cx="173736" cy="173736"/>
          </a:xfrm>
          <a:prstGeom prst="rect">
            <a:avLst/>
          </a:prstGeom>
          <a:solidFill>
            <a:srgbClr val="3F1D1D"/>
          </a:solidFill>
          <a:ln/>
        </p:spPr>
      </p:sp>
      <p:sp>
        <p:nvSpPr>
          <p:cNvPr id="594" name="Shape 592"/>
          <p:cNvSpPr/>
          <p:nvPr/>
        </p:nvSpPr>
        <p:spPr>
          <a:xfrm>
            <a:off x="8247888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95" name="Shape 593"/>
          <p:cNvSpPr/>
          <p:nvPr/>
        </p:nvSpPr>
        <p:spPr>
          <a:xfrm>
            <a:off x="8421624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96" name="Shape 594"/>
          <p:cNvSpPr/>
          <p:nvPr/>
        </p:nvSpPr>
        <p:spPr>
          <a:xfrm>
            <a:off x="8595360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97" name="Shape 595"/>
          <p:cNvSpPr/>
          <p:nvPr/>
        </p:nvSpPr>
        <p:spPr>
          <a:xfrm>
            <a:off x="8769096" y="5934456"/>
            <a:ext cx="173736" cy="173736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98" name="Shape 596"/>
          <p:cNvSpPr/>
          <p:nvPr/>
        </p:nvSpPr>
        <p:spPr>
          <a:xfrm>
            <a:off x="7761427" y="4961534"/>
            <a:ext cx="156362" cy="15636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78350F"/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7552944" y="4892040"/>
            <a:ext cx="125090" cy="12509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8247888" y="5065776"/>
            <a:ext cx="125090" cy="12509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7900416" y="4718304"/>
            <a:ext cx="125090" cy="12509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602" name="Text 600"/>
          <p:cNvSpPr/>
          <p:nvPr/>
        </p:nvSpPr>
        <p:spPr>
          <a:xfrm>
            <a:off x="9189720" y="4343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완전 진화</a:t>
            </a:r>
            <a:endParaRPr lang="en-US" sz="1500" dirty="0"/>
          </a:p>
        </p:txBody>
      </p:sp>
      <p:sp>
        <p:nvSpPr>
          <p:cNvPr id="603" name="Text 601"/>
          <p:cNvSpPr/>
          <p:nvPr/>
        </p:nvSpPr>
        <p:spPr>
          <a:xfrm>
            <a:off x="9189720" y="4773168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착화 중단 → 진화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화재 확산 시뮬레이션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대응시간 — 소방차 vs 드론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인지 시점을 공통 기준으로 비교 (마산어시장 예시 시나리오)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20440" cy="2788920"/>
          </a:xfrm>
          <a:prstGeom prst="roundRect">
            <a:avLst>
              <a:gd name="adj" fmla="val 295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031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48716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실도로 주행 + 출동준비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8:40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548640" y="39776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CA5A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좁은 골목은 입구까지만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51960" y="1874520"/>
            <a:ext cx="3520440" cy="2788920"/>
          </a:xfrm>
          <a:prstGeom prst="roundRect">
            <a:avLst>
              <a:gd name="adj" fmla="val 2951"/>
            </a:avLst>
          </a:prstGeom>
          <a:solidFill>
            <a:srgbClr val="1F120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51960" y="21031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(직선 비행)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51960" y="248716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92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최근접 거점 → 화점 직상공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51960" y="28803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3:20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4251960" y="39776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B92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 위를 그대로 넘어 도착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955280" y="1874520"/>
            <a:ext cx="3657600" cy="2788920"/>
          </a:xfrm>
          <a:prstGeom prst="roundRect">
            <a:avLst>
              <a:gd name="adj" fmla="val 2951"/>
            </a:avLst>
          </a:prstGeom>
          <a:solidFill>
            <a:srgbClr val="172033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6EF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드론이 먼저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55280" y="2606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5:20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795528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6EF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도착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955280" y="4069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초동 골든타임을 확보한다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인지·신고 지연은 양쪽에 동일하게 적용했다.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 = OSRM 실도로 라우팅 + 출동준비 1분, 드론 = 거점→화점 직선 비행.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56235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수치는 예시 시나리오 — 지점·거점 거리에 따라 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드론 군집 로직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 제어 없는 군집 자율비행 · Boids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드론은 주변 이웃의 위치·속도만 보고 스스로 가속도를 정한다 — 분산 제어.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66160" cy="3977640"/>
          </a:xfrm>
          <a:prstGeom prst="roundRect">
            <a:avLst>
              <a:gd name="adj" fmla="val 230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03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5328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Separation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926080"/>
            <a:ext cx="3017520" cy="1600200"/>
          </a:xfrm>
          <a:prstGeom prst="roundRect">
            <a:avLst>
              <a:gd name="adj" fmla="val 3429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3429000"/>
            <a:ext cx="182880" cy="18288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23160" y="3794760"/>
            <a:ext cx="182880" cy="18288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08760" y="4069080"/>
            <a:ext cx="182880" cy="18288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7091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안전거리보다 가까운 이웃을 밀어내 충돌을 막는다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97680" y="1874520"/>
            <a:ext cx="3566160" cy="3977640"/>
          </a:xfrm>
          <a:prstGeom prst="roundRect">
            <a:avLst>
              <a:gd name="adj" fmla="val 230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2103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572000" y="25328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Alignment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2926080"/>
            <a:ext cx="3017520" cy="1600200"/>
          </a:xfrm>
          <a:prstGeom prst="roundRect">
            <a:avLst>
              <a:gd name="adj" fmla="val 3429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12080" y="3566160"/>
            <a:ext cx="182880" cy="18288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06440" y="3520440"/>
            <a:ext cx="182880" cy="18288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3474720"/>
            <a:ext cx="182880" cy="18288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0" y="47091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이웃의 평균 속도에 방향을 맞춘다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46720" y="1874520"/>
            <a:ext cx="3566160" cy="3977640"/>
          </a:xfrm>
          <a:prstGeom prst="roundRect">
            <a:avLst>
              <a:gd name="adj" fmla="val 230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21040" y="2103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321040" y="25328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Cohesion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321040" y="2926080"/>
            <a:ext cx="3017520" cy="1600200"/>
          </a:xfrm>
          <a:prstGeom prst="roundRect">
            <a:avLst>
              <a:gd name="adj" fmla="val 3429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69680" y="3383280"/>
            <a:ext cx="182880" cy="182880"/>
          </a:xfrm>
          <a:prstGeom prst="ellipse">
            <a:avLst/>
          </a:prstGeom>
          <a:solidFill>
            <a:srgbClr val="4ADE8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149840" y="3474720"/>
            <a:ext cx="182880" cy="182880"/>
          </a:xfrm>
          <a:prstGeom prst="ellipse">
            <a:avLst/>
          </a:prstGeom>
          <a:solidFill>
            <a:srgbClr val="4ADE8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418320" y="4206240"/>
            <a:ext cx="182880" cy="182880"/>
          </a:xfrm>
          <a:prstGeom prst="ellipse">
            <a:avLst/>
          </a:prstGeom>
          <a:solidFill>
            <a:srgbClr val="4ADE8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21040" y="47091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무게중심 방향으로 모인다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드론 군집 로직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기반 소방 드론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2788920"/>
          </a:xfrm>
          <a:prstGeom prst="roundRect">
            <a:avLst>
              <a:gd name="adj" fmla="val 2951"/>
            </a:avLst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65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SCOUT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수색 · 경로 탐색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열화상으로 화점·요구조자를 찾아 좌표를 공유한다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1691640"/>
            <a:ext cx="3566160" cy="2788920"/>
          </a:xfrm>
          <a:prstGeom prst="roundRect">
            <a:avLst>
              <a:gd name="adj" fmla="val 2951"/>
            </a:avLst>
          </a:prstGeom>
          <a:solidFill>
            <a:srgbClr val="1E293B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965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SUPPRESSOR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0" y="2468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화점 초동 진압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화점에 접근해 소화탄을 투하, 확산 전 시간을 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691640"/>
            <a:ext cx="3566160" cy="2788920"/>
          </a:xfrm>
          <a:prstGeom prst="roundRect">
            <a:avLst>
              <a:gd name="adj" fmla="val 2951"/>
            </a:avLst>
          </a:prstGeom>
          <a:solidFill>
            <a:srgbClr val="1E293B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965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GUIDE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321040" y="2468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탈출 안내 · 보호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1040" y="29260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요구조자에게 안전한 탈출 경로를 안내한다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70916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8737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소화탄 소진 → 자율 역할 전환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22960" y="5257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SUPPRESSOR는 소화탄이 떨어지면 스스로 </a:t>
            </a:r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86EF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GUIDE로 전환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해, 진압을 마친 드론이 곧바로 인명 탈출 안내에 투입된다. 탐지 임계값·개수 음수 방지 등 방어 로직도 반영했다.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드론 군집 로직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화염을 피하는 탈출 경로 · 실좌표 복원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3840480" cy="3840480"/>
          </a:xfrm>
          <a:prstGeom prst="roundRect">
            <a:avLst>
              <a:gd name="adj" fmla="val 1429"/>
            </a:avLst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2880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182880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Shape 5"/>
          <p:cNvSpPr/>
          <p:nvPr/>
        </p:nvSpPr>
        <p:spPr>
          <a:xfrm>
            <a:off x="1554480" y="182880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" name="Shape 6"/>
          <p:cNvSpPr/>
          <p:nvPr/>
        </p:nvSpPr>
        <p:spPr>
          <a:xfrm>
            <a:off x="1920240" y="182880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" name="Shape 7"/>
          <p:cNvSpPr/>
          <p:nvPr/>
        </p:nvSpPr>
        <p:spPr>
          <a:xfrm>
            <a:off x="2286000" y="182880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" name="Shape 8"/>
          <p:cNvSpPr/>
          <p:nvPr/>
        </p:nvSpPr>
        <p:spPr>
          <a:xfrm>
            <a:off x="2651760" y="182880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9"/>
          <p:cNvSpPr/>
          <p:nvPr/>
        </p:nvSpPr>
        <p:spPr>
          <a:xfrm>
            <a:off x="3017520" y="182880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" name="Shape 10"/>
          <p:cNvSpPr/>
          <p:nvPr/>
        </p:nvSpPr>
        <p:spPr>
          <a:xfrm>
            <a:off x="3383280" y="182880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" name="Shape 11"/>
          <p:cNvSpPr/>
          <p:nvPr/>
        </p:nvSpPr>
        <p:spPr>
          <a:xfrm>
            <a:off x="3749040" y="182880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" name="Shape 12"/>
          <p:cNvSpPr/>
          <p:nvPr/>
        </p:nvSpPr>
        <p:spPr>
          <a:xfrm>
            <a:off x="4114800" y="182880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219456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6" name="Shape 14"/>
          <p:cNvSpPr/>
          <p:nvPr/>
        </p:nvSpPr>
        <p:spPr>
          <a:xfrm>
            <a:off x="1188720" y="219456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7" name="Shape 15"/>
          <p:cNvSpPr/>
          <p:nvPr/>
        </p:nvSpPr>
        <p:spPr>
          <a:xfrm>
            <a:off x="1554480" y="219456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8" name="Shape 16"/>
          <p:cNvSpPr/>
          <p:nvPr/>
        </p:nvSpPr>
        <p:spPr>
          <a:xfrm>
            <a:off x="1920240" y="219456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9" name="Shape 17"/>
          <p:cNvSpPr/>
          <p:nvPr/>
        </p:nvSpPr>
        <p:spPr>
          <a:xfrm>
            <a:off x="2286000" y="2194560"/>
            <a:ext cx="336499" cy="336499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0" name="Shape 18"/>
          <p:cNvSpPr/>
          <p:nvPr/>
        </p:nvSpPr>
        <p:spPr>
          <a:xfrm>
            <a:off x="2651760" y="2194560"/>
            <a:ext cx="336499" cy="336499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1" name="Shape 19"/>
          <p:cNvSpPr/>
          <p:nvPr/>
        </p:nvSpPr>
        <p:spPr>
          <a:xfrm>
            <a:off x="3017520" y="2194560"/>
            <a:ext cx="336499" cy="336499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2194560"/>
            <a:ext cx="336499" cy="336499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3" name="Shape 21"/>
          <p:cNvSpPr/>
          <p:nvPr/>
        </p:nvSpPr>
        <p:spPr>
          <a:xfrm>
            <a:off x="3749040" y="219456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4" name="Shape 22"/>
          <p:cNvSpPr/>
          <p:nvPr/>
        </p:nvSpPr>
        <p:spPr>
          <a:xfrm>
            <a:off x="4114800" y="219456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5" name="Shape 23"/>
          <p:cNvSpPr/>
          <p:nvPr/>
        </p:nvSpPr>
        <p:spPr>
          <a:xfrm>
            <a:off x="822960" y="256032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6" name="Shape 24"/>
          <p:cNvSpPr/>
          <p:nvPr/>
        </p:nvSpPr>
        <p:spPr>
          <a:xfrm>
            <a:off x="1188720" y="256032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7" name="Shape 25"/>
          <p:cNvSpPr/>
          <p:nvPr/>
        </p:nvSpPr>
        <p:spPr>
          <a:xfrm>
            <a:off x="1554480" y="256032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8" name="Shape 26"/>
          <p:cNvSpPr/>
          <p:nvPr/>
        </p:nvSpPr>
        <p:spPr>
          <a:xfrm>
            <a:off x="1920240" y="2560320"/>
            <a:ext cx="336499" cy="336499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9" name="Shape 27"/>
          <p:cNvSpPr/>
          <p:nvPr/>
        </p:nvSpPr>
        <p:spPr>
          <a:xfrm>
            <a:off x="2286000" y="256032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0" name="Shape 28"/>
          <p:cNvSpPr/>
          <p:nvPr/>
        </p:nvSpPr>
        <p:spPr>
          <a:xfrm>
            <a:off x="2651760" y="2560320"/>
            <a:ext cx="336499" cy="336499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1" name="Shape 29"/>
          <p:cNvSpPr/>
          <p:nvPr/>
        </p:nvSpPr>
        <p:spPr>
          <a:xfrm>
            <a:off x="3017520" y="256032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2" name="Shape 30"/>
          <p:cNvSpPr/>
          <p:nvPr/>
        </p:nvSpPr>
        <p:spPr>
          <a:xfrm>
            <a:off x="3383280" y="256032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3" name="Shape 31"/>
          <p:cNvSpPr/>
          <p:nvPr/>
        </p:nvSpPr>
        <p:spPr>
          <a:xfrm>
            <a:off x="3749040" y="2560320"/>
            <a:ext cx="336499" cy="336499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4" name="Shape 32"/>
          <p:cNvSpPr/>
          <p:nvPr/>
        </p:nvSpPr>
        <p:spPr>
          <a:xfrm>
            <a:off x="4114800" y="256032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5" name="Shape 33"/>
          <p:cNvSpPr/>
          <p:nvPr/>
        </p:nvSpPr>
        <p:spPr>
          <a:xfrm>
            <a:off x="822960" y="292608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6" name="Shape 34"/>
          <p:cNvSpPr/>
          <p:nvPr/>
        </p:nvSpPr>
        <p:spPr>
          <a:xfrm>
            <a:off x="1188720" y="292608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7" name="Shape 35"/>
          <p:cNvSpPr/>
          <p:nvPr/>
        </p:nvSpPr>
        <p:spPr>
          <a:xfrm>
            <a:off x="1554480" y="2926080"/>
            <a:ext cx="336499" cy="336499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8" name="Shape 36"/>
          <p:cNvSpPr/>
          <p:nvPr/>
        </p:nvSpPr>
        <p:spPr>
          <a:xfrm>
            <a:off x="1920240" y="292608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9" name="Shape 37"/>
          <p:cNvSpPr/>
          <p:nvPr/>
        </p:nvSpPr>
        <p:spPr>
          <a:xfrm>
            <a:off x="2286000" y="2926080"/>
            <a:ext cx="336499" cy="336499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0" name="Shape 38"/>
          <p:cNvSpPr/>
          <p:nvPr/>
        </p:nvSpPr>
        <p:spPr>
          <a:xfrm>
            <a:off x="2651760" y="2926080"/>
            <a:ext cx="336499" cy="336499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1" name="Shape 39"/>
          <p:cNvSpPr/>
          <p:nvPr/>
        </p:nvSpPr>
        <p:spPr>
          <a:xfrm>
            <a:off x="3017520" y="292608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2" name="Shape 40"/>
          <p:cNvSpPr/>
          <p:nvPr/>
        </p:nvSpPr>
        <p:spPr>
          <a:xfrm>
            <a:off x="3383280" y="292608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3" name="Shape 41"/>
          <p:cNvSpPr/>
          <p:nvPr/>
        </p:nvSpPr>
        <p:spPr>
          <a:xfrm>
            <a:off x="3749040" y="292608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4" name="Shape 42"/>
          <p:cNvSpPr/>
          <p:nvPr/>
        </p:nvSpPr>
        <p:spPr>
          <a:xfrm>
            <a:off x="4114800" y="292608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5" name="Shape 43"/>
          <p:cNvSpPr/>
          <p:nvPr/>
        </p:nvSpPr>
        <p:spPr>
          <a:xfrm>
            <a:off x="822960" y="329184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6" name="Shape 44"/>
          <p:cNvSpPr/>
          <p:nvPr/>
        </p:nvSpPr>
        <p:spPr>
          <a:xfrm>
            <a:off x="1188720" y="329184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7" name="Shape 45"/>
          <p:cNvSpPr/>
          <p:nvPr/>
        </p:nvSpPr>
        <p:spPr>
          <a:xfrm>
            <a:off x="1554480" y="3291840"/>
            <a:ext cx="336499" cy="336499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48" name="Shape 46"/>
          <p:cNvSpPr/>
          <p:nvPr/>
        </p:nvSpPr>
        <p:spPr>
          <a:xfrm>
            <a:off x="1920240" y="329184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9" name="Shape 47"/>
          <p:cNvSpPr/>
          <p:nvPr/>
        </p:nvSpPr>
        <p:spPr>
          <a:xfrm>
            <a:off x="2286000" y="3291840"/>
            <a:ext cx="336499" cy="336499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0" name="Shape 48"/>
          <p:cNvSpPr/>
          <p:nvPr/>
        </p:nvSpPr>
        <p:spPr>
          <a:xfrm>
            <a:off x="2651760" y="3291840"/>
            <a:ext cx="336499" cy="336499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1" name="Shape 49"/>
          <p:cNvSpPr/>
          <p:nvPr/>
        </p:nvSpPr>
        <p:spPr>
          <a:xfrm>
            <a:off x="3017520" y="329184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2" name="Shape 50"/>
          <p:cNvSpPr/>
          <p:nvPr/>
        </p:nvSpPr>
        <p:spPr>
          <a:xfrm>
            <a:off x="3383280" y="329184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3" name="Shape 51"/>
          <p:cNvSpPr/>
          <p:nvPr/>
        </p:nvSpPr>
        <p:spPr>
          <a:xfrm>
            <a:off x="3749040" y="329184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4" name="Shape 52"/>
          <p:cNvSpPr/>
          <p:nvPr/>
        </p:nvSpPr>
        <p:spPr>
          <a:xfrm>
            <a:off x="4114800" y="329184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5" name="Shape 53"/>
          <p:cNvSpPr/>
          <p:nvPr/>
        </p:nvSpPr>
        <p:spPr>
          <a:xfrm>
            <a:off x="822960" y="365760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6" name="Shape 54"/>
          <p:cNvSpPr/>
          <p:nvPr/>
        </p:nvSpPr>
        <p:spPr>
          <a:xfrm>
            <a:off x="1188720" y="365760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7" name="Shape 55"/>
          <p:cNvSpPr/>
          <p:nvPr/>
        </p:nvSpPr>
        <p:spPr>
          <a:xfrm>
            <a:off x="1554480" y="3657600"/>
            <a:ext cx="336499" cy="336499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58" name="Shape 56"/>
          <p:cNvSpPr/>
          <p:nvPr/>
        </p:nvSpPr>
        <p:spPr>
          <a:xfrm>
            <a:off x="1920240" y="365760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9" name="Shape 57"/>
          <p:cNvSpPr/>
          <p:nvPr/>
        </p:nvSpPr>
        <p:spPr>
          <a:xfrm>
            <a:off x="2286000" y="365760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0" name="Shape 58"/>
          <p:cNvSpPr/>
          <p:nvPr/>
        </p:nvSpPr>
        <p:spPr>
          <a:xfrm>
            <a:off x="2651760" y="3657600"/>
            <a:ext cx="336499" cy="336499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1" name="Shape 59"/>
          <p:cNvSpPr/>
          <p:nvPr/>
        </p:nvSpPr>
        <p:spPr>
          <a:xfrm>
            <a:off x="3017520" y="365760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2" name="Shape 60"/>
          <p:cNvSpPr/>
          <p:nvPr/>
        </p:nvSpPr>
        <p:spPr>
          <a:xfrm>
            <a:off x="3383280" y="365760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3" name="Shape 61"/>
          <p:cNvSpPr/>
          <p:nvPr/>
        </p:nvSpPr>
        <p:spPr>
          <a:xfrm>
            <a:off x="3749040" y="365760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4" name="Shape 62"/>
          <p:cNvSpPr/>
          <p:nvPr/>
        </p:nvSpPr>
        <p:spPr>
          <a:xfrm>
            <a:off x="4114800" y="365760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5" name="Shape 63"/>
          <p:cNvSpPr/>
          <p:nvPr/>
        </p:nvSpPr>
        <p:spPr>
          <a:xfrm>
            <a:off x="822960" y="402336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6" name="Shape 64"/>
          <p:cNvSpPr/>
          <p:nvPr/>
        </p:nvSpPr>
        <p:spPr>
          <a:xfrm>
            <a:off x="1188720" y="4023360"/>
            <a:ext cx="336499" cy="336499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67" name="Shape 65"/>
          <p:cNvSpPr/>
          <p:nvPr/>
        </p:nvSpPr>
        <p:spPr>
          <a:xfrm>
            <a:off x="1554480" y="402336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8" name="Shape 66"/>
          <p:cNvSpPr/>
          <p:nvPr/>
        </p:nvSpPr>
        <p:spPr>
          <a:xfrm>
            <a:off x="1920240" y="402336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9" name="Shape 67"/>
          <p:cNvSpPr/>
          <p:nvPr/>
        </p:nvSpPr>
        <p:spPr>
          <a:xfrm>
            <a:off x="2286000" y="402336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0" name="Shape 68"/>
          <p:cNvSpPr/>
          <p:nvPr/>
        </p:nvSpPr>
        <p:spPr>
          <a:xfrm>
            <a:off x="2651760" y="402336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1" name="Shape 69"/>
          <p:cNvSpPr/>
          <p:nvPr/>
        </p:nvSpPr>
        <p:spPr>
          <a:xfrm>
            <a:off x="3017520" y="4023360"/>
            <a:ext cx="336499" cy="336499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2" name="Shape 70"/>
          <p:cNvSpPr/>
          <p:nvPr/>
        </p:nvSpPr>
        <p:spPr>
          <a:xfrm>
            <a:off x="3383280" y="4023360"/>
            <a:ext cx="336499" cy="336499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3" name="Shape 71"/>
          <p:cNvSpPr/>
          <p:nvPr/>
        </p:nvSpPr>
        <p:spPr>
          <a:xfrm>
            <a:off x="3749040" y="402336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4" name="Shape 72"/>
          <p:cNvSpPr/>
          <p:nvPr/>
        </p:nvSpPr>
        <p:spPr>
          <a:xfrm>
            <a:off x="4114800" y="402336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5" name="Shape 73"/>
          <p:cNvSpPr/>
          <p:nvPr/>
        </p:nvSpPr>
        <p:spPr>
          <a:xfrm>
            <a:off x="822960" y="438912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6" name="Shape 74"/>
          <p:cNvSpPr/>
          <p:nvPr/>
        </p:nvSpPr>
        <p:spPr>
          <a:xfrm>
            <a:off x="1188720" y="4389120"/>
            <a:ext cx="336499" cy="336499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77" name="Shape 75"/>
          <p:cNvSpPr/>
          <p:nvPr/>
        </p:nvSpPr>
        <p:spPr>
          <a:xfrm>
            <a:off x="1554480" y="438912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8" name="Shape 76"/>
          <p:cNvSpPr/>
          <p:nvPr/>
        </p:nvSpPr>
        <p:spPr>
          <a:xfrm>
            <a:off x="1920240" y="438912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9" name="Shape 77"/>
          <p:cNvSpPr/>
          <p:nvPr/>
        </p:nvSpPr>
        <p:spPr>
          <a:xfrm>
            <a:off x="2286000" y="438912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0" name="Shape 78"/>
          <p:cNvSpPr/>
          <p:nvPr/>
        </p:nvSpPr>
        <p:spPr>
          <a:xfrm>
            <a:off x="2651760" y="438912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1" name="Shape 79"/>
          <p:cNvSpPr/>
          <p:nvPr/>
        </p:nvSpPr>
        <p:spPr>
          <a:xfrm>
            <a:off x="3017520" y="438912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2" name="Shape 80"/>
          <p:cNvSpPr/>
          <p:nvPr/>
        </p:nvSpPr>
        <p:spPr>
          <a:xfrm>
            <a:off x="3383280" y="438912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3" name="Shape 81"/>
          <p:cNvSpPr/>
          <p:nvPr/>
        </p:nvSpPr>
        <p:spPr>
          <a:xfrm>
            <a:off x="3749040" y="438912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4" name="Shape 82"/>
          <p:cNvSpPr/>
          <p:nvPr/>
        </p:nvSpPr>
        <p:spPr>
          <a:xfrm>
            <a:off x="4114800" y="438912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5" name="Shape 83"/>
          <p:cNvSpPr/>
          <p:nvPr/>
        </p:nvSpPr>
        <p:spPr>
          <a:xfrm>
            <a:off x="822960" y="475488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6" name="Shape 84"/>
          <p:cNvSpPr/>
          <p:nvPr/>
        </p:nvSpPr>
        <p:spPr>
          <a:xfrm>
            <a:off x="1188720" y="4754880"/>
            <a:ext cx="336499" cy="336499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87" name="Shape 85"/>
          <p:cNvSpPr/>
          <p:nvPr/>
        </p:nvSpPr>
        <p:spPr>
          <a:xfrm>
            <a:off x="1554480" y="475488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8" name="Shape 86"/>
          <p:cNvSpPr/>
          <p:nvPr/>
        </p:nvSpPr>
        <p:spPr>
          <a:xfrm>
            <a:off x="1920240" y="475488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89" name="Shape 87"/>
          <p:cNvSpPr/>
          <p:nvPr/>
        </p:nvSpPr>
        <p:spPr>
          <a:xfrm>
            <a:off x="2286000" y="475488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0" name="Shape 88"/>
          <p:cNvSpPr/>
          <p:nvPr/>
        </p:nvSpPr>
        <p:spPr>
          <a:xfrm>
            <a:off x="2651760" y="475488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1" name="Shape 89"/>
          <p:cNvSpPr/>
          <p:nvPr/>
        </p:nvSpPr>
        <p:spPr>
          <a:xfrm>
            <a:off x="3017520" y="475488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2" name="Shape 90"/>
          <p:cNvSpPr/>
          <p:nvPr/>
        </p:nvSpPr>
        <p:spPr>
          <a:xfrm>
            <a:off x="3383280" y="475488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3" name="Shape 91"/>
          <p:cNvSpPr/>
          <p:nvPr/>
        </p:nvSpPr>
        <p:spPr>
          <a:xfrm>
            <a:off x="3749040" y="475488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4" name="Shape 92"/>
          <p:cNvSpPr/>
          <p:nvPr/>
        </p:nvSpPr>
        <p:spPr>
          <a:xfrm>
            <a:off x="4114800" y="475488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5" name="Shape 93"/>
          <p:cNvSpPr/>
          <p:nvPr/>
        </p:nvSpPr>
        <p:spPr>
          <a:xfrm>
            <a:off x="822960" y="512064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6" name="Shape 94"/>
          <p:cNvSpPr/>
          <p:nvPr/>
        </p:nvSpPr>
        <p:spPr>
          <a:xfrm>
            <a:off x="1188720" y="512064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7" name="Shape 95"/>
          <p:cNvSpPr/>
          <p:nvPr/>
        </p:nvSpPr>
        <p:spPr>
          <a:xfrm>
            <a:off x="1554480" y="512064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8" name="Shape 96"/>
          <p:cNvSpPr/>
          <p:nvPr/>
        </p:nvSpPr>
        <p:spPr>
          <a:xfrm>
            <a:off x="1920240" y="512064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9" name="Shape 97"/>
          <p:cNvSpPr/>
          <p:nvPr/>
        </p:nvSpPr>
        <p:spPr>
          <a:xfrm>
            <a:off x="2286000" y="512064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0" name="Shape 98"/>
          <p:cNvSpPr/>
          <p:nvPr/>
        </p:nvSpPr>
        <p:spPr>
          <a:xfrm>
            <a:off x="2651760" y="512064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1" name="Shape 99"/>
          <p:cNvSpPr/>
          <p:nvPr/>
        </p:nvSpPr>
        <p:spPr>
          <a:xfrm>
            <a:off x="3017520" y="512064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383280" y="512064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749040" y="512064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114800" y="5120640"/>
            <a:ext cx="336499" cy="3364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225296" y="4791456"/>
            <a:ext cx="263347" cy="263347"/>
          </a:xfrm>
          <a:prstGeom prst="ellipse">
            <a:avLst/>
          </a:prstGeom>
          <a:solidFill>
            <a:srgbClr val="4ADE8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3785616" y="2596896"/>
            <a:ext cx="263347" cy="263347"/>
          </a:xfrm>
          <a:prstGeom prst="ellipse">
            <a:avLst/>
          </a:prstGeom>
          <a:solidFill>
            <a:srgbClr val="38BD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31520" y="5623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요구조자   ● 안전지대   ■ 화염 회피 경로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5349240" y="1828800"/>
            <a:ext cx="6263640" cy="1965960"/>
          </a:xfrm>
          <a:prstGeom prst="roundRect">
            <a:avLst>
              <a:gd name="adj" fmla="val 418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623560" y="205740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화염 회피 A* 경로 탐색</a:t>
            </a:r>
            <a:endParaRPr lang="en-US" sz="1650" dirty="0"/>
          </a:p>
        </p:txBody>
      </p:sp>
      <p:sp>
        <p:nvSpPr>
          <p:cNvPr id="110" name="Text 108"/>
          <p:cNvSpPr/>
          <p:nvPr/>
        </p:nvSpPr>
        <p:spPr>
          <a:xfrm>
            <a:off x="5623560" y="2542032"/>
            <a:ext cx="5806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8방향(2D)·6방향(3D) A*로 화염 셀을 피해 탈출 경로를 계산한다. 3D hazard map을 넘기면 다층 건물의 계단·개구부 층간 이동까지 포함한다.</a:t>
            </a:r>
            <a:endParaRPr lang="en-US" sz="1300" dirty="0"/>
          </a:p>
        </p:txBody>
      </p:sp>
      <p:sp>
        <p:nvSpPr>
          <p:cNvPr id="111" name="Shape 109"/>
          <p:cNvSpPr/>
          <p:nvPr/>
        </p:nvSpPr>
        <p:spPr>
          <a:xfrm>
            <a:off x="5349240" y="3977640"/>
            <a:ext cx="6263640" cy="1965960"/>
          </a:xfrm>
          <a:prstGeom prst="roundRect">
            <a:avLst>
              <a:gd name="adj" fmla="val 418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623560" y="420624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픽셀 → 월드 좌표 복원</a:t>
            </a:r>
            <a:endParaRPr lang="en-US" sz="1650" dirty="0"/>
          </a:p>
        </p:txBody>
      </p:sp>
      <p:sp>
        <p:nvSpPr>
          <p:cNvPr id="113" name="Text 111"/>
          <p:cNvSpPr/>
          <p:nvPr/>
        </p:nvSpPr>
        <p:spPr>
          <a:xfrm>
            <a:off x="5623560" y="4690872"/>
            <a:ext cx="5806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핀홀 카메라 모델과 드론 자세(위치·요각)로 탐지 픽셀의 광선을 지면과 교차시켜 실제 위경도 좌표를 복원한다.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드론 군집 로직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현장에서 맞물리는 통합 시나리오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352800" cy="2651760"/>
          </a:xfrm>
          <a:prstGeom prst="roundRect">
            <a:avLst>
              <a:gd name="adj" fmla="val 310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304288"/>
            <a:ext cx="640080" cy="64008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3042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359152"/>
            <a:ext cx="207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41248" y="3154680"/>
            <a:ext cx="2767584" cy="310896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3154680"/>
            <a:ext cx="276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SCOUT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41248" y="3657600"/>
            <a:ext cx="2767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열화상으로 화점·요구조자 좌표 확보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919728" y="2011680"/>
            <a:ext cx="46634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404360" y="2011680"/>
            <a:ext cx="3352800" cy="2651760"/>
          </a:xfrm>
          <a:prstGeom prst="roundRect">
            <a:avLst>
              <a:gd name="adj" fmla="val 310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78680" y="2304288"/>
            <a:ext cx="640080" cy="64008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F9731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8680" y="23042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455920" y="2359152"/>
            <a:ext cx="207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포위 진압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696968" y="3154680"/>
            <a:ext cx="2767584" cy="310896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96968" y="3154680"/>
            <a:ext cx="276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군집 + SUPPRESSOR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96968" y="3657600"/>
            <a:ext cx="2767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외곽 화선부터 소화탄으로 차단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5448" y="2011680"/>
            <a:ext cx="46634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260080" y="2011680"/>
            <a:ext cx="3352800" cy="2651760"/>
          </a:xfrm>
          <a:prstGeom prst="roundRect">
            <a:avLst>
              <a:gd name="adj" fmla="val 310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34400" y="2304288"/>
            <a:ext cx="640080" cy="64008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34400" y="23042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311640" y="2359152"/>
            <a:ext cx="207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탈출 안내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552688" y="3154680"/>
            <a:ext cx="2767584" cy="310896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52688" y="3154680"/>
            <a:ext cx="276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GUIDE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52688" y="3657600"/>
            <a:ext cx="2767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요구조자에게 화염 회피 경로 안내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48640" y="5029200"/>
            <a:ext cx="11064240" cy="868680"/>
          </a:xfrm>
          <a:prstGeom prst="roundRect">
            <a:avLst>
              <a:gd name="adj" fmla="val 9474"/>
            </a:avLst>
          </a:prstGeom>
          <a:solidFill>
            <a:srgbClr val="1F120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5029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소방차가 진입하기 전, 상공의 군집 드론이 </a:t>
            </a:r>
            <a:pPr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→ 진압 → 안내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끊김 없이 이어 초동 대응을 채운다.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· 기대효과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성과 — 피해를 얼마나 줄이나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977640" cy="4069080"/>
          </a:xfrm>
          <a:prstGeom prst="roundRect">
            <a:avLst>
              <a:gd name="adj" fmla="val 2069"/>
            </a:avLst>
          </a:prstGeom>
          <a:solidFill>
            <a:srgbClr val="172033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6EF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피해 면적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68%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548640" y="388620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6EF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저감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무대응 대비 · 드론 6대 투입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5029200"/>
            <a:ext cx="324612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5029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무대응 12,400㎡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14400" y="5394960"/>
            <a:ext cx="1038758" cy="274320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12" name="Text 10"/>
          <p:cNvSpPr/>
          <p:nvPr/>
        </p:nvSpPr>
        <p:spPr>
          <a:xfrm>
            <a:off x="2044598" y="5394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드론 4,000㎡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737360"/>
            <a:ext cx="3291840" cy="96012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83480" y="18470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 m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983480" y="23591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화선 반경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75320" y="1737360"/>
            <a:ext cx="3291840" cy="96012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0" y="18470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동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503920" y="23591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연소 최대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54880" y="2834640"/>
            <a:ext cx="3291840" cy="96012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83480" y="294436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분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983480" y="34564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진화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275320" y="2834640"/>
            <a:ext cx="3291840" cy="96012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0" y="294436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5:20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8503920" y="34564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드론이 먼저 도착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754880" y="3977640"/>
            <a:ext cx="6858000" cy="1828800"/>
          </a:xfrm>
          <a:prstGeom prst="roundRect">
            <a:avLst>
              <a:gd name="adj" fmla="val 4500"/>
            </a:avLst>
          </a:prstGeom>
          <a:solidFill>
            <a:srgbClr val="1F120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83480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차별성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029200" y="4645152"/>
            <a:ext cx="128016" cy="128016"/>
          </a:xfrm>
          <a:prstGeom prst="ellipse">
            <a:avLst/>
          </a:prstGeom>
          <a:solidFill>
            <a:srgbClr val="FB923C"/>
          </a:solidFill>
          <a:ln/>
        </p:spPr>
      </p:sp>
      <p:sp>
        <p:nvSpPr>
          <p:cNvPr id="28" name="Text 26"/>
          <p:cNvSpPr/>
          <p:nvPr/>
        </p:nvSpPr>
        <p:spPr>
          <a:xfrm>
            <a:off x="5285232" y="452628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격자가 아닌 실주소·실도로 위에서 검증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0" y="5056632"/>
            <a:ext cx="128016" cy="128016"/>
          </a:xfrm>
          <a:prstGeom prst="ellipse">
            <a:avLst/>
          </a:prstGeom>
          <a:solidFill>
            <a:srgbClr val="FB923C"/>
          </a:solidFill>
          <a:ln/>
        </p:spPr>
      </p:sp>
      <p:sp>
        <p:nvSpPr>
          <p:cNvPr id="30" name="Text 28"/>
          <p:cNvSpPr/>
          <p:nvPr/>
        </p:nvSpPr>
        <p:spPr>
          <a:xfrm>
            <a:off x="5285232" y="493776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현장조사 진입불가 구간을 근거 데이터로 반영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029200" y="5468112"/>
            <a:ext cx="128016" cy="128016"/>
          </a:xfrm>
          <a:prstGeom prst="ellipse">
            <a:avLst/>
          </a:prstGeom>
          <a:solidFill>
            <a:srgbClr val="FB923C"/>
          </a:solidFill>
          <a:ln/>
        </p:spPr>
      </p:sp>
      <p:sp>
        <p:nvSpPr>
          <p:cNvPr id="32" name="Text 30"/>
          <p:cNvSpPr/>
          <p:nvPr/>
        </p:nvSpPr>
        <p:spPr>
          <a:xfrm>
            <a:off x="5285232" y="534924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비행 → 진압 → 탈출 안내를 하나로 통합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수치는 예시 시나리오(마산어시장·드론 6대·풍속 3m/s·밀집도 88%).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· 기대효과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기대효과와 확장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761488" cy="27432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57400"/>
            <a:ext cx="457200" cy="457200"/>
          </a:xfrm>
          <a:prstGeom prst="ellipse">
            <a:avLst/>
          </a:prstGeom>
          <a:solidFill>
            <a:srgbClr val="0B1220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2167128"/>
            <a:ext cx="237744" cy="23774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69748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초동 골든타임 확보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 진입 전, 상공 드론이 확산을 먼저 늦춘다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93008" y="1737360"/>
            <a:ext cx="2761488" cy="27432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67328" y="2057400"/>
            <a:ext cx="457200" cy="457200"/>
          </a:xfrm>
          <a:prstGeom prst="ellipse">
            <a:avLst/>
          </a:prstGeom>
          <a:solidFill>
            <a:srgbClr val="0B1220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77056" y="2167128"/>
            <a:ext cx="237744" cy="237744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3721608" y="269748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진입불가 구간 상시 감시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721608" y="3429000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취약 골목을 데이터로 관리·순찰한다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37376" y="1737360"/>
            <a:ext cx="2761488" cy="27432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11696" y="2057400"/>
            <a:ext cx="457200" cy="457200"/>
          </a:xfrm>
          <a:prstGeom prst="ellipse">
            <a:avLst/>
          </a:prstGeom>
          <a:solidFill>
            <a:srgbClr val="0B122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21424" y="2167128"/>
            <a:ext cx="237744" cy="237744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7" name="Text 15"/>
          <p:cNvSpPr/>
          <p:nvPr/>
        </p:nvSpPr>
        <p:spPr>
          <a:xfrm>
            <a:off x="6665976" y="269748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인명 탈출 안내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665976" y="3429000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연기 속 요구조자에게 안전 경로를 제시한다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381744" y="1737360"/>
            <a:ext cx="2761488" cy="27432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56064" y="2057400"/>
            <a:ext cx="457200" cy="457200"/>
          </a:xfrm>
          <a:prstGeom prst="ellipse">
            <a:avLst/>
          </a:prstGeom>
          <a:solidFill>
            <a:srgbClr val="0B122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65792" y="2167128"/>
            <a:ext cx="237744" cy="23774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2" name="Text 20"/>
          <p:cNvSpPr/>
          <p:nvPr/>
        </p:nvSpPr>
        <p:spPr>
          <a:xfrm>
            <a:off x="9610344" y="269748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지자체 확장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610344" y="3429000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실주소만 넣으면 어느 구도심에도 적용된다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754880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172033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983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골목을 건너는 불을, 골목을 건너는 드론으로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도로 데이터 · 화재확산 시뮬레이션 · 군집 소방 드론을 하나로 — 감사합니다. (Q&amp;A)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골목을 건너는 불, 골목을 건너는 드론</dc:title>
  <dc:subject>PptxGenJS Presentation</dc:subject>
  <dc:creator>군집 소방 드론 팀</dc:creator>
  <cp:lastModifiedBy>군집 소방 드론 팀</cp:lastModifiedBy>
  <cp:revision>1</cp:revision>
  <dcterms:created xsi:type="dcterms:W3CDTF">2026-08-03T13:44:10Z</dcterms:created>
  <dcterms:modified xsi:type="dcterms:W3CDTF">2026-08-03T13:44:10Z</dcterms:modified>
</cp:coreProperties>
</file>