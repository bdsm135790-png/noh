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경남 원도심·전통시장의 좁은 골목, 밀집 시가지, 고령 인구 — 세 조건이 화재 위험을 키운다.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한계: 소방차 진입불가, 기존 소방드론 1인1기, 복사열 확산. 그래서 자율 군집 상공 대응이 필요하다.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프레이밍: 국방 군집 알고리즘 → 스핀오프 → 민간 재난대응. 1인1기 한계를 자율 군집으로 넘는다.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1단계 데이터로 어디에 배치할지 정하고, 2단계 시뮬레이션으로 군집이 어떻게 움직일지 최적화한다.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공공 빅데이터 3종으로 취약지와 거점을 데이터 기반으로 선정한다. 파이썬 스택으로 수집·시각화.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Boids 3규칙이 기본 안전, 그 위에 국방 군집 알고리즘 3종으로 편대 임무를 자율 수행한다.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대 여러 대가 아니라, 임무별 5개 편대가 동시에 역할을 나눠 수행한다. 이게 1인1기 한계를 넘는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2층 단독주택 3D. 정찰이 화점 탐지 → 진압이 창문 파쇄·소화탄 → 구조가 요구조자 대피 인도 → 통신·조명 지원.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드론만이 아니라 지상 UGV와 협업. UGV는 소화수 보급·거점, 드론은 공중 정밀 진압. 유무인 복합 편대.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27848" y="1344168"/>
            <a:ext cx="3547872" cy="3547872"/>
          </a:xfrm>
          <a:prstGeom prst="roundRect">
            <a:avLst>
              <a:gd name="adj" fmla="val 1546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01000" y="1417320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" name="Shape 2"/>
          <p:cNvSpPr/>
          <p:nvPr/>
        </p:nvSpPr>
        <p:spPr>
          <a:xfrm>
            <a:off x="8284464" y="1417320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Shape 3"/>
          <p:cNvSpPr/>
          <p:nvPr/>
        </p:nvSpPr>
        <p:spPr>
          <a:xfrm>
            <a:off x="8567928" y="1417320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8851392" y="1417320"/>
            <a:ext cx="283464" cy="2834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9134856" y="1417320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Shape 6"/>
          <p:cNvSpPr/>
          <p:nvPr/>
        </p:nvSpPr>
        <p:spPr>
          <a:xfrm>
            <a:off x="9418320" y="1417320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Shape 7"/>
          <p:cNvSpPr/>
          <p:nvPr/>
        </p:nvSpPr>
        <p:spPr>
          <a:xfrm>
            <a:off x="9701784" y="1417320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Shape 8"/>
          <p:cNvSpPr/>
          <p:nvPr/>
        </p:nvSpPr>
        <p:spPr>
          <a:xfrm>
            <a:off x="9985248" y="1417320"/>
            <a:ext cx="283464" cy="283464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11" name="Shape 9"/>
          <p:cNvSpPr/>
          <p:nvPr/>
        </p:nvSpPr>
        <p:spPr>
          <a:xfrm>
            <a:off x="10268712" y="1417320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52176" y="1417320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" name="Shape 11"/>
          <p:cNvSpPr/>
          <p:nvPr/>
        </p:nvSpPr>
        <p:spPr>
          <a:xfrm>
            <a:off x="10835640" y="1417320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19104" y="1417320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0" y="1700784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Shape 14"/>
          <p:cNvSpPr/>
          <p:nvPr/>
        </p:nvSpPr>
        <p:spPr>
          <a:xfrm>
            <a:off x="8284464" y="1700784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7" name="Shape 15"/>
          <p:cNvSpPr/>
          <p:nvPr/>
        </p:nvSpPr>
        <p:spPr>
          <a:xfrm>
            <a:off x="8567928" y="1700784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8851392" y="1700784"/>
            <a:ext cx="283464" cy="2834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Shape 17"/>
          <p:cNvSpPr/>
          <p:nvPr/>
        </p:nvSpPr>
        <p:spPr>
          <a:xfrm>
            <a:off x="9134856" y="1700784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0" name="Shape 18"/>
          <p:cNvSpPr/>
          <p:nvPr/>
        </p:nvSpPr>
        <p:spPr>
          <a:xfrm>
            <a:off x="9418320" y="1700784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" name="Shape 19"/>
          <p:cNvSpPr/>
          <p:nvPr/>
        </p:nvSpPr>
        <p:spPr>
          <a:xfrm>
            <a:off x="9701784" y="1700784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Shape 20"/>
          <p:cNvSpPr/>
          <p:nvPr/>
        </p:nvSpPr>
        <p:spPr>
          <a:xfrm>
            <a:off x="9985248" y="1700784"/>
            <a:ext cx="283464" cy="283464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68712" y="1700784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Shape 22"/>
          <p:cNvSpPr/>
          <p:nvPr/>
        </p:nvSpPr>
        <p:spPr>
          <a:xfrm>
            <a:off x="10552176" y="1700784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5" name="Shape 23"/>
          <p:cNvSpPr/>
          <p:nvPr/>
        </p:nvSpPr>
        <p:spPr>
          <a:xfrm>
            <a:off x="10835640" y="1700784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" name="Shape 24"/>
          <p:cNvSpPr/>
          <p:nvPr/>
        </p:nvSpPr>
        <p:spPr>
          <a:xfrm>
            <a:off x="11119104" y="1700784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" name="Shape 25"/>
          <p:cNvSpPr/>
          <p:nvPr/>
        </p:nvSpPr>
        <p:spPr>
          <a:xfrm>
            <a:off x="8001000" y="1984248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" name="Shape 26"/>
          <p:cNvSpPr/>
          <p:nvPr/>
        </p:nvSpPr>
        <p:spPr>
          <a:xfrm>
            <a:off x="8284464" y="1984248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9" name="Shape 27"/>
          <p:cNvSpPr/>
          <p:nvPr/>
        </p:nvSpPr>
        <p:spPr>
          <a:xfrm>
            <a:off x="8567928" y="1984248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0" name="Shape 28"/>
          <p:cNvSpPr/>
          <p:nvPr/>
        </p:nvSpPr>
        <p:spPr>
          <a:xfrm>
            <a:off x="8851392" y="1984248"/>
            <a:ext cx="283464" cy="2834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1" name="Shape 29"/>
          <p:cNvSpPr/>
          <p:nvPr/>
        </p:nvSpPr>
        <p:spPr>
          <a:xfrm>
            <a:off x="9134856" y="1984248"/>
            <a:ext cx="283464" cy="2834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2" name="Shape 30"/>
          <p:cNvSpPr/>
          <p:nvPr/>
        </p:nvSpPr>
        <p:spPr>
          <a:xfrm>
            <a:off x="9418320" y="1984248"/>
            <a:ext cx="283464" cy="2834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3" name="Shape 31"/>
          <p:cNvSpPr/>
          <p:nvPr/>
        </p:nvSpPr>
        <p:spPr>
          <a:xfrm>
            <a:off x="9701784" y="1984248"/>
            <a:ext cx="283464" cy="2834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4" name="Shape 32"/>
          <p:cNvSpPr/>
          <p:nvPr/>
        </p:nvSpPr>
        <p:spPr>
          <a:xfrm>
            <a:off x="9985248" y="1984248"/>
            <a:ext cx="283464" cy="283464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35" name="Shape 33"/>
          <p:cNvSpPr/>
          <p:nvPr/>
        </p:nvSpPr>
        <p:spPr>
          <a:xfrm>
            <a:off x="10268712" y="1984248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6" name="Shape 34"/>
          <p:cNvSpPr/>
          <p:nvPr/>
        </p:nvSpPr>
        <p:spPr>
          <a:xfrm>
            <a:off x="10552176" y="1984248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7" name="Shape 35"/>
          <p:cNvSpPr/>
          <p:nvPr/>
        </p:nvSpPr>
        <p:spPr>
          <a:xfrm>
            <a:off x="10835640" y="1984248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8" name="Shape 36"/>
          <p:cNvSpPr/>
          <p:nvPr/>
        </p:nvSpPr>
        <p:spPr>
          <a:xfrm>
            <a:off x="11119104" y="1984248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9" name="Shape 37"/>
          <p:cNvSpPr/>
          <p:nvPr/>
        </p:nvSpPr>
        <p:spPr>
          <a:xfrm>
            <a:off x="8001000" y="2267712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0" name="Shape 38"/>
          <p:cNvSpPr/>
          <p:nvPr/>
        </p:nvSpPr>
        <p:spPr>
          <a:xfrm>
            <a:off x="8284464" y="2267712"/>
            <a:ext cx="283464" cy="283464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41" name="Shape 39"/>
          <p:cNvSpPr/>
          <p:nvPr/>
        </p:nvSpPr>
        <p:spPr>
          <a:xfrm>
            <a:off x="8567928" y="2267712"/>
            <a:ext cx="283464" cy="283464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42" name="Shape 40"/>
          <p:cNvSpPr/>
          <p:nvPr/>
        </p:nvSpPr>
        <p:spPr>
          <a:xfrm>
            <a:off x="8851392" y="2267712"/>
            <a:ext cx="283464" cy="2834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3" name="Shape 41"/>
          <p:cNvSpPr/>
          <p:nvPr/>
        </p:nvSpPr>
        <p:spPr>
          <a:xfrm>
            <a:off x="9134856" y="2267712"/>
            <a:ext cx="283464" cy="2834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4" name="Shape 42"/>
          <p:cNvSpPr/>
          <p:nvPr/>
        </p:nvSpPr>
        <p:spPr>
          <a:xfrm>
            <a:off x="9418320" y="2267712"/>
            <a:ext cx="283464" cy="2834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5" name="Shape 43"/>
          <p:cNvSpPr/>
          <p:nvPr/>
        </p:nvSpPr>
        <p:spPr>
          <a:xfrm>
            <a:off x="9701784" y="2267712"/>
            <a:ext cx="283464" cy="2834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Shape 44"/>
          <p:cNvSpPr/>
          <p:nvPr/>
        </p:nvSpPr>
        <p:spPr>
          <a:xfrm>
            <a:off x="9985248" y="2267712"/>
            <a:ext cx="283464" cy="283464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47" name="Shape 45"/>
          <p:cNvSpPr/>
          <p:nvPr/>
        </p:nvSpPr>
        <p:spPr>
          <a:xfrm>
            <a:off x="10268712" y="2267712"/>
            <a:ext cx="283464" cy="2834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8" name="Shape 46"/>
          <p:cNvSpPr/>
          <p:nvPr/>
        </p:nvSpPr>
        <p:spPr>
          <a:xfrm>
            <a:off x="10552176" y="2267712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9" name="Shape 47"/>
          <p:cNvSpPr/>
          <p:nvPr/>
        </p:nvSpPr>
        <p:spPr>
          <a:xfrm>
            <a:off x="10835640" y="2267712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0" name="Shape 48"/>
          <p:cNvSpPr/>
          <p:nvPr/>
        </p:nvSpPr>
        <p:spPr>
          <a:xfrm>
            <a:off x="11119104" y="2267712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1" name="Shape 49"/>
          <p:cNvSpPr/>
          <p:nvPr/>
        </p:nvSpPr>
        <p:spPr>
          <a:xfrm>
            <a:off x="8001000" y="2551176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2" name="Shape 50"/>
          <p:cNvSpPr/>
          <p:nvPr/>
        </p:nvSpPr>
        <p:spPr>
          <a:xfrm>
            <a:off x="8284464" y="2551176"/>
            <a:ext cx="283464" cy="283464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53" name="Shape 51"/>
          <p:cNvSpPr/>
          <p:nvPr/>
        </p:nvSpPr>
        <p:spPr>
          <a:xfrm>
            <a:off x="8567928" y="2551176"/>
            <a:ext cx="283464" cy="2834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4" name="Shape 52"/>
          <p:cNvSpPr/>
          <p:nvPr/>
        </p:nvSpPr>
        <p:spPr>
          <a:xfrm>
            <a:off x="8851392" y="2551176"/>
            <a:ext cx="283464" cy="2834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5" name="Shape 53"/>
          <p:cNvSpPr/>
          <p:nvPr/>
        </p:nvSpPr>
        <p:spPr>
          <a:xfrm>
            <a:off x="9134856" y="2551176"/>
            <a:ext cx="283464" cy="283464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56" name="Shape 54"/>
          <p:cNvSpPr/>
          <p:nvPr/>
        </p:nvSpPr>
        <p:spPr>
          <a:xfrm>
            <a:off x="9418320" y="2551176"/>
            <a:ext cx="283464" cy="283464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57" name="Shape 55"/>
          <p:cNvSpPr/>
          <p:nvPr/>
        </p:nvSpPr>
        <p:spPr>
          <a:xfrm>
            <a:off x="9701784" y="2551176"/>
            <a:ext cx="283464" cy="283464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58" name="Shape 56"/>
          <p:cNvSpPr/>
          <p:nvPr/>
        </p:nvSpPr>
        <p:spPr>
          <a:xfrm>
            <a:off x="9985248" y="2551176"/>
            <a:ext cx="283464" cy="283464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59" name="Shape 57"/>
          <p:cNvSpPr/>
          <p:nvPr/>
        </p:nvSpPr>
        <p:spPr>
          <a:xfrm>
            <a:off x="10268712" y="2551176"/>
            <a:ext cx="283464" cy="2834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0" name="Shape 58"/>
          <p:cNvSpPr/>
          <p:nvPr/>
        </p:nvSpPr>
        <p:spPr>
          <a:xfrm>
            <a:off x="10552176" y="2551176"/>
            <a:ext cx="283464" cy="283464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61" name="Shape 59"/>
          <p:cNvSpPr/>
          <p:nvPr/>
        </p:nvSpPr>
        <p:spPr>
          <a:xfrm>
            <a:off x="10835640" y="2551176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2" name="Shape 60"/>
          <p:cNvSpPr/>
          <p:nvPr/>
        </p:nvSpPr>
        <p:spPr>
          <a:xfrm>
            <a:off x="11119104" y="2551176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3" name="Shape 61"/>
          <p:cNvSpPr/>
          <p:nvPr/>
        </p:nvSpPr>
        <p:spPr>
          <a:xfrm>
            <a:off x="8001000" y="2834640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4" name="Shape 62"/>
          <p:cNvSpPr/>
          <p:nvPr/>
        </p:nvSpPr>
        <p:spPr>
          <a:xfrm>
            <a:off x="8284464" y="2834640"/>
            <a:ext cx="283464" cy="283464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65" name="Shape 63"/>
          <p:cNvSpPr/>
          <p:nvPr/>
        </p:nvSpPr>
        <p:spPr>
          <a:xfrm>
            <a:off x="8567928" y="2834640"/>
            <a:ext cx="283464" cy="2834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6" name="Shape 64"/>
          <p:cNvSpPr/>
          <p:nvPr/>
        </p:nvSpPr>
        <p:spPr>
          <a:xfrm>
            <a:off x="8851392" y="2834640"/>
            <a:ext cx="283464" cy="2834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7" name="Shape 65"/>
          <p:cNvSpPr/>
          <p:nvPr/>
        </p:nvSpPr>
        <p:spPr>
          <a:xfrm>
            <a:off x="9134856" y="2834640"/>
            <a:ext cx="283464" cy="283464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68" name="Shape 66"/>
          <p:cNvSpPr/>
          <p:nvPr/>
        </p:nvSpPr>
        <p:spPr>
          <a:xfrm>
            <a:off x="9418320" y="2834640"/>
            <a:ext cx="283464" cy="283464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69" name="Shape 67"/>
          <p:cNvSpPr/>
          <p:nvPr/>
        </p:nvSpPr>
        <p:spPr>
          <a:xfrm>
            <a:off x="9701784" y="2834640"/>
            <a:ext cx="283464" cy="283464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70" name="Shape 68"/>
          <p:cNvSpPr/>
          <p:nvPr/>
        </p:nvSpPr>
        <p:spPr>
          <a:xfrm>
            <a:off x="9985248" y="2834640"/>
            <a:ext cx="283464" cy="283464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71" name="Shape 69"/>
          <p:cNvSpPr/>
          <p:nvPr/>
        </p:nvSpPr>
        <p:spPr>
          <a:xfrm>
            <a:off x="10268712" y="2834640"/>
            <a:ext cx="283464" cy="2834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2" name="Shape 70"/>
          <p:cNvSpPr/>
          <p:nvPr/>
        </p:nvSpPr>
        <p:spPr>
          <a:xfrm>
            <a:off x="10552176" y="2834640"/>
            <a:ext cx="283464" cy="283464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73" name="Shape 71"/>
          <p:cNvSpPr/>
          <p:nvPr/>
        </p:nvSpPr>
        <p:spPr>
          <a:xfrm>
            <a:off x="10835640" y="2834640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4" name="Shape 72"/>
          <p:cNvSpPr/>
          <p:nvPr/>
        </p:nvSpPr>
        <p:spPr>
          <a:xfrm>
            <a:off x="11119104" y="2834640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5" name="Shape 73"/>
          <p:cNvSpPr/>
          <p:nvPr/>
        </p:nvSpPr>
        <p:spPr>
          <a:xfrm>
            <a:off x="8001000" y="3118104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6" name="Shape 74"/>
          <p:cNvSpPr/>
          <p:nvPr/>
        </p:nvSpPr>
        <p:spPr>
          <a:xfrm>
            <a:off x="8284464" y="3118104"/>
            <a:ext cx="283464" cy="283464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77" name="Shape 75"/>
          <p:cNvSpPr/>
          <p:nvPr/>
        </p:nvSpPr>
        <p:spPr>
          <a:xfrm>
            <a:off x="8567928" y="3118104"/>
            <a:ext cx="283464" cy="2834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78" name="Shape 76"/>
          <p:cNvSpPr/>
          <p:nvPr/>
        </p:nvSpPr>
        <p:spPr>
          <a:xfrm>
            <a:off x="8851392" y="3118104"/>
            <a:ext cx="283464" cy="2834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9" name="Shape 77"/>
          <p:cNvSpPr/>
          <p:nvPr/>
        </p:nvSpPr>
        <p:spPr>
          <a:xfrm>
            <a:off x="9134856" y="3118104"/>
            <a:ext cx="283464" cy="283464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80" name="Shape 78"/>
          <p:cNvSpPr/>
          <p:nvPr/>
        </p:nvSpPr>
        <p:spPr>
          <a:xfrm>
            <a:off x="9418320" y="3118104"/>
            <a:ext cx="283464" cy="283464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81" name="Shape 79"/>
          <p:cNvSpPr/>
          <p:nvPr/>
        </p:nvSpPr>
        <p:spPr>
          <a:xfrm>
            <a:off x="9701784" y="3118104"/>
            <a:ext cx="283464" cy="283464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82" name="Shape 80"/>
          <p:cNvSpPr/>
          <p:nvPr/>
        </p:nvSpPr>
        <p:spPr>
          <a:xfrm>
            <a:off x="9985248" y="3118104"/>
            <a:ext cx="283464" cy="283464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83" name="Shape 81"/>
          <p:cNvSpPr/>
          <p:nvPr/>
        </p:nvSpPr>
        <p:spPr>
          <a:xfrm>
            <a:off x="10268712" y="3118104"/>
            <a:ext cx="283464" cy="2834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4" name="Shape 82"/>
          <p:cNvSpPr/>
          <p:nvPr/>
        </p:nvSpPr>
        <p:spPr>
          <a:xfrm>
            <a:off x="10552176" y="3118104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5" name="Shape 83"/>
          <p:cNvSpPr/>
          <p:nvPr/>
        </p:nvSpPr>
        <p:spPr>
          <a:xfrm>
            <a:off x="10835640" y="3118104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6" name="Shape 84"/>
          <p:cNvSpPr/>
          <p:nvPr/>
        </p:nvSpPr>
        <p:spPr>
          <a:xfrm>
            <a:off x="11119104" y="3118104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7" name="Shape 85"/>
          <p:cNvSpPr/>
          <p:nvPr/>
        </p:nvSpPr>
        <p:spPr>
          <a:xfrm>
            <a:off x="8001000" y="3401568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8" name="Shape 86"/>
          <p:cNvSpPr/>
          <p:nvPr/>
        </p:nvSpPr>
        <p:spPr>
          <a:xfrm>
            <a:off x="8284464" y="3401568"/>
            <a:ext cx="283464" cy="283464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89" name="Shape 87"/>
          <p:cNvSpPr/>
          <p:nvPr/>
        </p:nvSpPr>
        <p:spPr>
          <a:xfrm>
            <a:off x="8567928" y="3401568"/>
            <a:ext cx="283464" cy="2834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0" name="Shape 88"/>
          <p:cNvSpPr/>
          <p:nvPr/>
        </p:nvSpPr>
        <p:spPr>
          <a:xfrm>
            <a:off x="8851392" y="3401568"/>
            <a:ext cx="283464" cy="2834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1" name="Shape 89"/>
          <p:cNvSpPr/>
          <p:nvPr/>
        </p:nvSpPr>
        <p:spPr>
          <a:xfrm>
            <a:off x="9134856" y="3401568"/>
            <a:ext cx="283464" cy="283464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92" name="Shape 90"/>
          <p:cNvSpPr/>
          <p:nvPr/>
        </p:nvSpPr>
        <p:spPr>
          <a:xfrm>
            <a:off x="9418320" y="3401568"/>
            <a:ext cx="283464" cy="283464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93" name="Shape 91"/>
          <p:cNvSpPr/>
          <p:nvPr/>
        </p:nvSpPr>
        <p:spPr>
          <a:xfrm>
            <a:off x="9701784" y="3401568"/>
            <a:ext cx="283464" cy="283464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94" name="Shape 92"/>
          <p:cNvSpPr/>
          <p:nvPr/>
        </p:nvSpPr>
        <p:spPr>
          <a:xfrm>
            <a:off x="9985248" y="3401568"/>
            <a:ext cx="283464" cy="283464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95" name="Shape 93"/>
          <p:cNvSpPr/>
          <p:nvPr/>
        </p:nvSpPr>
        <p:spPr>
          <a:xfrm>
            <a:off x="10268712" y="3401568"/>
            <a:ext cx="283464" cy="2834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6" name="Shape 94"/>
          <p:cNvSpPr/>
          <p:nvPr/>
        </p:nvSpPr>
        <p:spPr>
          <a:xfrm>
            <a:off x="10552176" y="3401568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7" name="Shape 95"/>
          <p:cNvSpPr/>
          <p:nvPr/>
        </p:nvSpPr>
        <p:spPr>
          <a:xfrm>
            <a:off x="10835640" y="3401568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8" name="Shape 96"/>
          <p:cNvSpPr/>
          <p:nvPr/>
        </p:nvSpPr>
        <p:spPr>
          <a:xfrm>
            <a:off x="11119104" y="3401568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9" name="Shape 97"/>
          <p:cNvSpPr/>
          <p:nvPr/>
        </p:nvSpPr>
        <p:spPr>
          <a:xfrm>
            <a:off x="8001000" y="3685032"/>
            <a:ext cx="283464" cy="2834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0" name="Shape 98"/>
          <p:cNvSpPr/>
          <p:nvPr/>
        </p:nvSpPr>
        <p:spPr>
          <a:xfrm>
            <a:off x="8284464" y="3685032"/>
            <a:ext cx="283464" cy="2834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1" name="Shape 99"/>
          <p:cNvSpPr/>
          <p:nvPr/>
        </p:nvSpPr>
        <p:spPr>
          <a:xfrm>
            <a:off x="8567928" y="3685032"/>
            <a:ext cx="283464" cy="2834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2" name="Shape 100"/>
          <p:cNvSpPr/>
          <p:nvPr/>
        </p:nvSpPr>
        <p:spPr>
          <a:xfrm>
            <a:off x="8851392" y="3685032"/>
            <a:ext cx="283464" cy="2834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3" name="Shape 101"/>
          <p:cNvSpPr/>
          <p:nvPr/>
        </p:nvSpPr>
        <p:spPr>
          <a:xfrm>
            <a:off x="9134856" y="3685032"/>
            <a:ext cx="283464" cy="2834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4" name="Shape 102"/>
          <p:cNvSpPr/>
          <p:nvPr/>
        </p:nvSpPr>
        <p:spPr>
          <a:xfrm>
            <a:off x="9418320" y="3685032"/>
            <a:ext cx="283464" cy="2834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5" name="Shape 103"/>
          <p:cNvSpPr/>
          <p:nvPr/>
        </p:nvSpPr>
        <p:spPr>
          <a:xfrm>
            <a:off x="9701784" y="3685032"/>
            <a:ext cx="283464" cy="2834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6" name="Shape 104"/>
          <p:cNvSpPr/>
          <p:nvPr/>
        </p:nvSpPr>
        <p:spPr>
          <a:xfrm>
            <a:off x="9985248" y="3685032"/>
            <a:ext cx="283464" cy="2834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0268712" y="3685032"/>
            <a:ext cx="283464" cy="2834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0552176" y="3685032"/>
            <a:ext cx="283464" cy="2834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0835640" y="3685032"/>
            <a:ext cx="283464" cy="2834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1119104" y="3685032"/>
            <a:ext cx="283464" cy="2834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1" name="Shape 109"/>
          <p:cNvSpPr/>
          <p:nvPr/>
        </p:nvSpPr>
        <p:spPr>
          <a:xfrm>
            <a:off x="8001000" y="3968496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2" name="Shape 110"/>
          <p:cNvSpPr/>
          <p:nvPr/>
        </p:nvSpPr>
        <p:spPr>
          <a:xfrm>
            <a:off x="8284464" y="3968496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3" name="Shape 111"/>
          <p:cNvSpPr/>
          <p:nvPr/>
        </p:nvSpPr>
        <p:spPr>
          <a:xfrm>
            <a:off x="8567928" y="3968496"/>
            <a:ext cx="283464" cy="283464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8851392" y="3968496"/>
            <a:ext cx="283464" cy="2834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5" name="Shape 113"/>
          <p:cNvSpPr/>
          <p:nvPr/>
        </p:nvSpPr>
        <p:spPr>
          <a:xfrm>
            <a:off x="9134856" y="3968496"/>
            <a:ext cx="283464" cy="283464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9418320" y="3968496"/>
            <a:ext cx="283464" cy="2834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7" name="Shape 115"/>
          <p:cNvSpPr/>
          <p:nvPr/>
        </p:nvSpPr>
        <p:spPr>
          <a:xfrm>
            <a:off x="9701784" y="3968496"/>
            <a:ext cx="283464" cy="2834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8" name="Shape 116"/>
          <p:cNvSpPr/>
          <p:nvPr/>
        </p:nvSpPr>
        <p:spPr>
          <a:xfrm>
            <a:off x="9985248" y="3968496"/>
            <a:ext cx="283464" cy="283464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0268712" y="3968496"/>
            <a:ext cx="283464" cy="283464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10552176" y="3968496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0835640" y="3968496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2" name="Shape 120"/>
          <p:cNvSpPr/>
          <p:nvPr/>
        </p:nvSpPr>
        <p:spPr>
          <a:xfrm>
            <a:off x="11119104" y="3968496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3" name="Shape 121"/>
          <p:cNvSpPr/>
          <p:nvPr/>
        </p:nvSpPr>
        <p:spPr>
          <a:xfrm>
            <a:off x="8001000" y="4251960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4" name="Shape 122"/>
          <p:cNvSpPr/>
          <p:nvPr/>
        </p:nvSpPr>
        <p:spPr>
          <a:xfrm>
            <a:off x="8284464" y="4251960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5" name="Shape 123"/>
          <p:cNvSpPr/>
          <p:nvPr/>
        </p:nvSpPr>
        <p:spPr>
          <a:xfrm>
            <a:off x="8567928" y="4251960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6" name="Shape 124"/>
          <p:cNvSpPr/>
          <p:nvPr/>
        </p:nvSpPr>
        <p:spPr>
          <a:xfrm>
            <a:off x="8851392" y="4251960"/>
            <a:ext cx="283464" cy="2834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7" name="Shape 125"/>
          <p:cNvSpPr/>
          <p:nvPr/>
        </p:nvSpPr>
        <p:spPr>
          <a:xfrm>
            <a:off x="9134856" y="4251960"/>
            <a:ext cx="283464" cy="283464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9418320" y="4251960"/>
            <a:ext cx="283464" cy="283464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9701784" y="4251960"/>
            <a:ext cx="283464" cy="283464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9985248" y="4251960"/>
            <a:ext cx="283464" cy="283464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131" name="Shape 129"/>
          <p:cNvSpPr/>
          <p:nvPr/>
        </p:nvSpPr>
        <p:spPr>
          <a:xfrm>
            <a:off x="10268712" y="4251960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2" name="Shape 130"/>
          <p:cNvSpPr/>
          <p:nvPr/>
        </p:nvSpPr>
        <p:spPr>
          <a:xfrm>
            <a:off x="10552176" y="4251960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3" name="Shape 131"/>
          <p:cNvSpPr/>
          <p:nvPr/>
        </p:nvSpPr>
        <p:spPr>
          <a:xfrm>
            <a:off x="10835640" y="4251960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4" name="Shape 132"/>
          <p:cNvSpPr/>
          <p:nvPr/>
        </p:nvSpPr>
        <p:spPr>
          <a:xfrm>
            <a:off x="11119104" y="4251960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5" name="Shape 133"/>
          <p:cNvSpPr/>
          <p:nvPr/>
        </p:nvSpPr>
        <p:spPr>
          <a:xfrm>
            <a:off x="8001000" y="4535424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6" name="Shape 134"/>
          <p:cNvSpPr/>
          <p:nvPr/>
        </p:nvSpPr>
        <p:spPr>
          <a:xfrm>
            <a:off x="8284464" y="4535424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7" name="Shape 135"/>
          <p:cNvSpPr/>
          <p:nvPr/>
        </p:nvSpPr>
        <p:spPr>
          <a:xfrm>
            <a:off x="8567928" y="4535424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8" name="Shape 136"/>
          <p:cNvSpPr/>
          <p:nvPr/>
        </p:nvSpPr>
        <p:spPr>
          <a:xfrm>
            <a:off x="8851392" y="4535424"/>
            <a:ext cx="283464" cy="2834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9" name="Shape 137"/>
          <p:cNvSpPr/>
          <p:nvPr/>
        </p:nvSpPr>
        <p:spPr>
          <a:xfrm>
            <a:off x="9134856" y="4535424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0" name="Shape 138"/>
          <p:cNvSpPr/>
          <p:nvPr/>
        </p:nvSpPr>
        <p:spPr>
          <a:xfrm>
            <a:off x="9418320" y="4535424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1" name="Shape 139"/>
          <p:cNvSpPr/>
          <p:nvPr/>
        </p:nvSpPr>
        <p:spPr>
          <a:xfrm>
            <a:off x="9701784" y="4535424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2" name="Shape 140"/>
          <p:cNvSpPr/>
          <p:nvPr/>
        </p:nvSpPr>
        <p:spPr>
          <a:xfrm>
            <a:off x="9985248" y="4535424"/>
            <a:ext cx="283464" cy="283464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143" name="Shape 141"/>
          <p:cNvSpPr/>
          <p:nvPr/>
        </p:nvSpPr>
        <p:spPr>
          <a:xfrm>
            <a:off x="10268712" y="4535424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4" name="Shape 142"/>
          <p:cNvSpPr/>
          <p:nvPr/>
        </p:nvSpPr>
        <p:spPr>
          <a:xfrm>
            <a:off x="10552176" y="4535424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5" name="Shape 143"/>
          <p:cNvSpPr/>
          <p:nvPr/>
        </p:nvSpPr>
        <p:spPr>
          <a:xfrm>
            <a:off x="10835640" y="4535424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6" name="Shape 144"/>
          <p:cNvSpPr/>
          <p:nvPr/>
        </p:nvSpPr>
        <p:spPr>
          <a:xfrm>
            <a:off x="11119104" y="4535424"/>
            <a:ext cx="283464" cy="2834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7" name="Shape 145"/>
          <p:cNvSpPr/>
          <p:nvPr/>
        </p:nvSpPr>
        <p:spPr>
          <a:xfrm>
            <a:off x="9475013" y="2948026"/>
            <a:ext cx="255118" cy="25511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418320" y="2267712"/>
            <a:ext cx="204094" cy="2040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0552176" y="2551176"/>
            <a:ext cx="204094" cy="2040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134856" y="3685032"/>
            <a:ext cx="204094" cy="2040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985248" y="1984248"/>
            <a:ext cx="204094" cy="2040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658368" y="566928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제6회 빅데이터로 우리동네 문제해결 아이디어 공모대회 · 경남</a:t>
            </a:r>
            <a:endParaRPr lang="en-US" sz="1250" dirty="0"/>
          </a:p>
        </p:txBody>
      </p:sp>
      <p:sp>
        <p:nvSpPr>
          <p:cNvPr id="153" name="Shape 151"/>
          <p:cNvSpPr/>
          <p:nvPr/>
        </p:nvSpPr>
        <p:spPr>
          <a:xfrm>
            <a:off x="658368" y="93268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658368" y="93268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방산융합</a:t>
            </a:r>
            <a:endParaRPr lang="en-US" sz="1050" dirty="0"/>
          </a:p>
        </p:txBody>
      </p:sp>
      <p:sp>
        <p:nvSpPr>
          <p:cNvPr id="155" name="Shape 153"/>
          <p:cNvSpPr/>
          <p:nvPr/>
        </p:nvSpPr>
        <p:spPr>
          <a:xfrm>
            <a:off x="2167128" y="93268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2167128" y="93268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자유주제</a:t>
            </a:r>
            <a:endParaRPr lang="en-US" sz="1050" dirty="0"/>
          </a:p>
        </p:txBody>
      </p:sp>
      <p:sp>
        <p:nvSpPr>
          <p:cNvPr id="157" name="Text 155"/>
          <p:cNvSpPr/>
          <p:nvPr/>
        </p:nvSpPr>
        <p:spPr>
          <a:xfrm>
            <a:off x="640080" y="1508760"/>
            <a:ext cx="7223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드론 – 지상 무인차량(UGV) 협업
</a:t>
            </a:r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도심 화재·재난 정밀 진압 모델</a:t>
            </a:r>
            <a:endParaRPr lang="en-US" sz="3300" dirty="0"/>
          </a:p>
        </p:txBody>
      </p:sp>
      <p:sp>
        <p:nvSpPr>
          <p:cNvPr id="158" name="Text 156"/>
          <p:cNvSpPr/>
          <p:nvPr/>
        </p:nvSpPr>
        <p:spPr>
          <a:xfrm>
            <a:off x="658368" y="331012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국방 군집 무인체계 알고리즘의 민간 스마트시티 재난 대응 스핀오프</a:t>
            </a:r>
            <a:endParaRPr lang="en-US" sz="1500" dirty="0"/>
          </a:p>
        </p:txBody>
      </p:sp>
      <p:sp>
        <p:nvSpPr>
          <p:cNvPr id="159" name="Shape 157"/>
          <p:cNvSpPr/>
          <p:nvPr/>
        </p:nvSpPr>
        <p:spPr>
          <a:xfrm>
            <a:off x="658368" y="3977640"/>
            <a:ext cx="6858000" cy="1005840"/>
          </a:xfrm>
          <a:prstGeom prst="roundRect">
            <a:avLst>
              <a:gd name="adj" fmla="val 81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896112" y="39776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유무인 복합 재난 진압 편대 시스템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소방차가 못 들어가는 화재 취약지의 초동 골든타임을 드론 편대가 확보한다.</a:t>
            </a:r>
            <a:endParaRPr lang="en-US" sz="1500" dirty="0"/>
          </a:p>
        </p:txBody>
      </p:sp>
      <p:sp>
        <p:nvSpPr>
          <p:cNvPr id="161" name="Text 159"/>
          <p:cNvSpPr/>
          <p:nvPr/>
        </p:nvSpPr>
        <p:spPr>
          <a:xfrm>
            <a:off x="658368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군체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한태영 · 김상도 · 노현수   ·   경상국립대학교 USG융합전공 방산시스템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기획 배경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경남 원도심 · 전통시장의 좁은 골목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80644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92808"/>
            <a:ext cx="457200" cy="457200"/>
          </a:xfrm>
          <a:prstGeom prst="ellipse">
            <a:avLst/>
          </a:prstGeom>
          <a:solidFill>
            <a:srgbClr val="0B122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구도심·전통시장 밀집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16712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마산어시장·부림시장·진해 중앙동 등 노후 시가지는 폭이 좁은 이면도로와 골목으로 얽혀 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580644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401568"/>
            <a:ext cx="457200" cy="457200"/>
          </a:xfrm>
          <a:prstGeom prst="ellipse">
            <a:avLst/>
          </a:prstGeom>
          <a:solidFill>
            <a:srgbClr val="0B122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63040" y="32918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목조·경량 밀집 시가지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367588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건물이 붙어 있고 가연물이 많아, 한 곳의 발화가 곧 이웃 건물로 옮겨붙는다.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580644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910328"/>
            <a:ext cx="457200" cy="457200"/>
          </a:xfrm>
          <a:prstGeom prst="ellipse">
            <a:avLst/>
          </a:prstGeom>
          <a:solidFill>
            <a:srgbClr val="0B122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910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63040" y="48006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고령·교통약자 밀집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518464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대피가 어려운 65세 이상 고령층이 많아, 초기 대응이 늦으면 인명 피해로 직결된다.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720840" y="1600200"/>
            <a:ext cx="4892040" cy="4526280"/>
          </a:xfrm>
          <a:prstGeom prst="roundRect">
            <a:avLst>
              <a:gd name="adj" fmla="val 1616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0" y="1965960"/>
            <a:ext cx="1234440" cy="822960"/>
          </a:xfrm>
          <a:prstGeom prst="rect">
            <a:avLst/>
          </a:prstGeom>
          <a:solidFill>
            <a:srgbClr val="33415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0" y="1965960"/>
            <a:ext cx="1234440" cy="822960"/>
          </a:xfrm>
          <a:prstGeom prst="rect">
            <a:avLst/>
          </a:prstGeom>
          <a:solidFill>
            <a:srgbClr val="33415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1965960"/>
            <a:ext cx="1234440" cy="822960"/>
          </a:xfrm>
          <a:prstGeom prst="rect">
            <a:avLst/>
          </a:prstGeom>
          <a:solidFill>
            <a:srgbClr val="33415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0880" y="2990088"/>
            <a:ext cx="1234440" cy="822960"/>
          </a:xfrm>
          <a:prstGeom prst="rect">
            <a:avLst/>
          </a:prstGeom>
          <a:solidFill>
            <a:srgbClr val="33415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95360" y="2990088"/>
            <a:ext cx="1234440" cy="822960"/>
          </a:xfrm>
          <a:prstGeom prst="rect">
            <a:avLst/>
          </a:prstGeom>
          <a:solidFill>
            <a:srgbClr val="33415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49840" y="2990088"/>
            <a:ext cx="1234440" cy="822960"/>
          </a:xfrm>
          <a:prstGeom prst="rect">
            <a:avLst/>
          </a:prstGeom>
          <a:solidFill>
            <a:srgbClr val="33415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0" y="4014216"/>
            <a:ext cx="1234440" cy="822960"/>
          </a:xfrm>
          <a:prstGeom prst="rect">
            <a:avLst/>
          </a:prstGeom>
          <a:solidFill>
            <a:srgbClr val="33415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0" y="4014216"/>
            <a:ext cx="1234440" cy="822960"/>
          </a:xfrm>
          <a:prstGeom prst="rect">
            <a:avLst/>
          </a:prstGeom>
          <a:solidFill>
            <a:srgbClr val="33415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149840" y="4014216"/>
            <a:ext cx="1234440" cy="822960"/>
          </a:xfrm>
          <a:prstGeom prst="rect">
            <a:avLst/>
          </a:prstGeom>
          <a:solidFill>
            <a:srgbClr val="33415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0880" y="5038344"/>
            <a:ext cx="1234440" cy="822960"/>
          </a:xfrm>
          <a:prstGeom prst="rect">
            <a:avLst/>
          </a:prstGeom>
          <a:solidFill>
            <a:srgbClr val="33415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95360" y="5038344"/>
            <a:ext cx="1234440" cy="822960"/>
          </a:xfrm>
          <a:prstGeom prst="rect">
            <a:avLst/>
          </a:prstGeom>
          <a:solidFill>
            <a:srgbClr val="33415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49840" y="5038344"/>
            <a:ext cx="1234440" cy="822960"/>
          </a:xfrm>
          <a:prstGeom prst="rect">
            <a:avLst/>
          </a:prstGeom>
          <a:solidFill>
            <a:srgbClr val="33415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1040" y="1920240"/>
            <a:ext cx="256032" cy="3931920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33" name="Shape 31"/>
          <p:cNvSpPr/>
          <p:nvPr/>
        </p:nvSpPr>
        <p:spPr>
          <a:xfrm>
            <a:off x="9875520" y="1920240"/>
            <a:ext cx="256032" cy="3931920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34" name="Shape 32"/>
          <p:cNvSpPr/>
          <p:nvPr/>
        </p:nvSpPr>
        <p:spPr>
          <a:xfrm>
            <a:off x="6903720" y="5623560"/>
            <a:ext cx="4526280" cy="31089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5" name="Text 33"/>
          <p:cNvSpPr/>
          <p:nvPr/>
        </p:nvSpPr>
        <p:spPr>
          <a:xfrm>
            <a:off x="7818120" y="16459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폭 3.0m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903720" y="562356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소방차 진입 가능 도로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720840" y="619963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건물이 붙어 있고 골목이 좁다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문제 정의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위험한 곳에, 가장 늦게 도착한다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2651760"/>
          </a:xfrm>
          <a:prstGeom prst="roundRect">
            <a:avLst>
              <a:gd name="adj" fmla="val 3103"/>
            </a:avLst>
          </a:prstGeom>
          <a:solidFill>
            <a:srgbClr val="2A1215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4767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4m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미만 도로 = 소방차 진입 불가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소방차 최소 통행폭 기준. 좁은 골목엔 진입 자체가 막힌다.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566160" cy="2651760"/>
          </a:xfrm>
          <a:prstGeom prst="roundRect">
            <a:avLst>
              <a:gd name="adj" fmla="val 31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94767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1인 1기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434840" y="2788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소방 드론의 한계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26280" y="32918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조종사 1명이 드론 1기만 운용 — 급확산 대형 재난의 입체 대응 불가.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566160" cy="2651760"/>
          </a:xfrm>
          <a:prstGeom prst="roundRect">
            <a:avLst>
              <a:gd name="adj" fmla="val 31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194767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복사열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8183880" y="2788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불은 좁은 골목을 건너뛴다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75320" y="32918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3~6m 간극은 자연 방화선이 못 된다 — 골목을 그대로 넘어 번진다.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11064240" cy="1188720"/>
          </a:xfrm>
          <a:prstGeom prst="roundRect">
            <a:avLst>
              <a:gd name="adj" fmla="val 6923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617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초동 골든타임을 확보할 상공 대응 수단이 필요하다. 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소방관이 직접 진입하기 전, 다수의 무인체가 스스로 현장을 감시하고 진압을 시작해야 한다.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해결 접근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국방 군집 알고리즘을 민간 재난 대응으로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83280" cy="1965960"/>
          </a:xfrm>
          <a:prstGeom prst="roundRect">
            <a:avLst>
              <a:gd name="adj" fmla="val 4186"/>
            </a:avLst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574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국방 군집 무인체계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다수 무인체 상호 통신 · 자율 최적경로 · 임무 자율 배정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50208" y="1783080"/>
            <a:ext cx="53035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4498848" y="1783080"/>
            <a:ext cx="3383280" cy="1965960"/>
          </a:xfrm>
          <a:prstGeom prst="roundRect">
            <a:avLst>
              <a:gd name="adj" fmla="val 4186"/>
            </a:avLst>
          </a:prstGeom>
          <a:solidFill>
            <a:srgbClr val="1E293B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27448" y="20574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전용 (Spin-off)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727448" y="27889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방산시스템 전공 군집 운용 알고리즘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00416" y="1783080"/>
            <a:ext cx="53035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8449056" y="1783080"/>
            <a:ext cx="3383280" cy="1965960"/>
          </a:xfrm>
          <a:prstGeom prst="roundRect">
            <a:avLst>
              <a:gd name="adj" fmla="val 4186"/>
            </a:avLst>
          </a:prstGeom>
          <a:solidFill>
            <a:srgbClr val="1E293B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77656" y="20574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민간 스마트시티 재난대응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677656" y="27889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화재 취약지 초동 진압 · 유무인 복합 편대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11064240" cy="1691640"/>
          </a:xfrm>
          <a:prstGeom prst="roundRect">
            <a:avLst>
              <a:gd name="adj" fmla="val 4865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297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배경 — 방산-민간 기술 스핀오프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709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소방 드론은 1인 1기 운용이라 대형 재난의 입체 대응에 한계가 있다.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방산시스템 전공에서 학습한 군집 체계 자율 운용 기술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도시 인프라에 결합하면, 인명 피해를 최소화하고 소방관 안전을 보장하는 최첨단 스마트 재난 대응 인프라를 실현할 수 있다.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기술 스택 · 데이터 파이프라인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실행계획 2단계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160520"/>
          </a:xfrm>
          <a:prstGeom prst="roundRect">
            <a:avLst>
              <a:gd name="adj" fmla="val 19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019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빅데이터 기반 취약지 도출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68680" y="2670048"/>
            <a:ext cx="128016" cy="12801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5603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경남소방본부 화재 이력 + 도로폭 데이터 결합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355848"/>
            <a:ext cx="128016" cy="12801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2461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 네트워크 분석 — 골든타임(5분) 내 소방차 도달 불가 지역 시각화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041648"/>
            <a:ext cx="128016" cy="12801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9319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우선 도입 스마트 방재 거점 최적 입지 선정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0" y="1645920"/>
            <a:ext cx="5486400" cy="4160520"/>
          </a:xfrm>
          <a:prstGeom prst="roundRect">
            <a:avLst>
              <a:gd name="adj" fmla="val 19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874520"/>
            <a:ext cx="502920" cy="502920"/>
          </a:xfrm>
          <a:prstGeom prst="ellipse">
            <a:avLst/>
          </a:prstGeom>
          <a:solidFill>
            <a:srgbClr val="0B122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040880" y="19019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동역학 시뮬 · 군집 최적화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6446520" y="2670048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25603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MATLAB · Ansys로 좁은 구도심 골목 3D 가상 인프라 구축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46520" y="3355848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32461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국방 군집 기술 기반 충돌 방지 · 경로 분산 · 자율 임무 배정 설계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46520" y="4041648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39319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기구학·동역학 안정성 및 에너지 효율성 시뮬레이션 검증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기술 스택 · 데이터 파이프라인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빅데이터 분석용 데이터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901952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통계청 KOSIS · SGIS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04672" y="2606040"/>
            <a:ext cx="3054096" cy="822960"/>
          </a:xfrm>
          <a:prstGeom prst="roundRect">
            <a:avLst>
              <a:gd name="adj" fmla="val 555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670048"/>
            <a:ext cx="2798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주민등록 인구 · 고령인구(65세+) 통계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4672" y="3566160"/>
            <a:ext cx="3054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대피 취약 교통약자 밀집 위험지역 추출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901952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공공데이터포털 data.go.kr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553712" y="2606040"/>
            <a:ext cx="3054096" cy="822960"/>
          </a:xfrm>
          <a:prstGeom prst="roundRect">
            <a:avLst>
              <a:gd name="adj" fmla="val 555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2670048"/>
            <a:ext cx="2798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소방용수시설 · 소방차 진입곤란 지역 현황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53712" y="3566160"/>
            <a:ext cx="3054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진입불가 격자 매핑 · 드론·UGV 방재 거점 선정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901952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국가공간정보포털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302752" y="2606040"/>
            <a:ext cx="3054096" cy="822960"/>
          </a:xfrm>
          <a:prstGeom prst="roundRect">
            <a:avLst>
              <a:gd name="adj" fmla="val 555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0768" y="2670048"/>
            <a:ext cx="2798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건축물대장 표준데이터 · 수치지형도 (CSV/SHP)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02752" y="3566160"/>
            <a:ext cx="3054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노후 건축물 비율 필터링 → 화재 취약 지수 산출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9011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6EF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데이터 프로세싱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0" y="488289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488289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26480" y="488289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488289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NumPy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680960" y="488289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488289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Matplotlib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235440" y="488289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0" y="488289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Seaborn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2960" y="53218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수집·정제 → 상관관계 시각화 → 거점 후보 도출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기술 스택 · 데이터 파이프라인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· 프로토타입 기술 스택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3703320"/>
          </a:xfrm>
          <a:prstGeom prst="roundRect">
            <a:avLst>
              <a:gd name="adj" fmla="val 230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384048" cy="384048"/>
          </a:xfrm>
          <a:prstGeom prst="ellipse">
            <a:avLst/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011680"/>
            <a:ext cx="201168" cy="20116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18836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지도 · 라우팅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" y="2606040"/>
            <a:ext cx="3054096" cy="1170432"/>
          </a:xfrm>
          <a:prstGeom prst="roundRect">
            <a:avLst>
              <a:gd name="adj" fmla="val 468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Leaflet · OSM 실측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31089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소방서 거점 · 진입가능/불가 도로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" y="3904488"/>
            <a:ext cx="3054096" cy="1170432"/>
          </a:xfrm>
          <a:prstGeom prst="roundRect">
            <a:avLst>
              <a:gd name="adj" fmla="val 468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041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OSRM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0120" y="440740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소방차 실도로 최속경로·주행시간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0" y="1645920"/>
            <a:ext cx="3566160" cy="3703320"/>
          </a:xfrm>
          <a:prstGeom prst="roundRect">
            <a:avLst>
              <a:gd name="adj" fmla="val 230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920240"/>
            <a:ext cx="384048" cy="384048"/>
          </a:xfrm>
          <a:prstGeom prst="ellipse">
            <a:avLst/>
          </a:prstGeom>
          <a:solidFill>
            <a:srgbClr val="0B122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011680"/>
            <a:ext cx="201168" cy="20116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/>
          <p:nvPr/>
        </p:nvSpPr>
        <p:spPr>
          <a:xfrm>
            <a:off x="5074920" y="18836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시뮬레이션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53712" y="2606040"/>
            <a:ext cx="3054096" cy="1170432"/>
          </a:xfrm>
          <a:prstGeom prst="roundRect">
            <a:avLst>
              <a:gd name="adj" fmla="val 468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Three.js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709160" y="31089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2층 건물 3D · 편대별 드론 메쉬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53712" y="3904488"/>
            <a:ext cx="3054096" cy="1170432"/>
          </a:xfrm>
          <a:prstGeom prst="roundRect">
            <a:avLst>
              <a:gd name="adj" fmla="val 468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4041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실주소 화재확산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709160" y="440740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도로망·골목폭·복사열 격자 모델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46720" y="1645920"/>
            <a:ext cx="3566160" cy="3703320"/>
          </a:xfrm>
          <a:prstGeom prst="roundRect">
            <a:avLst>
              <a:gd name="adj" fmla="val 230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1920240"/>
            <a:ext cx="384048" cy="384048"/>
          </a:xfrm>
          <a:prstGeom prst="ellipse">
            <a:avLst/>
          </a:prstGeom>
          <a:solidFill>
            <a:srgbClr val="0B122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0" y="2011680"/>
            <a:ext cx="201168" cy="20116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8823960" y="18836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군집 로직 코어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302752" y="2606040"/>
            <a:ext cx="3054096" cy="1170432"/>
          </a:xfrm>
          <a:prstGeom prst="roundRect">
            <a:avLst>
              <a:gd name="adj" fmla="val 468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5820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상태머신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458200" y="31089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SOP-D 임무 상태 전이 (house_mission)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302752" y="3904488"/>
            <a:ext cx="3054096" cy="1170432"/>
          </a:xfrm>
          <a:prstGeom prst="roundRect">
            <a:avLst>
              <a:gd name="adj" fmla="val 468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58200" y="4041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군집 알고리즘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458200" y="440740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충돌방지·경로분산·자율 임무배정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55046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공모 시연 프로토타입은 공개 API(OSM·OSRM)와 Three.js로 구현 — 본 사업에서는 경남 공공 빅데이터로 확장.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화재 확산 시뮬레이션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 모델은 이렇게 움직인다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49808" y="1709928"/>
            <a:ext cx="3767328" cy="3767328"/>
          </a:xfrm>
          <a:prstGeom prst="roundRect">
            <a:avLst>
              <a:gd name="adj" fmla="val 1456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1783080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Shape 5"/>
          <p:cNvSpPr/>
          <p:nvPr/>
        </p:nvSpPr>
        <p:spPr>
          <a:xfrm>
            <a:off x="1426464" y="1783080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Shape 6"/>
          <p:cNvSpPr/>
          <p:nvPr/>
        </p:nvSpPr>
        <p:spPr>
          <a:xfrm>
            <a:off x="1728216" y="1783080"/>
            <a:ext cx="301752" cy="3017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Shape 7"/>
          <p:cNvSpPr/>
          <p:nvPr/>
        </p:nvSpPr>
        <p:spPr>
          <a:xfrm>
            <a:off x="2029968" y="1783080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Shape 8"/>
          <p:cNvSpPr/>
          <p:nvPr/>
        </p:nvSpPr>
        <p:spPr>
          <a:xfrm>
            <a:off x="2331720" y="1783080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Shape 9"/>
          <p:cNvSpPr/>
          <p:nvPr/>
        </p:nvSpPr>
        <p:spPr>
          <a:xfrm>
            <a:off x="2633472" y="1783080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2935224" y="1783080"/>
            <a:ext cx="301752" cy="301752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13" name="Shape 11"/>
          <p:cNvSpPr/>
          <p:nvPr/>
        </p:nvSpPr>
        <p:spPr>
          <a:xfrm>
            <a:off x="3236976" y="1783080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Shape 12"/>
          <p:cNvSpPr/>
          <p:nvPr/>
        </p:nvSpPr>
        <p:spPr>
          <a:xfrm>
            <a:off x="3538728" y="1783080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Shape 13"/>
          <p:cNvSpPr/>
          <p:nvPr/>
        </p:nvSpPr>
        <p:spPr>
          <a:xfrm>
            <a:off x="3840480" y="1783080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Shape 14"/>
          <p:cNvSpPr/>
          <p:nvPr/>
        </p:nvSpPr>
        <p:spPr>
          <a:xfrm>
            <a:off x="4142232" y="1783080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084832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1124712" y="2084832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9" name="Shape 17"/>
          <p:cNvSpPr/>
          <p:nvPr/>
        </p:nvSpPr>
        <p:spPr>
          <a:xfrm>
            <a:off x="1426464" y="2084832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0" name="Shape 18"/>
          <p:cNvSpPr/>
          <p:nvPr/>
        </p:nvSpPr>
        <p:spPr>
          <a:xfrm>
            <a:off x="1728216" y="2084832"/>
            <a:ext cx="301752" cy="3017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Shape 19"/>
          <p:cNvSpPr/>
          <p:nvPr/>
        </p:nvSpPr>
        <p:spPr>
          <a:xfrm>
            <a:off x="2029968" y="2084832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Shape 20"/>
          <p:cNvSpPr/>
          <p:nvPr/>
        </p:nvSpPr>
        <p:spPr>
          <a:xfrm>
            <a:off x="2331720" y="2084832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" name="Shape 21"/>
          <p:cNvSpPr/>
          <p:nvPr/>
        </p:nvSpPr>
        <p:spPr>
          <a:xfrm>
            <a:off x="2633472" y="2084832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Shape 22"/>
          <p:cNvSpPr/>
          <p:nvPr/>
        </p:nvSpPr>
        <p:spPr>
          <a:xfrm>
            <a:off x="2935224" y="2084832"/>
            <a:ext cx="301752" cy="301752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25" name="Shape 23"/>
          <p:cNvSpPr/>
          <p:nvPr/>
        </p:nvSpPr>
        <p:spPr>
          <a:xfrm>
            <a:off x="3236976" y="2084832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" name="Shape 24"/>
          <p:cNvSpPr/>
          <p:nvPr/>
        </p:nvSpPr>
        <p:spPr>
          <a:xfrm>
            <a:off x="3538728" y="2084832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" name="Shape 25"/>
          <p:cNvSpPr/>
          <p:nvPr/>
        </p:nvSpPr>
        <p:spPr>
          <a:xfrm>
            <a:off x="3840480" y="2084832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" name="Shape 26"/>
          <p:cNvSpPr/>
          <p:nvPr/>
        </p:nvSpPr>
        <p:spPr>
          <a:xfrm>
            <a:off x="4142232" y="2084832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9" name="Shape 27"/>
          <p:cNvSpPr/>
          <p:nvPr/>
        </p:nvSpPr>
        <p:spPr>
          <a:xfrm>
            <a:off x="822960" y="2386584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0" name="Shape 28"/>
          <p:cNvSpPr/>
          <p:nvPr/>
        </p:nvSpPr>
        <p:spPr>
          <a:xfrm>
            <a:off x="1124712" y="2386584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1" name="Shape 29"/>
          <p:cNvSpPr/>
          <p:nvPr/>
        </p:nvSpPr>
        <p:spPr>
          <a:xfrm>
            <a:off x="1426464" y="2386584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2" name="Shape 30"/>
          <p:cNvSpPr/>
          <p:nvPr/>
        </p:nvSpPr>
        <p:spPr>
          <a:xfrm>
            <a:off x="1728216" y="2386584"/>
            <a:ext cx="301752" cy="3017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3" name="Shape 31"/>
          <p:cNvSpPr/>
          <p:nvPr/>
        </p:nvSpPr>
        <p:spPr>
          <a:xfrm>
            <a:off x="2029968" y="2386584"/>
            <a:ext cx="301752" cy="30175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4" name="Shape 32"/>
          <p:cNvSpPr/>
          <p:nvPr/>
        </p:nvSpPr>
        <p:spPr>
          <a:xfrm>
            <a:off x="2331720" y="2386584"/>
            <a:ext cx="301752" cy="30175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5" name="Shape 33"/>
          <p:cNvSpPr/>
          <p:nvPr/>
        </p:nvSpPr>
        <p:spPr>
          <a:xfrm>
            <a:off x="2633472" y="2386584"/>
            <a:ext cx="301752" cy="30175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6" name="Shape 34"/>
          <p:cNvSpPr/>
          <p:nvPr/>
        </p:nvSpPr>
        <p:spPr>
          <a:xfrm>
            <a:off x="2935224" y="2386584"/>
            <a:ext cx="301752" cy="301752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37" name="Shape 35"/>
          <p:cNvSpPr/>
          <p:nvPr/>
        </p:nvSpPr>
        <p:spPr>
          <a:xfrm>
            <a:off x="3236976" y="2386584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8" name="Shape 36"/>
          <p:cNvSpPr/>
          <p:nvPr/>
        </p:nvSpPr>
        <p:spPr>
          <a:xfrm>
            <a:off x="3538728" y="2386584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9" name="Shape 37"/>
          <p:cNvSpPr/>
          <p:nvPr/>
        </p:nvSpPr>
        <p:spPr>
          <a:xfrm>
            <a:off x="3840480" y="2386584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0" name="Shape 38"/>
          <p:cNvSpPr/>
          <p:nvPr/>
        </p:nvSpPr>
        <p:spPr>
          <a:xfrm>
            <a:off x="4142232" y="2386584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1" name="Shape 39"/>
          <p:cNvSpPr/>
          <p:nvPr/>
        </p:nvSpPr>
        <p:spPr>
          <a:xfrm>
            <a:off x="822960" y="2688336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2" name="Shape 40"/>
          <p:cNvSpPr/>
          <p:nvPr/>
        </p:nvSpPr>
        <p:spPr>
          <a:xfrm>
            <a:off x="1124712" y="2688336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3" name="Shape 41"/>
          <p:cNvSpPr/>
          <p:nvPr/>
        </p:nvSpPr>
        <p:spPr>
          <a:xfrm>
            <a:off x="1426464" y="2688336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4" name="Shape 42"/>
          <p:cNvSpPr/>
          <p:nvPr/>
        </p:nvSpPr>
        <p:spPr>
          <a:xfrm>
            <a:off x="1728216" y="2688336"/>
            <a:ext cx="301752" cy="3017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5" name="Shape 43"/>
          <p:cNvSpPr/>
          <p:nvPr/>
        </p:nvSpPr>
        <p:spPr>
          <a:xfrm>
            <a:off x="2029968" y="2688336"/>
            <a:ext cx="301752" cy="3017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688336"/>
            <a:ext cx="301752" cy="3017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7" name="Shape 45"/>
          <p:cNvSpPr/>
          <p:nvPr/>
        </p:nvSpPr>
        <p:spPr>
          <a:xfrm>
            <a:off x="2633472" y="2688336"/>
            <a:ext cx="301752" cy="3017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8" name="Shape 46"/>
          <p:cNvSpPr/>
          <p:nvPr/>
        </p:nvSpPr>
        <p:spPr>
          <a:xfrm>
            <a:off x="2935224" y="2688336"/>
            <a:ext cx="301752" cy="301752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49" name="Shape 47"/>
          <p:cNvSpPr/>
          <p:nvPr/>
        </p:nvSpPr>
        <p:spPr>
          <a:xfrm>
            <a:off x="3236976" y="2688336"/>
            <a:ext cx="301752" cy="30175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0" name="Shape 48"/>
          <p:cNvSpPr/>
          <p:nvPr/>
        </p:nvSpPr>
        <p:spPr>
          <a:xfrm>
            <a:off x="3538728" y="2688336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1" name="Shape 49"/>
          <p:cNvSpPr/>
          <p:nvPr/>
        </p:nvSpPr>
        <p:spPr>
          <a:xfrm>
            <a:off x="3840480" y="2688336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2" name="Shape 50"/>
          <p:cNvSpPr/>
          <p:nvPr/>
        </p:nvSpPr>
        <p:spPr>
          <a:xfrm>
            <a:off x="4142232" y="2688336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3" name="Shape 51"/>
          <p:cNvSpPr/>
          <p:nvPr/>
        </p:nvSpPr>
        <p:spPr>
          <a:xfrm>
            <a:off x="822960" y="2990088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4" name="Shape 52"/>
          <p:cNvSpPr/>
          <p:nvPr/>
        </p:nvSpPr>
        <p:spPr>
          <a:xfrm>
            <a:off x="1124712" y="2990088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5" name="Shape 53"/>
          <p:cNvSpPr/>
          <p:nvPr/>
        </p:nvSpPr>
        <p:spPr>
          <a:xfrm>
            <a:off x="1426464" y="2990088"/>
            <a:ext cx="301752" cy="30175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6" name="Shape 54"/>
          <p:cNvSpPr/>
          <p:nvPr/>
        </p:nvSpPr>
        <p:spPr>
          <a:xfrm>
            <a:off x="1728216" y="2990088"/>
            <a:ext cx="301752" cy="3017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7" name="Shape 55"/>
          <p:cNvSpPr/>
          <p:nvPr/>
        </p:nvSpPr>
        <p:spPr>
          <a:xfrm>
            <a:off x="2029968" y="2990088"/>
            <a:ext cx="301752" cy="3017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8" name="Shape 56"/>
          <p:cNvSpPr/>
          <p:nvPr/>
        </p:nvSpPr>
        <p:spPr>
          <a:xfrm>
            <a:off x="2331720" y="2990088"/>
            <a:ext cx="301752" cy="301752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59" name="Shape 57"/>
          <p:cNvSpPr/>
          <p:nvPr/>
        </p:nvSpPr>
        <p:spPr>
          <a:xfrm>
            <a:off x="2633472" y="2990088"/>
            <a:ext cx="301752" cy="301752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60" name="Shape 58"/>
          <p:cNvSpPr/>
          <p:nvPr/>
        </p:nvSpPr>
        <p:spPr>
          <a:xfrm>
            <a:off x="2935224" y="2990088"/>
            <a:ext cx="301752" cy="301752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61" name="Shape 59"/>
          <p:cNvSpPr/>
          <p:nvPr/>
        </p:nvSpPr>
        <p:spPr>
          <a:xfrm>
            <a:off x="3236976" y="2990088"/>
            <a:ext cx="301752" cy="30175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2" name="Shape 60"/>
          <p:cNvSpPr/>
          <p:nvPr/>
        </p:nvSpPr>
        <p:spPr>
          <a:xfrm>
            <a:off x="3538728" y="2990088"/>
            <a:ext cx="301752" cy="3017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3" name="Shape 61"/>
          <p:cNvSpPr/>
          <p:nvPr/>
        </p:nvSpPr>
        <p:spPr>
          <a:xfrm>
            <a:off x="3840480" y="2990088"/>
            <a:ext cx="301752" cy="30175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4" name="Shape 62"/>
          <p:cNvSpPr/>
          <p:nvPr/>
        </p:nvSpPr>
        <p:spPr>
          <a:xfrm>
            <a:off x="4142232" y="2990088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5" name="Shape 63"/>
          <p:cNvSpPr/>
          <p:nvPr/>
        </p:nvSpPr>
        <p:spPr>
          <a:xfrm>
            <a:off x="822960" y="3291840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6" name="Shape 64"/>
          <p:cNvSpPr/>
          <p:nvPr/>
        </p:nvSpPr>
        <p:spPr>
          <a:xfrm>
            <a:off x="1124712" y="3291840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7" name="Shape 65"/>
          <p:cNvSpPr/>
          <p:nvPr/>
        </p:nvSpPr>
        <p:spPr>
          <a:xfrm>
            <a:off x="1426464" y="3291840"/>
            <a:ext cx="301752" cy="30175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8" name="Shape 66"/>
          <p:cNvSpPr/>
          <p:nvPr/>
        </p:nvSpPr>
        <p:spPr>
          <a:xfrm>
            <a:off x="1728216" y="3291840"/>
            <a:ext cx="301752" cy="3017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9" name="Shape 67"/>
          <p:cNvSpPr/>
          <p:nvPr/>
        </p:nvSpPr>
        <p:spPr>
          <a:xfrm>
            <a:off x="2029968" y="3291840"/>
            <a:ext cx="301752" cy="301752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70" name="Shape 68"/>
          <p:cNvSpPr/>
          <p:nvPr/>
        </p:nvSpPr>
        <p:spPr>
          <a:xfrm>
            <a:off x="2331720" y="3291840"/>
            <a:ext cx="301752" cy="301752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71" name="Shape 69"/>
          <p:cNvSpPr/>
          <p:nvPr/>
        </p:nvSpPr>
        <p:spPr>
          <a:xfrm>
            <a:off x="2633472" y="3291840"/>
            <a:ext cx="301752" cy="301752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72" name="Shape 70"/>
          <p:cNvSpPr/>
          <p:nvPr/>
        </p:nvSpPr>
        <p:spPr>
          <a:xfrm>
            <a:off x="2935224" y="3291840"/>
            <a:ext cx="301752" cy="301752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73" name="Shape 71"/>
          <p:cNvSpPr/>
          <p:nvPr/>
        </p:nvSpPr>
        <p:spPr>
          <a:xfrm>
            <a:off x="3236976" y="3291840"/>
            <a:ext cx="301752" cy="3017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4" name="Shape 72"/>
          <p:cNvSpPr/>
          <p:nvPr/>
        </p:nvSpPr>
        <p:spPr>
          <a:xfrm>
            <a:off x="3538728" y="3291840"/>
            <a:ext cx="301752" cy="30175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3291840"/>
            <a:ext cx="301752" cy="30175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76" name="Shape 74"/>
          <p:cNvSpPr/>
          <p:nvPr/>
        </p:nvSpPr>
        <p:spPr>
          <a:xfrm>
            <a:off x="4142232" y="3291840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7" name="Shape 75"/>
          <p:cNvSpPr/>
          <p:nvPr/>
        </p:nvSpPr>
        <p:spPr>
          <a:xfrm>
            <a:off x="822960" y="3593592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8" name="Shape 76"/>
          <p:cNvSpPr/>
          <p:nvPr/>
        </p:nvSpPr>
        <p:spPr>
          <a:xfrm>
            <a:off x="1124712" y="3593592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9" name="Shape 77"/>
          <p:cNvSpPr/>
          <p:nvPr/>
        </p:nvSpPr>
        <p:spPr>
          <a:xfrm>
            <a:off x="1426464" y="3593592"/>
            <a:ext cx="301752" cy="30175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80" name="Shape 78"/>
          <p:cNvSpPr/>
          <p:nvPr/>
        </p:nvSpPr>
        <p:spPr>
          <a:xfrm>
            <a:off x="1728216" y="3593592"/>
            <a:ext cx="301752" cy="3017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1" name="Shape 79"/>
          <p:cNvSpPr/>
          <p:nvPr/>
        </p:nvSpPr>
        <p:spPr>
          <a:xfrm>
            <a:off x="2029968" y="3593592"/>
            <a:ext cx="301752" cy="301752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82" name="Shape 80"/>
          <p:cNvSpPr/>
          <p:nvPr/>
        </p:nvSpPr>
        <p:spPr>
          <a:xfrm>
            <a:off x="2331720" y="3593592"/>
            <a:ext cx="301752" cy="301752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83" name="Shape 81"/>
          <p:cNvSpPr/>
          <p:nvPr/>
        </p:nvSpPr>
        <p:spPr>
          <a:xfrm>
            <a:off x="2633472" y="3593592"/>
            <a:ext cx="301752" cy="301752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84" name="Shape 82"/>
          <p:cNvSpPr/>
          <p:nvPr/>
        </p:nvSpPr>
        <p:spPr>
          <a:xfrm>
            <a:off x="2935224" y="3593592"/>
            <a:ext cx="301752" cy="301752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85" name="Shape 83"/>
          <p:cNvSpPr/>
          <p:nvPr/>
        </p:nvSpPr>
        <p:spPr>
          <a:xfrm>
            <a:off x="3236976" y="3593592"/>
            <a:ext cx="301752" cy="3017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6" name="Shape 84"/>
          <p:cNvSpPr/>
          <p:nvPr/>
        </p:nvSpPr>
        <p:spPr>
          <a:xfrm>
            <a:off x="3538728" y="3593592"/>
            <a:ext cx="301752" cy="30175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87" name="Shape 85"/>
          <p:cNvSpPr/>
          <p:nvPr/>
        </p:nvSpPr>
        <p:spPr>
          <a:xfrm>
            <a:off x="3840480" y="3593592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8" name="Shape 86"/>
          <p:cNvSpPr/>
          <p:nvPr/>
        </p:nvSpPr>
        <p:spPr>
          <a:xfrm>
            <a:off x="4142232" y="3593592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9" name="Shape 87"/>
          <p:cNvSpPr/>
          <p:nvPr/>
        </p:nvSpPr>
        <p:spPr>
          <a:xfrm>
            <a:off x="822960" y="3895344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0" name="Shape 88"/>
          <p:cNvSpPr/>
          <p:nvPr/>
        </p:nvSpPr>
        <p:spPr>
          <a:xfrm>
            <a:off x="1124712" y="3895344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1" name="Shape 89"/>
          <p:cNvSpPr/>
          <p:nvPr/>
        </p:nvSpPr>
        <p:spPr>
          <a:xfrm>
            <a:off x="1426464" y="3895344"/>
            <a:ext cx="301752" cy="30175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2" name="Shape 90"/>
          <p:cNvSpPr/>
          <p:nvPr/>
        </p:nvSpPr>
        <p:spPr>
          <a:xfrm>
            <a:off x="1728216" y="3895344"/>
            <a:ext cx="301752" cy="3017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3" name="Shape 91"/>
          <p:cNvSpPr/>
          <p:nvPr/>
        </p:nvSpPr>
        <p:spPr>
          <a:xfrm>
            <a:off x="2029968" y="3895344"/>
            <a:ext cx="301752" cy="3017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4" name="Shape 92"/>
          <p:cNvSpPr/>
          <p:nvPr/>
        </p:nvSpPr>
        <p:spPr>
          <a:xfrm>
            <a:off x="2331720" y="3895344"/>
            <a:ext cx="301752" cy="301752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95" name="Shape 93"/>
          <p:cNvSpPr/>
          <p:nvPr/>
        </p:nvSpPr>
        <p:spPr>
          <a:xfrm>
            <a:off x="2633472" y="3895344"/>
            <a:ext cx="301752" cy="3017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6" name="Shape 94"/>
          <p:cNvSpPr/>
          <p:nvPr/>
        </p:nvSpPr>
        <p:spPr>
          <a:xfrm>
            <a:off x="2935224" y="3895344"/>
            <a:ext cx="301752" cy="301752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97" name="Shape 95"/>
          <p:cNvSpPr/>
          <p:nvPr/>
        </p:nvSpPr>
        <p:spPr>
          <a:xfrm>
            <a:off x="3236976" y="3895344"/>
            <a:ext cx="301752" cy="30175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8" name="Shape 96"/>
          <p:cNvSpPr/>
          <p:nvPr/>
        </p:nvSpPr>
        <p:spPr>
          <a:xfrm>
            <a:off x="3538728" y="3895344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9" name="Shape 97"/>
          <p:cNvSpPr/>
          <p:nvPr/>
        </p:nvSpPr>
        <p:spPr>
          <a:xfrm>
            <a:off x="3840480" y="3895344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0" name="Shape 98"/>
          <p:cNvSpPr/>
          <p:nvPr/>
        </p:nvSpPr>
        <p:spPr>
          <a:xfrm>
            <a:off x="4142232" y="3895344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1" name="Shape 99"/>
          <p:cNvSpPr/>
          <p:nvPr/>
        </p:nvSpPr>
        <p:spPr>
          <a:xfrm>
            <a:off x="822960" y="4197096"/>
            <a:ext cx="301752" cy="3017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124712" y="4197096"/>
            <a:ext cx="301752" cy="3017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426464" y="4197096"/>
            <a:ext cx="301752" cy="3017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728216" y="4197096"/>
            <a:ext cx="301752" cy="3017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5" name="Shape 103"/>
          <p:cNvSpPr/>
          <p:nvPr/>
        </p:nvSpPr>
        <p:spPr>
          <a:xfrm>
            <a:off x="2029968" y="4197096"/>
            <a:ext cx="301752" cy="3017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6" name="Shape 104"/>
          <p:cNvSpPr/>
          <p:nvPr/>
        </p:nvSpPr>
        <p:spPr>
          <a:xfrm>
            <a:off x="2331720" y="4197096"/>
            <a:ext cx="301752" cy="3017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7" name="Shape 105"/>
          <p:cNvSpPr/>
          <p:nvPr/>
        </p:nvSpPr>
        <p:spPr>
          <a:xfrm>
            <a:off x="2633472" y="4197096"/>
            <a:ext cx="301752" cy="3017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8" name="Shape 106"/>
          <p:cNvSpPr/>
          <p:nvPr/>
        </p:nvSpPr>
        <p:spPr>
          <a:xfrm>
            <a:off x="2935224" y="4197096"/>
            <a:ext cx="301752" cy="3017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9" name="Shape 107"/>
          <p:cNvSpPr/>
          <p:nvPr/>
        </p:nvSpPr>
        <p:spPr>
          <a:xfrm>
            <a:off x="3236976" y="4197096"/>
            <a:ext cx="301752" cy="3017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0" name="Shape 108"/>
          <p:cNvSpPr/>
          <p:nvPr/>
        </p:nvSpPr>
        <p:spPr>
          <a:xfrm>
            <a:off x="3538728" y="4197096"/>
            <a:ext cx="301752" cy="3017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1" name="Shape 109"/>
          <p:cNvSpPr/>
          <p:nvPr/>
        </p:nvSpPr>
        <p:spPr>
          <a:xfrm>
            <a:off x="3840480" y="4197096"/>
            <a:ext cx="301752" cy="3017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2" name="Shape 110"/>
          <p:cNvSpPr/>
          <p:nvPr/>
        </p:nvSpPr>
        <p:spPr>
          <a:xfrm>
            <a:off x="4142232" y="4197096"/>
            <a:ext cx="301752" cy="3017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3" name="Shape 111"/>
          <p:cNvSpPr/>
          <p:nvPr/>
        </p:nvSpPr>
        <p:spPr>
          <a:xfrm>
            <a:off x="822960" y="4498848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124712" y="4498848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426464" y="4498848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728216" y="4498848"/>
            <a:ext cx="301752" cy="3017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7" name="Shape 115"/>
          <p:cNvSpPr/>
          <p:nvPr/>
        </p:nvSpPr>
        <p:spPr>
          <a:xfrm>
            <a:off x="2029968" y="4498848"/>
            <a:ext cx="301752" cy="30175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8" name="Shape 116"/>
          <p:cNvSpPr/>
          <p:nvPr/>
        </p:nvSpPr>
        <p:spPr>
          <a:xfrm>
            <a:off x="2331720" y="4498848"/>
            <a:ext cx="301752" cy="30175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9" name="Shape 117"/>
          <p:cNvSpPr/>
          <p:nvPr/>
        </p:nvSpPr>
        <p:spPr>
          <a:xfrm>
            <a:off x="2633472" y="4498848"/>
            <a:ext cx="301752" cy="30175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20" name="Shape 118"/>
          <p:cNvSpPr/>
          <p:nvPr/>
        </p:nvSpPr>
        <p:spPr>
          <a:xfrm>
            <a:off x="2935224" y="4498848"/>
            <a:ext cx="301752" cy="301752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121" name="Shape 119"/>
          <p:cNvSpPr/>
          <p:nvPr/>
        </p:nvSpPr>
        <p:spPr>
          <a:xfrm>
            <a:off x="3236976" y="4498848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2" name="Shape 120"/>
          <p:cNvSpPr/>
          <p:nvPr/>
        </p:nvSpPr>
        <p:spPr>
          <a:xfrm>
            <a:off x="3538728" y="4498848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3" name="Shape 121"/>
          <p:cNvSpPr/>
          <p:nvPr/>
        </p:nvSpPr>
        <p:spPr>
          <a:xfrm>
            <a:off x="3840480" y="4498848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4" name="Shape 122"/>
          <p:cNvSpPr/>
          <p:nvPr/>
        </p:nvSpPr>
        <p:spPr>
          <a:xfrm>
            <a:off x="4142232" y="4498848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5" name="Shape 123"/>
          <p:cNvSpPr/>
          <p:nvPr/>
        </p:nvSpPr>
        <p:spPr>
          <a:xfrm>
            <a:off x="822960" y="4800600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6" name="Shape 124"/>
          <p:cNvSpPr/>
          <p:nvPr/>
        </p:nvSpPr>
        <p:spPr>
          <a:xfrm>
            <a:off x="1124712" y="4800600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7" name="Shape 125"/>
          <p:cNvSpPr/>
          <p:nvPr/>
        </p:nvSpPr>
        <p:spPr>
          <a:xfrm>
            <a:off x="1426464" y="4800600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8" name="Shape 126"/>
          <p:cNvSpPr/>
          <p:nvPr/>
        </p:nvSpPr>
        <p:spPr>
          <a:xfrm>
            <a:off x="1728216" y="4800600"/>
            <a:ext cx="301752" cy="3017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9" name="Shape 127"/>
          <p:cNvSpPr/>
          <p:nvPr/>
        </p:nvSpPr>
        <p:spPr>
          <a:xfrm>
            <a:off x="2029968" y="4800600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0" name="Shape 128"/>
          <p:cNvSpPr/>
          <p:nvPr/>
        </p:nvSpPr>
        <p:spPr>
          <a:xfrm>
            <a:off x="2331720" y="4800600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1" name="Shape 129"/>
          <p:cNvSpPr/>
          <p:nvPr/>
        </p:nvSpPr>
        <p:spPr>
          <a:xfrm>
            <a:off x="2633472" y="4800600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2" name="Shape 130"/>
          <p:cNvSpPr/>
          <p:nvPr/>
        </p:nvSpPr>
        <p:spPr>
          <a:xfrm>
            <a:off x="2935224" y="4800600"/>
            <a:ext cx="301752" cy="301752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133" name="Shape 131"/>
          <p:cNvSpPr/>
          <p:nvPr/>
        </p:nvSpPr>
        <p:spPr>
          <a:xfrm>
            <a:off x="3236976" y="4800600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4" name="Shape 132"/>
          <p:cNvSpPr/>
          <p:nvPr/>
        </p:nvSpPr>
        <p:spPr>
          <a:xfrm>
            <a:off x="3538728" y="4800600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5" name="Shape 133"/>
          <p:cNvSpPr/>
          <p:nvPr/>
        </p:nvSpPr>
        <p:spPr>
          <a:xfrm>
            <a:off x="3840480" y="4800600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6" name="Shape 134"/>
          <p:cNvSpPr/>
          <p:nvPr/>
        </p:nvSpPr>
        <p:spPr>
          <a:xfrm>
            <a:off x="4142232" y="4800600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7" name="Shape 135"/>
          <p:cNvSpPr/>
          <p:nvPr/>
        </p:nvSpPr>
        <p:spPr>
          <a:xfrm>
            <a:off x="822960" y="5102352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8" name="Shape 136"/>
          <p:cNvSpPr/>
          <p:nvPr/>
        </p:nvSpPr>
        <p:spPr>
          <a:xfrm>
            <a:off x="1124712" y="5102352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9" name="Shape 137"/>
          <p:cNvSpPr/>
          <p:nvPr/>
        </p:nvSpPr>
        <p:spPr>
          <a:xfrm>
            <a:off x="1426464" y="5102352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0" name="Shape 138"/>
          <p:cNvSpPr/>
          <p:nvPr/>
        </p:nvSpPr>
        <p:spPr>
          <a:xfrm>
            <a:off x="1728216" y="5102352"/>
            <a:ext cx="301752" cy="3017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1" name="Shape 139"/>
          <p:cNvSpPr/>
          <p:nvPr/>
        </p:nvSpPr>
        <p:spPr>
          <a:xfrm>
            <a:off x="2029968" y="5102352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2" name="Shape 140"/>
          <p:cNvSpPr/>
          <p:nvPr/>
        </p:nvSpPr>
        <p:spPr>
          <a:xfrm>
            <a:off x="2331720" y="5102352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3" name="Shape 141"/>
          <p:cNvSpPr/>
          <p:nvPr/>
        </p:nvSpPr>
        <p:spPr>
          <a:xfrm>
            <a:off x="2633472" y="5102352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4" name="Shape 142"/>
          <p:cNvSpPr/>
          <p:nvPr/>
        </p:nvSpPr>
        <p:spPr>
          <a:xfrm>
            <a:off x="2935224" y="5102352"/>
            <a:ext cx="301752" cy="301752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145" name="Shape 143"/>
          <p:cNvSpPr/>
          <p:nvPr/>
        </p:nvSpPr>
        <p:spPr>
          <a:xfrm>
            <a:off x="3236976" y="5102352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6" name="Shape 144"/>
          <p:cNvSpPr/>
          <p:nvPr/>
        </p:nvSpPr>
        <p:spPr>
          <a:xfrm>
            <a:off x="3538728" y="5102352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7" name="Shape 145"/>
          <p:cNvSpPr/>
          <p:nvPr/>
        </p:nvSpPr>
        <p:spPr>
          <a:xfrm>
            <a:off x="3840480" y="5102352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8" name="Shape 146"/>
          <p:cNvSpPr/>
          <p:nvPr/>
        </p:nvSpPr>
        <p:spPr>
          <a:xfrm>
            <a:off x="4142232" y="5102352"/>
            <a:ext cx="301752" cy="3017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9" name="Shape 147"/>
          <p:cNvSpPr/>
          <p:nvPr/>
        </p:nvSpPr>
        <p:spPr>
          <a:xfrm>
            <a:off x="2392070" y="3412541"/>
            <a:ext cx="271577" cy="271577"/>
          </a:xfrm>
          <a:prstGeom prst="ellipse">
            <a:avLst/>
          </a:prstGeom>
          <a:solidFill>
            <a:srgbClr val="FBBF24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13232" y="5696712"/>
            <a:ext cx="164592" cy="16459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1" name="Text 149"/>
          <p:cNvSpPr/>
          <p:nvPr/>
        </p:nvSpPr>
        <p:spPr>
          <a:xfrm>
            <a:off x="932688" y="56327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건물(가연물)</a:t>
            </a:r>
            <a:endParaRPr lang="en-US" sz="950" dirty="0"/>
          </a:p>
        </p:txBody>
      </p:sp>
      <p:sp>
        <p:nvSpPr>
          <p:cNvPr id="152" name="Shape 150"/>
          <p:cNvSpPr/>
          <p:nvPr/>
        </p:nvSpPr>
        <p:spPr>
          <a:xfrm>
            <a:off x="2313432" y="5696712"/>
            <a:ext cx="164592" cy="16459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3" name="Text 151"/>
          <p:cNvSpPr/>
          <p:nvPr/>
        </p:nvSpPr>
        <p:spPr>
          <a:xfrm>
            <a:off x="2532888" y="56327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진입가능 도로</a:t>
            </a:r>
            <a:endParaRPr lang="en-US" sz="950" dirty="0"/>
          </a:p>
        </p:txBody>
      </p:sp>
      <p:sp>
        <p:nvSpPr>
          <p:cNvPr id="154" name="Shape 152"/>
          <p:cNvSpPr/>
          <p:nvPr/>
        </p:nvSpPr>
        <p:spPr>
          <a:xfrm>
            <a:off x="3913632" y="5696712"/>
            <a:ext cx="164592" cy="164592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155" name="Text 153"/>
          <p:cNvSpPr/>
          <p:nvPr/>
        </p:nvSpPr>
        <p:spPr>
          <a:xfrm>
            <a:off x="4133088" y="56327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협소 골목</a:t>
            </a:r>
            <a:endParaRPr lang="en-US" sz="950" dirty="0"/>
          </a:p>
        </p:txBody>
      </p:sp>
      <p:sp>
        <p:nvSpPr>
          <p:cNvPr id="156" name="Shape 154"/>
          <p:cNvSpPr/>
          <p:nvPr/>
        </p:nvSpPr>
        <p:spPr>
          <a:xfrm>
            <a:off x="713232" y="6016752"/>
            <a:ext cx="164592" cy="1645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7" name="Text 155"/>
          <p:cNvSpPr/>
          <p:nvPr/>
        </p:nvSpPr>
        <p:spPr>
          <a:xfrm>
            <a:off x="932688" y="59527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연소</a:t>
            </a:r>
            <a:endParaRPr lang="en-US" sz="950" dirty="0"/>
          </a:p>
        </p:txBody>
      </p:sp>
      <p:sp>
        <p:nvSpPr>
          <p:cNvPr id="158" name="Shape 156"/>
          <p:cNvSpPr/>
          <p:nvPr/>
        </p:nvSpPr>
        <p:spPr>
          <a:xfrm>
            <a:off x="2313432" y="6016752"/>
            <a:ext cx="164592" cy="164592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59" name="Text 157"/>
          <p:cNvSpPr/>
          <p:nvPr/>
        </p:nvSpPr>
        <p:spPr>
          <a:xfrm>
            <a:off x="2532888" y="59527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전소</a:t>
            </a:r>
            <a:endParaRPr lang="en-US" sz="950" dirty="0"/>
          </a:p>
        </p:txBody>
      </p:sp>
      <p:sp>
        <p:nvSpPr>
          <p:cNvPr id="160" name="Shape 158"/>
          <p:cNvSpPr/>
          <p:nvPr/>
        </p:nvSpPr>
        <p:spPr>
          <a:xfrm>
            <a:off x="3913632" y="6016752"/>
            <a:ext cx="164592" cy="164592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161" name="Text 159"/>
          <p:cNvSpPr/>
          <p:nvPr/>
        </p:nvSpPr>
        <p:spPr>
          <a:xfrm>
            <a:off x="4133088" y="59527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 진압</a:t>
            </a:r>
            <a:endParaRPr lang="en-US" sz="950" dirty="0"/>
          </a:p>
        </p:txBody>
      </p:sp>
      <p:sp>
        <p:nvSpPr>
          <p:cNvPr id="162" name="Shape 160"/>
          <p:cNvSpPr/>
          <p:nvPr/>
        </p:nvSpPr>
        <p:spPr>
          <a:xfrm>
            <a:off x="5806440" y="1828800"/>
            <a:ext cx="5806440" cy="1170432"/>
          </a:xfrm>
          <a:prstGeom prst="roundRect">
            <a:avLst>
              <a:gd name="adj" fmla="val 703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6035040" y="197510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도로망을 골격으로</a:t>
            </a:r>
            <a:endParaRPr lang="en-US" sz="1500" dirty="0"/>
          </a:p>
        </p:txBody>
      </p:sp>
      <p:sp>
        <p:nvSpPr>
          <p:cNvPr id="164" name="Text 162"/>
          <p:cNvSpPr/>
          <p:nvPr/>
        </p:nvSpPr>
        <p:spPr>
          <a:xfrm>
            <a:off x="6035040" y="2359152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도로 사이 가구(街區)를 건물 조직으로 복원해 3m 격자로 채운다.</a:t>
            </a:r>
            <a:endParaRPr lang="en-US" sz="1200" dirty="0"/>
          </a:p>
        </p:txBody>
      </p:sp>
      <p:sp>
        <p:nvSpPr>
          <p:cNvPr id="165" name="Shape 163"/>
          <p:cNvSpPr/>
          <p:nvPr/>
        </p:nvSpPr>
        <p:spPr>
          <a:xfrm>
            <a:off x="5806440" y="3127248"/>
            <a:ext cx="5806440" cy="1170432"/>
          </a:xfrm>
          <a:prstGeom prst="roundRect">
            <a:avLst>
              <a:gd name="adj" fmla="val 703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6035040" y="327355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골목 폭이 확산을 가른다</a:t>
            </a:r>
            <a:endParaRPr lang="en-US" sz="1500" dirty="0"/>
          </a:p>
        </p:txBody>
      </p:sp>
      <p:sp>
        <p:nvSpPr>
          <p:cNvPr id="167" name="Text 165"/>
          <p:cNvSpPr/>
          <p:nvPr/>
        </p:nvSpPr>
        <p:spPr>
          <a:xfrm>
            <a:off x="6035040" y="3657600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넓은 도로는 자연 방화선, 좁은 골목은 복사열로 불을 그대로 건너보낸다.</a:t>
            </a:r>
            <a:endParaRPr lang="en-US" sz="1200" dirty="0"/>
          </a:p>
        </p:txBody>
      </p:sp>
      <p:sp>
        <p:nvSpPr>
          <p:cNvPr id="168" name="Shape 166"/>
          <p:cNvSpPr/>
          <p:nvPr/>
        </p:nvSpPr>
        <p:spPr>
          <a:xfrm>
            <a:off x="5806440" y="4425696"/>
            <a:ext cx="5806440" cy="1170432"/>
          </a:xfrm>
          <a:prstGeom prst="roundRect">
            <a:avLst>
              <a:gd name="adj" fmla="val 703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6035040" y="45720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소방차 진입 가능성 반영</a:t>
            </a:r>
            <a:endParaRPr lang="en-US" sz="1500" dirty="0"/>
          </a:p>
        </p:txBody>
      </p:sp>
      <p:sp>
        <p:nvSpPr>
          <p:cNvPr id="170" name="Text 168"/>
          <p:cNvSpPr/>
          <p:nvPr/>
        </p:nvSpPr>
        <p:spPr>
          <a:xfrm>
            <a:off x="6035040" y="4956048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 4m 미만 구간과 진입곤란 지역을 우선 데이터로 표시한다.</a:t>
            </a:r>
            <a:endParaRPr lang="en-US" sz="1200" dirty="0"/>
          </a:p>
        </p:txBody>
      </p:sp>
      <p:sp>
        <p:nvSpPr>
          <p:cNvPr id="171" name="Text 169"/>
          <p:cNvSpPr/>
          <p:nvPr/>
        </p:nvSpPr>
        <p:spPr>
          <a:xfrm>
            <a:off x="5806440" y="5760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조절 변수</a:t>
            </a:r>
            <a:endParaRPr lang="en-US" sz="1100" dirty="0"/>
          </a:p>
        </p:txBody>
      </p:sp>
      <p:sp>
        <p:nvSpPr>
          <p:cNvPr id="172" name="Shape 170"/>
          <p:cNvSpPr/>
          <p:nvPr/>
        </p:nvSpPr>
        <p:spPr>
          <a:xfrm>
            <a:off x="6903720" y="5724144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6903720" y="57241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풍향</a:t>
            </a:r>
            <a:endParaRPr lang="en-US" sz="1050" dirty="0"/>
          </a:p>
        </p:txBody>
      </p:sp>
      <p:sp>
        <p:nvSpPr>
          <p:cNvPr id="174" name="Shape 172"/>
          <p:cNvSpPr/>
          <p:nvPr/>
        </p:nvSpPr>
        <p:spPr>
          <a:xfrm>
            <a:off x="8092440" y="5724144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8092440" y="57241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풍속</a:t>
            </a:r>
            <a:endParaRPr lang="en-US" sz="1050" dirty="0"/>
          </a:p>
        </p:txBody>
      </p:sp>
      <p:sp>
        <p:nvSpPr>
          <p:cNvPr id="176" name="Shape 174"/>
          <p:cNvSpPr/>
          <p:nvPr/>
        </p:nvSpPr>
        <p:spPr>
          <a:xfrm>
            <a:off x="9281160" y="5724144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9281160" y="57241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 밀집도</a:t>
            </a:r>
            <a:endParaRPr lang="en-US" sz="1050" dirty="0"/>
          </a:p>
        </p:txBody>
      </p:sp>
      <p:sp>
        <p:nvSpPr>
          <p:cNvPr id="178" name="Shape 176"/>
          <p:cNvSpPr/>
          <p:nvPr/>
        </p:nvSpPr>
        <p:spPr>
          <a:xfrm>
            <a:off x="10469880" y="5724144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10469880" y="57241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인지~도착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화재 확산 시뮬레이션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— 발화부터 완전 진화까지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07008" y="1618488"/>
            <a:ext cx="2231136" cy="2231136"/>
          </a:xfrm>
          <a:prstGeom prst="roundRect">
            <a:avLst>
              <a:gd name="adj" fmla="val 2459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69164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1453896" y="169164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Shape 5"/>
          <p:cNvSpPr/>
          <p:nvPr/>
        </p:nvSpPr>
        <p:spPr>
          <a:xfrm>
            <a:off x="1627632" y="169164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Shape 6"/>
          <p:cNvSpPr/>
          <p:nvPr/>
        </p:nvSpPr>
        <p:spPr>
          <a:xfrm>
            <a:off x="1801368" y="1691640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Shape 7"/>
          <p:cNvSpPr/>
          <p:nvPr/>
        </p:nvSpPr>
        <p:spPr>
          <a:xfrm>
            <a:off x="1975104" y="169164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Shape 8"/>
          <p:cNvSpPr/>
          <p:nvPr/>
        </p:nvSpPr>
        <p:spPr>
          <a:xfrm>
            <a:off x="2148840" y="169164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Shape 9"/>
          <p:cNvSpPr/>
          <p:nvPr/>
        </p:nvSpPr>
        <p:spPr>
          <a:xfrm>
            <a:off x="2322576" y="169164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2496312" y="1691640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13" name="Shape 11"/>
          <p:cNvSpPr/>
          <p:nvPr/>
        </p:nvSpPr>
        <p:spPr>
          <a:xfrm>
            <a:off x="2670048" y="169164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Shape 12"/>
          <p:cNvSpPr/>
          <p:nvPr/>
        </p:nvSpPr>
        <p:spPr>
          <a:xfrm>
            <a:off x="2843784" y="169164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Shape 13"/>
          <p:cNvSpPr/>
          <p:nvPr/>
        </p:nvSpPr>
        <p:spPr>
          <a:xfrm>
            <a:off x="3017520" y="169164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Shape 14"/>
          <p:cNvSpPr/>
          <p:nvPr/>
        </p:nvSpPr>
        <p:spPr>
          <a:xfrm>
            <a:off x="3191256" y="169164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7" name="Shape 15"/>
          <p:cNvSpPr/>
          <p:nvPr/>
        </p:nvSpPr>
        <p:spPr>
          <a:xfrm>
            <a:off x="1280160" y="186537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1453896" y="186537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9" name="Shape 17"/>
          <p:cNvSpPr/>
          <p:nvPr/>
        </p:nvSpPr>
        <p:spPr>
          <a:xfrm>
            <a:off x="1627632" y="186537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0" name="Shape 18"/>
          <p:cNvSpPr/>
          <p:nvPr/>
        </p:nvSpPr>
        <p:spPr>
          <a:xfrm>
            <a:off x="1801368" y="1865376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Shape 19"/>
          <p:cNvSpPr/>
          <p:nvPr/>
        </p:nvSpPr>
        <p:spPr>
          <a:xfrm>
            <a:off x="1975104" y="186537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Shape 20"/>
          <p:cNvSpPr/>
          <p:nvPr/>
        </p:nvSpPr>
        <p:spPr>
          <a:xfrm>
            <a:off x="2148840" y="186537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" name="Shape 21"/>
          <p:cNvSpPr/>
          <p:nvPr/>
        </p:nvSpPr>
        <p:spPr>
          <a:xfrm>
            <a:off x="2322576" y="186537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Shape 22"/>
          <p:cNvSpPr/>
          <p:nvPr/>
        </p:nvSpPr>
        <p:spPr>
          <a:xfrm>
            <a:off x="2496312" y="1865376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25" name="Shape 23"/>
          <p:cNvSpPr/>
          <p:nvPr/>
        </p:nvSpPr>
        <p:spPr>
          <a:xfrm>
            <a:off x="2670048" y="186537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" name="Shape 24"/>
          <p:cNvSpPr/>
          <p:nvPr/>
        </p:nvSpPr>
        <p:spPr>
          <a:xfrm>
            <a:off x="2843784" y="186537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" name="Shape 25"/>
          <p:cNvSpPr/>
          <p:nvPr/>
        </p:nvSpPr>
        <p:spPr>
          <a:xfrm>
            <a:off x="3017520" y="186537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" name="Shape 26"/>
          <p:cNvSpPr/>
          <p:nvPr/>
        </p:nvSpPr>
        <p:spPr>
          <a:xfrm>
            <a:off x="3191256" y="186537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9" name="Shape 27"/>
          <p:cNvSpPr/>
          <p:nvPr/>
        </p:nvSpPr>
        <p:spPr>
          <a:xfrm>
            <a:off x="1280160" y="203911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0" name="Shape 28"/>
          <p:cNvSpPr/>
          <p:nvPr/>
        </p:nvSpPr>
        <p:spPr>
          <a:xfrm>
            <a:off x="1453896" y="203911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1" name="Shape 29"/>
          <p:cNvSpPr/>
          <p:nvPr/>
        </p:nvSpPr>
        <p:spPr>
          <a:xfrm>
            <a:off x="1627632" y="203911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2" name="Shape 30"/>
          <p:cNvSpPr/>
          <p:nvPr/>
        </p:nvSpPr>
        <p:spPr>
          <a:xfrm>
            <a:off x="1801368" y="2039112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3" name="Shape 31"/>
          <p:cNvSpPr/>
          <p:nvPr/>
        </p:nvSpPr>
        <p:spPr>
          <a:xfrm>
            <a:off x="1975104" y="203911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4" name="Shape 32"/>
          <p:cNvSpPr/>
          <p:nvPr/>
        </p:nvSpPr>
        <p:spPr>
          <a:xfrm>
            <a:off x="2148840" y="203911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5" name="Shape 33"/>
          <p:cNvSpPr/>
          <p:nvPr/>
        </p:nvSpPr>
        <p:spPr>
          <a:xfrm>
            <a:off x="2322576" y="203911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6" name="Shape 34"/>
          <p:cNvSpPr/>
          <p:nvPr/>
        </p:nvSpPr>
        <p:spPr>
          <a:xfrm>
            <a:off x="2496312" y="2039112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37" name="Shape 35"/>
          <p:cNvSpPr/>
          <p:nvPr/>
        </p:nvSpPr>
        <p:spPr>
          <a:xfrm>
            <a:off x="2670048" y="203911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8" name="Shape 36"/>
          <p:cNvSpPr/>
          <p:nvPr/>
        </p:nvSpPr>
        <p:spPr>
          <a:xfrm>
            <a:off x="2843784" y="203911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9" name="Shape 37"/>
          <p:cNvSpPr/>
          <p:nvPr/>
        </p:nvSpPr>
        <p:spPr>
          <a:xfrm>
            <a:off x="3017520" y="203911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0" name="Shape 38"/>
          <p:cNvSpPr/>
          <p:nvPr/>
        </p:nvSpPr>
        <p:spPr>
          <a:xfrm>
            <a:off x="3191256" y="203911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1" name="Shape 39"/>
          <p:cNvSpPr/>
          <p:nvPr/>
        </p:nvSpPr>
        <p:spPr>
          <a:xfrm>
            <a:off x="1280160" y="2212848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2" name="Shape 40"/>
          <p:cNvSpPr/>
          <p:nvPr/>
        </p:nvSpPr>
        <p:spPr>
          <a:xfrm>
            <a:off x="1453896" y="2212848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3" name="Shape 41"/>
          <p:cNvSpPr/>
          <p:nvPr/>
        </p:nvSpPr>
        <p:spPr>
          <a:xfrm>
            <a:off x="1627632" y="2212848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4" name="Shape 42"/>
          <p:cNvSpPr/>
          <p:nvPr/>
        </p:nvSpPr>
        <p:spPr>
          <a:xfrm>
            <a:off x="1801368" y="221284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5" name="Shape 43"/>
          <p:cNvSpPr/>
          <p:nvPr/>
        </p:nvSpPr>
        <p:spPr>
          <a:xfrm>
            <a:off x="1975104" y="2212848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6" name="Shape 44"/>
          <p:cNvSpPr/>
          <p:nvPr/>
        </p:nvSpPr>
        <p:spPr>
          <a:xfrm>
            <a:off x="2148840" y="2212848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7" name="Shape 45"/>
          <p:cNvSpPr/>
          <p:nvPr/>
        </p:nvSpPr>
        <p:spPr>
          <a:xfrm>
            <a:off x="2322576" y="2212848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8" name="Shape 46"/>
          <p:cNvSpPr/>
          <p:nvPr/>
        </p:nvSpPr>
        <p:spPr>
          <a:xfrm>
            <a:off x="2496312" y="2212848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49" name="Shape 47"/>
          <p:cNvSpPr/>
          <p:nvPr/>
        </p:nvSpPr>
        <p:spPr>
          <a:xfrm>
            <a:off x="2670048" y="2212848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0" name="Shape 48"/>
          <p:cNvSpPr/>
          <p:nvPr/>
        </p:nvSpPr>
        <p:spPr>
          <a:xfrm>
            <a:off x="2843784" y="2212848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1" name="Shape 49"/>
          <p:cNvSpPr/>
          <p:nvPr/>
        </p:nvSpPr>
        <p:spPr>
          <a:xfrm>
            <a:off x="3017520" y="2212848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2" name="Shape 50"/>
          <p:cNvSpPr/>
          <p:nvPr/>
        </p:nvSpPr>
        <p:spPr>
          <a:xfrm>
            <a:off x="3191256" y="2212848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3" name="Shape 51"/>
          <p:cNvSpPr/>
          <p:nvPr/>
        </p:nvSpPr>
        <p:spPr>
          <a:xfrm>
            <a:off x="1280160" y="238658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4" name="Shape 52"/>
          <p:cNvSpPr/>
          <p:nvPr/>
        </p:nvSpPr>
        <p:spPr>
          <a:xfrm>
            <a:off x="1453896" y="238658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5" name="Shape 53"/>
          <p:cNvSpPr/>
          <p:nvPr/>
        </p:nvSpPr>
        <p:spPr>
          <a:xfrm>
            <a:off x="1627632" y="238658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6" name="Shape 54"/>
          <p:cNvSpPr/>
          <p:nvPr/>
        </p:nvSpPr>
        <p:spPr>
          <a:xfrm>
            <a:off x="1801368" y="2386584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7" name="Shape 55"/>
          <p:cNvSpPr/>
          <p:nvPr/>
        </p:nvSpPr>
        <p:spPr>
          <a:xfrm>
            <a:off x="1975104" y="2386584"/>
            <a:ext cx="173736" cy="17373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8" name="Shape 56"/>
          <p:cNvSpPr/>
          <p:nvPr/>
        </p:nvSpPr>
        <p:spPr>
          <a:xfrm>
            <a:off x="2148840" y="2386584"/>
            <a:ext cx="173736" cy="17373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9" name="Shape 57"/>
          <p:cNvSpPr/>
          <p:nvPr/>
        </p:nvSpPr>
        <p:spPr>
          <a:xfrm>
            <a:off x="2322576" y="2386584"/>
            <a:ext cx="173736" cy="17373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0" name="Shape 58"/>
          <p:cNvSpPr/>
          <p:nvPr/>
        </p:nvSpPr>
        <p:spPr>
          <a:xfrm>
            <a:off x="2496312" y="2386584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61" name="Shape 59"/>
          <p:cNvSpPr/>
          <p:nvPr/>
        </p:nvSpPr>
        <p:spPr>
          <a:xfrm>
            <a:off x="2670048" y="238658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2" name="Shape 60"/>
          <p:cNvSpPr/>
          <p:nvPr/>
        </p:nvSpPr>
        <p:spPr>
          <a:xfrm>
            <a:off x="2843784" y="238658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3" name="Shape 61"/>
          <p:cNvSpPr/>
          <p:nvPr/>
        </p:nvSpPr>
        <p:spPr>
          <a:xfrm>
            <a:off x="3017520" y="238658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4" name="Shape 62"/>
          <p:cNvSpPr/>
          <p:nvPr/>
        </p:nvSpPr>
        <p:spPr>
          <a:xfrm>
            <a:off x="3191256" y="238658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5" name="Shape 63"/>
          <p:cNvSpPr/>
          <p:nvPr/>
        </p:nvSpPr>
        <p:spPr>
          <a:xfrm>
            <a:off x="1280160" y="256032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6" name="Shape 64"/>
          <p:cNvSpPr/>
          <p:nvPr/>
        </p:nvSpPr>
        <p:spPr>
          <a:xfrm>
            <a:off x="1453896" y="256032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7" name="Shape 65"/>
          <p:cNvSpPr/>
          <p:nvPr/>
        </p:nvSpPr>
        <p:spPr>
          <a:xfrm>
            <a:off x="1627632" y="256032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8" name="Shape 66"/>
          <p:cNvSpPr/>
          <p:nvPr/>
        </p:nvSpPr>
        <p:spPr>
          <a:xfrm>
            <a:off x="1801368" y="2560320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9" name="Shape 67"/>
          <p:cNvSpPr/>
          <p:nvPr/>
        </p:nvSpPr>
        <p:spPr>
          <a:xfrm>
            <a:off x="1975104" y="2560320"/>
            <a:ext cx="173736" cy="17373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0" name="Shape 68"/>
          <p:cNvSpPr/>
          <p:nvPr/>
        </p:nvSpPr>
        <p:spPr>
          <a:xfrm>
            <a:off x="2148840" y="2560320"/>
            <a:ext cx="173736" cy="17373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1" name="Shape 69"/>
          <p:cNvSpPr/>
          <p:nvPr/>
        </p:nvSpPr>
        <p:spPr>
          <a:xfrm>
            <a:off x="2322576" y="2560320"/>
            <a:ext cx="173736" cy="17373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2" name="Shape 70"/>
          <p:cNvSpPr/>
          <p:nvPr/>
        </p:nvSpPr>
        <p:spPr>
          <a:xfrm>
            <a:off x="2496312" y="2560320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73" name="Shape 71"/>
          <p:cNvSpPr/>
          <p:nvPr/>
        </p:nvSpPr>
        <p:spPr>
          <a:xfrm>
            <a:off x="2670048" y="256032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4" name="Shape 72"/>
          <p:cNvSpPr/>
          <p:nvPr/>
        </p:nvSpPr>
        <p:spPr>
          <a:xfrm>
            <a:off x="2843784" y="256032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5" name="Shape 73"/>
          <p:cNvSpPr/>
          <p:nvPr/>
        </p:nvSpPr>
        <p:spPr>
          <a:xfrm>
            <a:off x="3017520" y="256032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6" name="Shape 74"/>
          <p:cNvSpPr/>
          <p:nvPr/>
        </p:nvSpPr>
        <p:spPr>
          <a:xfrm>
            <a:off x="3191256" y="256032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7" name="Shape 75"/>
          <p:cNvSpPr/>
          <p:nvPr/>
        </p:nvSpPr>
        <p:spPr>
          <a:xfrm>
            <a:off x="1280160" y="273405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8" name="Shape 76"/>
          <p:cNvSpPr/>
          <p:nvPr/>
        </p:nvSpPr>
        <p:spPr>
          <a:xfrm>
            <a:off x="1453896" y="273405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9" name="Shape 77"/>
          <p:cNvSpPr/>
          <p:nvPr/>
        </p:nvSpPr>
        <p:spPr>
          <a:xfrm>
            <a:off x="1627632" y="273405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0" name="Shape 78"/>
          <p:cNvSpPr/>
          <p:nvPr/>
        </p:nvSpPr>
        <p:spPr>
          <a:xfrm>
            <a:off x="1801368" y="2734056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1" name="Shape 79"/>
          <p:cNvSpPr/>
          <p:nvPr/>
        </p:nvSpPr>
        <p:spPr>
          <a:xfrm>
            <a:off x="1975104" y="2734056"/>
            <a:ext cx="173736" cy="17373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2" name="Shape 80"/>
          <p:cNvSpPr/>
          <p:nvPr/>
        </p:nvSpPr>
        <p:spPr>
          <a:xfrm>
            <a:off x="2148840" y="2734056"/>
            <a:ext cx="173736" cy="17373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3" name="Shape 81"/>
          <p:cNvSpPr/>
          <p:nvPr/>
        </p:nvSpPr>
        <p:spPr>
          <a:xfrm>
            <a:off x="2322576" y="2734056"/>
            <a:ext cx="173736" cy="17373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4" name="Shape 82"/>
          <p:cNvSpPr/>
          <p:nvPr/>
        </p:nvSpPr>
        <p:spPr>
          <a:xfrm>
            <a:off x="2496312" y="2734056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85" name="Shape 83"/>
          <p:cNvSpPr/>
          <p:nvPr/>
        </p:nvSpPr>
        <p:spPr>
          <a:xfrm>
            <a:off x="2670048" y="273405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6" name="Shape 84"/>
          <p:cNvSpPr/>
          <p:nvPr/>
        </p:nvSpPr>
        <p:spPr>
          <a:xfrm>
            <a:off x="2843784" y="273405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7" name="Shape 85"/>
          <p:cNvSpPr/>
          <p:nvPr/>
        </p:nvSpPr>
        <p:spPr>
          <a:xfrm>
            <a:off x="3017520" y="273405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8" name="Shape 86"/>
          <p:cNvSpPr/>
          <p:nvPr/>
        </p:nvSpPr>
        <p:spPr>
          <a:xfrm>
            <a:off x="3191256" y="273405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9" name="Shape 87"/>
          <p:cNvSpPr/>
          <p:nvPr/>
        </p:nvSpPr>
        <p:spPr>
          <a:xfrm>
            <a:off x="1280160" y="290779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0" name="Shape 88"/>
          <p:cNvSpPr/>
          <p:nvPr/>
        </p:nvSpPr>
        <p:spPr>
          <a:xfrm>
            <a:off x="1453896" y="290779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1" name="Shape 89"/>
          <p:cNvSpPr/>
          <p:nvPr/>
        </p:nvSpPr>
        <p:spPr>
          <a:xfrm>
            <a:off x="1627632" y="290779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2" name="Shape 90"/>
          <p:cNvSpPr/>
          <p:nvPr/>
        </p:nvSpPr>
        <p:spPr>
          <a:xfrm>
            <a:off x="1801368" y="2907792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3" name="Shape 91"/>
          <p:cNvSpPr/>
          <p:nvPr/>
        </p:nvSpPr>
        <p:spPr>
          <a:xfrm>
            <a:off x="1975104" y="290779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4" name="Shape 92"/>
          <p:cNvSpPr/>
          <p:nvPr/>
        </p:nvSpPr>
        <p:spPr>
          <a:xfrm>
            <a:off x="2148840" y="2907792"/>
            <a:ext cx="173736" cy="17373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5" name="Shape 93"/>
          <p:cNvSpPr/>
          <p:nvPr/>
        </p:nvSpPr>
        <p:spPr>
          <a:xfrm>
            <a:off x="2322576" y="2907792"/>
            <a:ext cx="173736" cy="17373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6" name="Shape 94"/>
          <p:cNvSpPr/>
          <p:nvPr/>
        </p:nvSpPr>
        <p:spPr>
          <a:xfrm>
            <a:off x="2496312" y="2907792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97" name="Shape 95"/>
          <p:cNvSpPr/>
          <p:nvPr/>
        </p:nvSpPr>
        <p:spPr>
          <a:xfrm>
            <a:off x="2670048" y="290779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8" name="Shape 96"/>
          <p:cNvSpPr/>
          <p:nvPr/>
        </p:nvSpPr>
        <p:spPr>
          <a:xfrm>
            <a:off x="2843784" y="290779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9" name="Shape 97"/>
          <p:cNvSpPr/>
          <p:nvPr/>
        </p:nvSpPr>
        <p:spPr>
          <a:xfrm>
            <a:off x="3017520" y="290779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0" name="Shape 98"/>
          <p:cNvSpPr/>
          <p:nvPr/>
        </p:nvSpPr>
        <p:spPr>
          <a:xfrm>
            <a:off x="3191256" y="290779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1" name="Shape 99"/>
          <p:cNvSpPr/>
          <p:nvPr/>
        </p:nvSpPr>
        <p:spPr>
          <a:xfrm>
            <a:off x="1280160" y="308152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453896" y="308152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627632" y="308152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801368" y="308152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975104" y="308152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6" name="Shape 104"/>
          <p:cNvSpPr/>
          <p:nvPr/>
        </p:nvSpPr>
        <p:spPr>
          <a:xfrm>
            <a:off x="2148840" y="308152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7" name="Shape 105"/>
          <p:cNvSpPr/>
          <p:nvPr/>
        </p:nvSpPr>
        <p:spPr>
          <a:xfrm>
            <a:off x="2322576" y="308152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8" name="Shape 106"/>
          <p:cNvSpPr/>
          <p:nvPr/>
        </p:nvSpPr>
        <p:spPr>
          <a:xfrm>
            <a:off x="2496312" y="308152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9" name="Shape 107"/>
          <p:cNvSpPr/>
          <p:nvPr/>
        </p:nvSpPr>
        <p:spPr>
          <a:xfrm>
            <a:off x="2670048" y="308152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0" name="Shape 108"/>
          <p:cNvSpPr/>
          <p:nvPr/>
        </p:nvSpPr>
        <p:spPr>
          <a:xfrm>
            <a:off x="2843784" y="308152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1" name="Shape 109"/>
          <p:cNvSpPr/>
          <p:nvPr/>
        </p:nvSpPr>
        <p:spPr>
          <a:xfrm>
            <a:off x="3017520" y="308152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2" name="Shape 110"/>
          <p:cNvSpPr/>
          <p:nvPr/>
        </p:nvSpPr>
        <p:spPr>
          <a:xfrm>
            <a:off x="3191256" y="308152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280160" y="325526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453896" y="325526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627632" y="325526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801368" y="3255264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7" name="Shape 115"/>
          <p:cNvSpPr/>
          <p:nvPr/>
        </p:nvSpPr>
        <p:spPr>
          <a:xfrm>
            <a:off x="1975104" y="325526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8" name="Shape 116"/>
          <p:cNvSpPr/>
          <p:nvPr/>
        </p:nvSpPr>
        <p:spPr>
          <a:xfrm>
            <a:off x="2148840" y="325526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9" name="Shape 117"/>
          <p:cNvSpPr/>
          <p:nvPr/>
        </p:nvSpPr>
        <p:spPr>
          <a:xfrm>
            <a:off x="2322576" y="325526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0" name="Shape 118"/>
          <p:cNvSpPr/>
          <p:nvPr/>
        </p:nvSpPr>
        <p:spPr>
          <a:xfrm>
            <a:off x="2496312" y="3255264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121" name="Shape 119"/>
          <p:cNvSpPr/>
          <p:nvPr/>
        </p:nvSpPr>
        <p:spPr>
          <a:xfrm>
            <a:off x="2670048" y="325526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2" name="Shape 120"/>
          <p:cNvSpPr/>
          <p:nvPr/>
        </p:nvSpPr>
        <p:spPr>
          <a:xfrm>
            <a:off x="2843784" y="325526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3" name="Shape 121"/>
          <p:cNvSpPr/>
          <p:nvPr/>
        </p:nvSpPr>
        <p:spPr>
          <a:xfrm>
            <a:off x="3017520" y="325526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4" name="Shape 122"/>
          <p:cNvSpPr/>
          <p:nvPr/>
        </p:nvSpPr>
        <p:spPr>
          <a:xfrm>
            <a:off x="3191256" y="325526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5" name="Shape 123"/>
          <p:cNvSpPr/>
          <p:nvPr/>
        </p:nvSpPr>
        <p:spPr>
          <a:xfrm>
            <a:off x="1280160" y="342900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6" name="Shape 124"/>
          <p:cNvSpPr/>
          <p:nvPr/>
        </p:nvSpPr>
        <p:spPr>
          <a:xfrm>
            <a:off x="1453896" y="342900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7" name="Shape 125"/>
          <p:cNvSpPr/>
          <p:nvPr/>
        </p:nvSpPr>
        <p:spPr>
          <a:xfrm>
            <a:off x="1627632" y="342900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8" name="Shape 126"/>
          <p:cNvSpPr/>
          <p:nvPr/>
        </p:nvSpPr>
        <p:spPr>
          <a:xfrm>
            <a:off x="1801368" y="3429000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9" name="Shape 127"/>
          <p:cNvSpPr/>
          <p:nvPr/>
        </p:nvSpPr>
        <p:spPr>
          <a:xfrm>
            <a:off x="1975104" y="342900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0" name="Shape 128"/>
          <p:cNvSpPr/>
          <p:nvPr/>
        </p:nvSpPr>
        <p:spPr>
          <a:xfrm>
            <a:off x="2148840" y="342900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1" name="Shape 129"/>
          <p:cNvSpPr/>
          <p:nvPr/>
        </p:nvSpPr>
        <p:spPr>
          <a:xfrm>
            <a:off x="2322576" y="342900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2" name="Shape 130"/>
          <p:cNvSpPr/>
          <p:nvPr/>
        </p:nvSpPr>
        <p:spPr>
          <a:xfrm>
            <a:off x="2496312" y="3429000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133" name="Shape 131"/>
          <p:cNvSpPr/>
          <p:nvPr/>
        </p:nvSpPr>
        <p:spPr>
          <a:xfrm>
            <a:off x="2670048" y="342900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4" name="Shape 132"/>
          <p:cNvSpPr/>
          <p:nvPr/>
        </p:nvSpPr>
        <p:spPr>
          <a:xfrm>
            <a:off x="2843784" y="342900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5" name="Shape 133"/>
          <p:cNvSpPr/>
          <p:nvPr/>
        </p:nvSpPr>
        <p:spPr>
          <a:xfrm>
            <a:off x="3017520" y="342900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6" name="Shape 134"/>
          <p:cNvSpPr/>
          <p:nvPr/>
        </p:nvSpPr>
        <p:spPr>
          <a:xfrm>
            <a:off x="3191256" y="342900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7" name="Shape 135"/>
          <p:cNvSpPr/>
          <p:nvPr/>
        </p:nvSpPr>
        <p:spPr>
          <a:xfrm>
            <a:off x="1280160" y="360273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8" name="Shape 136"/>
          <p:cNvSpPr/>
          <p:nvPr/>
        </p:nvSpPr>
        <p:spPr>
          <a:xfrm>
            <a:off x="1453896" y="360273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9" name="Shape 137"/>
          <p:cNvSpPr/>
          <p:nvPr/>
        </p:nvSpPr>
        <p:spPr>
          <a:xfrm>
            <a:off x="1627632" y="360273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0" name="Shape 138"/>
          <p:cNvSpPr/>
          <p:nvPr/>
        </p:nvSpPr>
        <p:spPr>
          <a:xfrm>
            <a:off x="1801368" y="3602736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1" name="Shape 139"/>
          <p:cNvSpPr/>
          <p:nvPr/>
        </p:nvSpPr>
        <p:spPr>
          <a:xfrm>
            <a:off x="1975104" y="360273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2" name="Shape 140"/>
          <p:cNvSpPr/>
          <p:nvPr/>
        </p:nvSpPr>
        <p:spPr>
          <a:xfrm>
            <a:off x="2148840" y="360273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3" name="Shape 141"/>
          <p:cNvSpPr/>
          <p:nvPr/>
        </p:nvSpPr>
        <p:spPr>
          <a:xfrm>
            <a:off x="2322576" y="360273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4" name="Shape 142"/>
          <p:cNvSpPr/>
          <p:nvPr/>
        </p:nvSpPr>
        <p:spPr>
          <a:xfrm>
            <a:off x="2496312" y="3602736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145" name="Shape 143"/>
          <p:cNvSpPr/>
          <p:nvPr/>
        </p:nvSpPr>
        <p:spPr>
          <a:xfrm>
            <a:off x="2670048" y="360273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6" name="Shape 144"/>
          <p:cNvSpPr/>
          <p:nvPr/>
        </p:nvSpPr>
        <p:spPr>
          <a:xfrm>
            <a:off x="2843784" y="360273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7" name="Shape 145"/>
          <p:cNvSpPr/>
          <p:nvPr/>
        </p:nvSpPr>
        <p:spPr>
          <a:xfrm>
            <a:off x="3017520" y="360273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8" name="Shape 146"/>
          <p:cNvSpPr/>
          <p:nvPr/>
        </p:nvSpPr>
        <p:spPr>
          <a:xfrm>
            <a:off x="3191256" y="360273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9" name="Shape 147"/>
          <p:cNvSpPr/>
          <p:nvPr/>
        </p:nvSpPr>
        <p:spPr>
          <a:xfrm>
            <a:off x="2183587" y="2629814"/>
            <a:ext cx="156362" cy="15636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361188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발화</a:t>
            </a:r>
            <a:endParaRPr lang="en-US" sz="1500" dirty="0"/>
          </a:p>
        </p:txBody>
      </p:sp>
      <p:sp>
        <p:nvSpPr>
          <p:cNvPr id="151" name="Text 149"/>
          <p:cNvSpPr/>
          <p:nvPr/>
        </p:nvSpPr>
        <p:spPr>
          <a:xfrm>
            <a:off x="3611880" y="2441448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도면상 건물에서 착화</a:t>
            </a:r>
            <a:endParaRPr lang="en-US" sz="1150" dirty="0"/>
          </a:p>
        </p:txBody>
      </p:sp>
      <p:sp>
        <p:nvSpPr>
          <p:cNvPr id="152" name="Shape 150"/>
          <p:cNvSpPr/>
          <p:nvPr/>
        </p:nvSpPr>
        <p:spPr>
          <a:xfrm>
            <a:off x="6784848" y="1618488"/>
            <a:ext cx="2231136" cy="2231136"/>
          </a:xfrm>
          <a:prstGeom prst="roundRect">
            <a:avLst>
              <a:gd name="adj" fmla="val 2459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858000" y="169164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031736" y="169164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205472" y="169164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379208" y="1691640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552944" y="169164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726680" y="169164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900416" y="169164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0" name="Shape 158"/>
          <p:cNvSpPr/>
          <p:nvPr/>
        </p:nvSpPr>
        <p:spPr>
          <a:xfrm>
            <a:off x="8074152" y="1691640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161" name="Shape 159"/>
          <p:cNvSpPr/>
          <p:nvPr/>
        </p:nvSpPr>
        <p:spPr>
          <a:xfrm>
            <a:off x="8247888" y="169164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421624" y="169164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595360" y="169164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769096" y="169164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5" name="Shape 163"/>
          <p:cNvSpPr/>
          <p:nvPr/>
        </p:nvSpPr>
        <p:spPr>
          <a:xfrm>
            <a:off x="6858000" y="186537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6" name="Shape 164"/>
          <p:cNvSpPr/>
          <p:nvPr/>
        </p:nvSpPr>
        <p:spPr>
          <a:xfrm>
            <a:off x="7031736" y="186537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7" name="Shape 165"/>
          <p:cNvSpPr/>
          <p:nvPr/>
        </p:nvSpPr>
        <p:spPr>
          <a:xfrm>
            <a:off x="7205472" y="186537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8" name="Shape 166"/>
          <p:cNvSpPr/>
          <p:nvPr/>
        </p:nvSpPr>
        <p:spPr>
          <a:xfrm>
            <a:off x="7379208" y="1865376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9" name="Shape 167"/>
          <p:cNvSpPr/>
          <p:nvPr/>
        </p:nvSpPr>
        <p:spPr>
          <a:xfrm>
            <a:off x="7552944" y="186537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70" name="Shape 168"/>
          <p:cNvSpPr/>
          <p:nvPr/>
        </p:nvSpPr>
        <p:spPr>
          <a:xfrm>
            <a:off x="7726680" y="186537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71" name="Shape 169"/>
          <p:cNvSpPr/>
          <p:nvPr/>
        </p:nvSpPr>
        <p:spPr>
          <a:xfrm>
            <a:off x="7900416" y="186537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074152" y="1865376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247888" y="186537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421624" y="186537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595360" y="186537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769096" y="186537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77" name="Shape 175"/>
          <p:cNvSpPr/>
          <p:nvPr/>
        </p:nvSpPr>
        <p:spPr>
          <a:xfrm>
            <a:off x="6858000" y="203911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78" name="Shape 176"/>
          <p:cNvSpPr/>
          <p:nvPr/>
        </p:nvSpPr>
        <p:spPr>
          <a:xfrm>
            <a:off x="7031736" y="203911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79" name="Shape 177"/>
          <p:cNvSpPr/>
          <p:nvPr/>
        </p:nvSpPr>
        <p:spPr>
          <a:xfrm>
            <a:off x="7205472" y="203911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0" name="Shape 178"/>
          <p:cNvSpPr/>
          <p:nvPr/>
        </p:nvSpPr>
        <p:spPr>
          <a:xfrm>
            <a:off x="7379208" y="2039112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1" name="Shape 179"/>
          <p:cNvSpPr/>
          <p:nvPr/>
        </p:nvSpPr>
        <p:spPr>
          <a:xfrm>
            <a:off x="7552944" y="2039112"/>
            <a:ext cx="173736" cy="17373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82" name="Shape 180"/>
          <p:cNvSpPr/>
          <p:nvPr/>
        </p:nvSpPr>
        <p:spPr>
          <a:xfrm>
            <a:off x="7726680" y="2039112"/>
            <a:ext cx="173736" cy="17373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83" name="Shape 181"/>
          <p:cNvSpPr/>
          <p:nvPr/>
        </p:nvSpPr>
        <p:spPr>
          <a:xfrm>
            <a:off x="7900416" y="2039112"/>
            <a:ext cx="173736" cy="17373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84" name="Shape 182"/>
          <p:cNvSpPr/>
          <p:nvPr/>
        </p:nvSpPr>
        <p:spPr>
          <a:xfrm>
            <a:off x="8074152" y="2039112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185" name="Shape 183"/>
          <p:cNvSpPr/>
          <p:nvPr/>
        </p:nvSpPr>
        <p:spPr>
          <a:xfrm>
            <a:off x="8247888" y="203911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6" name="Shape 184"/>
          <p:cNvSpPr/>
          <p:nvPr/>
        </p:nvSpPr>
        <p:spPr>
          <a:xfrm>
            <a:off x="8421624" y="203911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7" name="Shape 185"/>
          <p:cNvSpPr/>
          <p:nvPr/>
        </p:nvSpPr>
        <p:spPr>
          <a:xfrm>
            <a:off x="8595360" y="203911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8" name="Shape 186"/>
          <p:cNvSpPr/>
          <p:nvPr/>
        </p:nvSpPr>
        <p:spPr>
          <a:xfrm>
            <a:off x="8769096" y="203911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9" name="Shape 187"/>
          <p:cNvSpPr/>
          <p:nvPr/>
        </p:nvSpPr>
        <p:spPr>
          <a:xfrm>
            <a:off x="6858000" y="2212848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90" name="Shape 188"/>
          <p:cNvSpPr/>
          <p:nvPr/>
        </p:nvSpPr>
        <p:spPr>
          <a:xfrm>
            <a:off x="7031736" y="2212848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91" name="Shape 189"/>
          <p:cNvSpPr/>
          <p:nvPr/>
        </p:nvSpPr>
        <p:spPr>
          <a:xfrm>
            <a:off x="7205472" y="2212848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92" name="Shape 190"/>
          <p:cNvSpPr/>
          <p:nvPr/>
        </p:nvSpPr>
        <p:spPr>
          <a:xfrm>
            <a:off x="7379208" y="221284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3" name="Shape 191"/>
          <p:cNvSpPr/>
          <p:nvPr/>
        </p:nvSpPr>
        <p:spPr>
          <a:xfrm>
            <a:off x="7552944" y="2212848"/>
            <a:ext cx="173736" cy="17373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4" name="Shape 192"/>
          <p:cNvSpPr/>
          <p:nvPr/>
        </p:nvSpPr>
        <p:spPr>
          <a:xfrm>
            <a:off x="7726680" y="2212848"/>
            <a:ext cx="173736" cy="17373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5" name="Shape 193"/>
          <p:cNvSpPr/>
          <p:nvPr/>
        </p:nvSpPr>
        <p:spPr>
          <a:xfrm>
            <a:off x="7900416" y="2212848"/>
            <a:ext cx="173736" cy="17373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6" name="Shape 194"/>
          <p:cNvSpPr/>
          <p:nvPr/>
        </p:nvSpPr>
        <p:spPr>
          <a:xfrm>
            <a:off x="8074152" y="2212848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197" name="Shape 195"/>
          <p:cNvSpPr/>
          <p:nvPr/>
        </p:nvSpPr>
        <p:spPr>
          <a:xfrm>
            <a:off x="8247888" y="2212848"/>
            <a:ext cx="173736" cy="17373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98" name="Shape 196"/>
          <p:cNvSpPr/>
          <p:nvPr/>
        </p:nvSpPr>
        <p:spPr>
          <a:xfrm>
            <a:off x="8421624" y="2212848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99" name="Shape 197"/>
          <p:cNvSpPr/>
          <p:nvPr/>
        </p:nvSpPr>
        <p:spPr>
          <a:xfrm>
            <a:off x="8595360" y="2212848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00" name="Shape 198"/>
          <p:cNvSpPr/>
          <p:nvPr/>
        </p:nvSpPr>
        <p:spPr>
          <a:xfrm>
            <a:off x="8769096" y="2212848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01" name="Shape 199"/>
          <p:cNvSpPr/>
          <p:nvPr/>
        </p:nvSpPr>
        <p:spPr>
          <a:xfrm>
            <a:off x="6858000" y="238658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02" name="Shape 200"/>
          <p:cNvSpPr/>
          <p:nvPr/>
        </p:nvSpPr>
        <p:spPr>
          <a:xfrm>
            <a:off x="7031736" y="238658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03" name="Shape 201"/>
          <p:cNvSpPr/>
          <p:nvPr/>
        </p:nvSpPr>
        <p:spPr>
          <a:xfrm>
            <a:off x="7205472" y="2386584"/>
            <a:ext cx="173736" cy="17373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04" name="Shape 202"/>
          <p:cNvSpPr/>
          <p:nvPr/>
        </p:nvSpPr>
        <p:spPr>
          <a:xfrm>
            <a:off x="7379208" y="2386584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5" name="Shape 203"/>
          <p:cNvSpPr/>
          <p:nvPr/>
        </p:nvSpPr>
        <p:spPr>
          <a:xfrm>
            <a:off x="7552944" y="2386584"/>
            <a:ext cx="173736" cy="17373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6" name="Shape 204"/>
          <p:cNvSpPr/>
          <p:nvPr/>
        </p:nvSpPr>
        <p:spPr>
          <a:xfrm>
            <a:off x="7726680" y="2386584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207" name="Shape 205"/>
          <p:cNvSpPr/>
          <p:nvPr/>
        </p:nvSpPr>
        <p:spPr>
          <a:xfrm>
            <a:off x="7900416" y="2386584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208" name="Shape 206"/>
          <p:cNvSpPr/>
          <p:nvPr/>
        </p:nvSpPr>
        <p:spPr>
          <a:xfrm>
            <a:off x="8074152" y="2386584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209" name="Shape 207"/>
          <p:cNvSpPr/>
          <p:nvPr/>
        </p:nvSpPr>
        <p:spPr>
          <a:xfrm>
            <a:off x="8247888" y="2386584"/>
            <a:ext cx="173736" cy="17373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0" name="Shape 208"/>
          <p:cNvSpPr/>
          <p:nvPr/>
        </p:nvSpPr>
        <p:spPr>
          <a:xfrm>
            <a:off x="8421624" y="2386584"/>
            <a:ext cx="173736" cy="17373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1" name="Shape 209"/>
          <p:cNvSpPr/>
          <p:nvPr/>
        </p:nvSpPr>
        <p:spPr>
          <a:xfrm>
            <a:off x="8595360" y="2386584"/>
            <a:ext cx="173736" cy="17373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2" name="Shape 210"/>
          <p:cNvSpPr/>
          <p:nvPr/>
        </p:nvSpPr>
        <p:spPr>
          <a:xfrm>
            <a:off x="8769096" y="238658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3" name="Shape 211"/>
          <p:cNvSpPr/>
          <p:nvPr/>
        </p:nvSpPr>
        <p:spPr>
          <a:xfrm>
            <a:off x="6858000" y="256032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4" name="Shape 212"/>
          <p:cNvSpPr/>
          <p:nvPr/>
        </p:nvSpPr>
        <p:spPr>
          <a:xfrm>
            <a:off x="7031736" y="256032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5" name="Shape 213"/>
          <p:cNvSpPr/>
          <p:nvPr/>
        </p:nvSpPr>
        <p:spPr>
          <a:xfrm>
            <a:off x="7205472" y="2560320"/>
            <a:ext cx="173736" cy="17373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6" name="Shape 214"/>
          <p:cNvSpPr/>
          <p:nvPr/>
        </p:nvSpPr>
        <p:spPr>
          <a:xfrm>
            <a:off x="7379208" y="2560320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7" name="Shape 215"/>
          <p:cNvSpPr/>
          <p:nvPr/>
        </p:nvSpPr>
        <p:spPr>
          <a:xfrm>
            <a:off x="7552944" y="2560320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218" name="Shape 216"/>
          <p:cNvSpPr/>
          <p:nvPr/>
        </p:nvSpPr>
        <p:spPr>
          <a:xfrm>
            <a:off x="7726680" y="2560320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219" name="Shape 217"/>
          <p:cNvSpPr/>
          <p:nvPr/>
        </p:nvSpPr>
        <p:spPr>
          <a:xfrm>
            <a:off x="7900416" y="2560320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220" name="Shape 218"/>
          <p:cNvSpPr/>
          <p:nvPr/>
        </p:nvSpPr>
        <p:spPr>
          <a:xfrm>
            <a:off x="8074152" y="2560320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221" name="Shape 219"/>
          <p:cNvSpPr/>
          <p:nvPr/>
        </p:nvSpPr>
        <p:spPr>
          <a:xfrm>
            <a:off x="8247888" y="2560320"/>
            <a:ext cx="173736" cy="17373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2" name="Shape 220"/>
          <p:cNvSpPr/>
          <p:nvPr/>
        </p:nvSpPr>
        <p:spPr>
          <a:xfrm>
            <a:off x="8421624" y="2560320"/>
            <a:ext cx="173736" cy="17373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23" name="Shape 221"/>
          <p:cNvSpPr/>
          <p:nvPr/>
        </p:nvSpPr>
        <p:spPr>
          <a:xfrm>
            <a:off x="8595360" y="2560320"/>
            <a:ext cx="173736" cy="17373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24" name="Shape 222"/>
          <p:cNvSpPr/>
          <p:nvPr/>
        </p:nvSpPr>
        <p:spPr>
          <a:xfrm>
            <a:off x="8769096" y="256032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5" name="Shape 223"/>
          <p:cNvSpPr/>
          <p:nvPr/>
        </p:nvSpPr>
        <p:spPr>
          <a:xfrm>
            <a:off x="6858000" y="273405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6" name="Shape 224"/>
          <p:cNvSpPr/>
          <p:nvPr/>
        </p:nvSpPr>
        <p:spPr>
          <a:xfrm>
            <a:off x="7031736" y="273405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7" name="Shape 225"/>
          <p:cNvSpPr/>
          <p:nvPr/>
        </p:nvSpPr>
        <p:spPr>
          <a:xfrm>
            <a:off x="7205472" y="2734056"/>
            <a:ext cx="173736" cy="17373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28" name="Shape 226"/>
          <p:cNvSpPr/>
          <p:nvPr/>
        </p:nvSpPr>
        <p:spPr>
          <a:xfrm>
            <a:off x="7379208" y="2734056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9" name="Shape 227"/>
          <p:cNvSpPr/>
          <p:nvPr/>
        </p:nvSpPr>
        <p:spPr>
          <a:xfrm>
            <a:off x="7552944" y="2734056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230" name="Shape 228"/>
          <p:cNvSpPr/>
          <p:nvPr/>
        </p:nvSpPr>
        <p:spPr>
          <a:xfrm>
            <a:off x="7726680" y="2734056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231" name="Shape 229"/>
          <p:cNvSpPr/>
          <p:nvPr/>
        </p:nvSpPr>
        <p:spPr>
          <a:xfrm>
            <a:off x="7900416" y="2734056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232" name="Shape 230"/>
          <p:cNvSpPr/>
          <p:nvPr/>
        </p:nvSpPr>
        <p:spPr>
          <a:xfrm>
            <a:off x="8074152" y="2734056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233" name="Shape 231"/>
          <p:cNvSpPr/>
          <p:nvPr/>
        </p:nvSpPr>
        <p:spPr>
          <a:xfrm>
            <a:off x="8247888" y="2734056"/>
            <a:ext cx="173736" cy="17373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4" name="Shape 232"/>
          <p:cNvSpPr/>
          <p:nvPr/>
        </p:nvSpPr>
        <p:spPr>
          <a:xfrm>
            <a:off x="8421624" y="2734056"/>
            <a:ext cx="173736" cy="17373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35" name="Shape 233"/>
          <p:cNvSpPr/>
          <p:nvPr/>
        </p:nvSpPr>
        <p:spPr>
          <a:xfrm>
            <a:off x="8595360" y="273405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6" name="Shape 234"/>
          <p:cNvSpPr/>
          <p:nvPr/>
        </p:nvSpPr>
        <p:spPr>
          <a:xfrm>
            <a:off x="8769096" y="273405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7" name="Shape 235"/>
          <p:cNvSpPr/>
          <p:nvPr/>
        </p:nvSpPr>
        <p:spPr>
          <a:xfrm>
            <a:off x="6858000" y="290779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8" name="Shape 236"/>
          <p:cNvSpPr/>
          <p:nvPr/>
        </p:nvSpPr>
        <p:spPr>
          <a:xfrm>
            <a:off x="7031736" y="290779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9" name="Shape 237"/>
          <p:cNvSpPr/>
          <p:nvPr/>
        </p:nvSpPr>
        <p:spPr>
          <a:xfrm>
            <a:off x="7205472" y="2907792"/>
            <a:ext cx="173736" cy="17373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40" name="Shape 238"/>
          <p:cNvSpPr/>
          <p:nvPr/>
        </p:nvSpPr>
        <p:spPr>
          <a:xfrm>
            <a:off x="7379208" y="2907792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1" name="Shape 239"/>
          <p:cNvSpPr/>
          <p:nvPr/>
        </p:nvSpPr>
        <p:spPr>
          <a:xfrm>
            <a:off x="7552944" y="2907792"/>
            <a:ext cx="173736" cy="17373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2" name="Shape 240"/>
          <p:cNvSpPr/>
          <p:nvPr/>
        </p:nvSpPr>
        <p:spPr>
          <a:xfrm>
            <a:off x="7726680" y="2907792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243" name="Shape 241"/>
          <p:cNvSpPr/>
          <p:nvPr/>
        </p:nvSpPr>
        <p:spPr>
          <a:xfrm>
            <a:off x="7900416" y="2907792"/>
            <a:ext cx="173736" cy="17373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4" name="Shape 242"/>
          <p:cNvSpPr/>
          <p:nvPr/>
        </p:nvSpPr>
        <p:spPr>
          <a:xfrm>
            <a:off x="8074152" y="2907792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245" name="Shape 243"/>
          <p:cNvSpPr/>
          <p:nvPr/>
        </p:nvSpPr>
        <p:spPr>
          <a:xfrm>
            <a:off x="8247888" y="2907792"/>
            <a:ext cx="173736" cy="17373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46" name="Shape 244"/>
          <p:cNvSpPr/>
          <p:nvPr/>
        </p:nvSpPr>
        <p:spPr>
          <a:xfrm>
            <a:off x="8421624" y="290779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7" name="Shape 245"/>
          <p:cNvSpPr/>
          <p:nvPr/>
        </p:nvSpPr>
        <p:spPr>
          <a:xfrm>
            <a:off x="8595360" y="290779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8" name="Shape 246"/>
          <p:cNvSpPr/>
          <p:nvPr/>
        </p:nvSpPr>
        <p:spPr>
          <a:xfrm>
            <a:off x="8769096" y="290779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9" name="Shape 247"/>
          <p:cNvSpPr/>
          <p:nvPr/>
        </p:nvSpPr>
        <p:spPr>
          <a:xfrm>
            <a:off x="6858000" y="308152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0" name="Shape 248"/>
          <p:cNvSpPr/>
          <p:nvPr/>
        </p:nvSpPr>
        <p:spPr>
          <a:xfrm>
            <a:off x="7031736" y="308152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1" name="Shape 249"/>
          <p:cNvSpPr/>
          <p:nvPr/>
        </p:nvSpPr>
        <p:spPr>
          <a:xfrm>
            <a:off x="7205472" y="308152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2" name="Shape 250"/>
          <p:cNvSpPr/>
          <p:nvPr/>
        </p:nvSpPr>
        <p:spPr>
          <a:xfrm>
            <a:off x="7379208" y="308152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3" name="Shape 251"/>
          <p:cNvSpPr/>
          <p:nvPr/>
        </p:nvSpPr>
        <p:spPr>
          <a:xfrm>
            <a:off x="7552944" y="308152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4" name="Shape 252"/>
          <p:cNvSpPr/>
          <p:nvPr/>
        </p:nvSpPr>
        <p:spPr>
          <a:xfrm>
            <a:off x="7726680" y="308152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5" name="Shape 253"/>
          <p:cNvSpPr/>
          <p:nvPr/>
        </p:nvSpPr>
        <p:spPr>
          <a:xfrm>
            <a:off x="7900416" y="308152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6" name="Shape 254"/>
          <p:cNvSpPr/>
          <p:nvPr/>
        </p:nvSpPr>
        <p:spPr>
          <a:xfrm>
            <a:off x="8074152" y="308152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7" name="Shape 255"/>
          <p:cNvSpPr/>
          <p:nvPr/>
        </p:nvSpPr>
        <p:spPr>
          <a:xfrm>
            <a:off x="8247888" y="308152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8" name="Shape 256"/>
          <p:cNvSpPr/>
          <p:nvPr/>
        </p:nvSpPr>
        <p:spPr>
          <a:xfrm>
            <a:off x="8421624" y="308152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9" name="Shape 257"/>
          <p:cNvSpPr/>
          <p:nvPr/>
        </p:nvSpPr>
        <p:spPr>
          <a:xfrm>
            <a:off x="8595360" y="308152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0" name="Shape 258"/>
          <p:cNvSpPr/>
          <p:nvPr/>
        </p:nvSpPr>
        <p:spPr>
          <a:xfrm>
            <a:off x="8769096" y="308152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1" name="Shape 259"/>
          <p:cNvSpPr/>
          <p:nvPr/>
        </p:nvSpPr>
        <p:spPr>
          <a:xfrm>
            <a:off x="6858000" y="325526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2" name="Shape 260"/>
          <p:cNvSpPr/>
          <p:nvPr/>
        </p:nvSpPr>
        <p:spPr>
          <a:xfrm>
            <a:off x="7031736" y="325526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3" name="Shape 261"/>
          <p:cNvSpPr/>
          <p:nvPr/>
        </p:nvSpPr>
        <p:spPr>
          <a:xfrm>
            <a:off x="7205472" y="325526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4" name="Shape 262"/>
          <p:cNvSpPr/>
          <p:nvPr/>
        </p:nvSpPr>
        <p:spPr>
          <a:xfrm>
            <a:off x="7379208" y="3255264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5" name="Shape 263"/>
          <p:cNvSpPr/>
          <p:nvPr/>
        </p:nvSpPr>
        <p:spPr>
          <a:xfrm>
            <a:off x="7552944" y="3255264"/>
            <a:ext cx="173736" cy="17373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66" name="Shape 264"/>
          <p:cNvSpPr/>
          <p:nvPr/>
        </p:nvSpPr>
        <p:spPr>
          <a:xfrm>
            <a:off x="7726680" y="3255264"/>
            <a:ext cx="173736" cy="17373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67" name="Shape 265"/>
          <p:cNvSpPr/>
          <p:nvPr/>
        </p:nvSpPr>
        <p:spPr>
          <a:xfrm>
            <a:off x="7900416" y="3255264"/>
            <a:ext cx="173736" cy="17373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68" name="Shape 266"/>
          <p:cNvSpPr/>
          <p:nvPr/>
        </p:nvSpPr>
        <p:spPr>
          <a:xfrm>
            <a:off x="8074152" y="3255264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269" name="Shape 267"/>
          <p:cNvSpPr/>
          <p:nvPr/>
        </p:nvSpPr>
        <p:spPr>
          <a:xfrm>
            <a:off x="8247888" y="325526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0" name="Shape 268"/>
          <p:cNvSpPr/>
          <p:nvPr/>
        </p:nvSpPr>
        <p:spPr>
          <a:xfrm>
            <a:off x="8421624" y="325526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1" name="Shape 269"/>
          <p:cNvSpPr/>
          <p:nvPr/>
        </p:nvSpPr>
        <p:spPr>
          <a:xfrm>
            <a:off x="8595360" y="325526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2" name="Shape 270"/>
          <p:cNvSpPr/>
          <p:nvPr/>
        </p:nvSpPr>
        <p:spPr>
          <a:xfrm>
            <a:off x="8769096" y="325526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3" name="Shape 271"/>
          <p:cNvSpPr/>
          <p:nvPr/>
        </p:nvSpPr>
        <p:spPr>
          <a:xfrm>
            <a:off x="6858000" y="342900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4" name="Shape 272"/>
          <p:cNvSpPr/>
          <p:nvPr/>
        </p:nvSpPr>
        <p:spPr>
          <a:xfrm>
            <a:off x="7031736" y="342900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5" name="Shape 273"/>
          <p:cNvSpPr/>
          <p:nvPr/>
        </p:nvSpPr>
        <p:spPr>
          <a:xfrm>
            <a:off x="7205472" y="342900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6" name="Shape 274"/>
          <p:cNvSpPr/>
          <p:nvPr/>
        </p:nvSpPr>
        <p:spPr>
          <a:xfrm>
            <a:off x="7379208" y="3429000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7" name="Shape 275"/>
          <p:cNvSpPr/>
          <p:nvPr/>
        </p:nvSpPr>
        <p:spPr>
          <a:xfrm>
            <a:off x="7552944" y="342900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8" name="Shape 276"/>
          <p:cNvSpPr/>
          <p:nvPr/>
        </p:nvSpPr>
        <p:spPr>
          <a:xfrm>
            <a:off x="7726680" y="342900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9" name="Shape 277"/>
          <p:cNvSpPr/>
          <p:nvPr/>
        </p:nvSpPr>
        <p:spPr>
          <a:xfrm>
            <a:off x="7900416" y="342900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0" name="Shape 278"/>
          <p:cNvSpPr/>
          <p:nvPr/>
        </p:nvSpPr>
        <p:spPr>
          <a:xfrm>
            <a:off x="8074152" y="3429000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281" name="Shape 279"/>
          <p:cNvSpPr/>
          <p:nvPr/>
        </p:nvSpPr>
        <p:spPr>
          <a:xfrm>
            <a:off x="8247888" y="342900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2" name="Shape 280"/>
          <p:cNvSpPr/>
          <p:nvPr/>
        </p:nvSpPr>
        <p:spPr>
          <a:xfrm>
            <a:off x="8421624" y="342900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3" name="Shape 281"/>
          <p:cNvSpPr/>
          <p:nvPr/>
        </p:nvSpPr>
        <p:spPr>
          <a:xfrm>
            <a:off x="8595360" y="342900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4" name="Shape 282"/>
          <p:cNvSpPr/>
          <p:nvPr/>
        </p:nvSpPr>
        <p:spPr>
          <a:xfrm>
            <a:off x="8769096" y="342900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5" name="Shape 283"/>
          <p:cNvSpPr/>
          <p:nvPr/>
        </p:nvSpPr>
        <p:spPr>
          <a:xfrm>
            <a:off x="6858000" y="360273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6" name="Shape 284"/>
          <p:cNvSpPr/>
          <p:nvPr/>
        </p:nvSpPr>
        <p:spPr>
          <a:xfrm>
            <a:off x="7031736" y="360273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7" name="Shape 285"/>
          <p:cNvSpPr/>
          <p:nvPr/>
        </p:nvSpPr>
        <p:spPr>
          <a:xfrm>
            <a:off x="7205472" y="360273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8" name="Shape 286"/>
          <p:cNvSpPr/>
          <p:nvPr/>
        </p:nvSpPr>
        <p:spPr>
          <a:xfrm>
            <a:off x="7379208" y="3602736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89" name="Shape 287"/>
          <p:cNvSpPr/>
          <p:nvPr/>
        </p:nvSpPr>
        <p:spPr>
          <a:xfrm>
            <a:off x="7552944" y="360273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90" name="Shape 288"/>
          <p:cNvSpPr/>
          <p:nvPr/>
        </p:nvSpPr>
        <p:spPr>
          <a:xfrm>
            <a:off x="7726680" y="360273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91" name="Shape 289"/>
          <p:cNvSpPr/>
          <p:nvPr/>
        </p:nvSpPr>
        <p:spPr>
          <a:xfrm>
            <a:off x="7900416" y="360273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92" name="Shape 290"/>
          <p:cNvSpPr/>
          <p:nvPr/>
        </p:nvSpPr>
        <p:spPr>
          <a:xfrm>
            <a:off x="8074152" y="3602736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293" name="Shape 291"/>
          <p:cNvSpPr/>
          <p:nvPr/>
        </p:nvSpPr>
        <p:spPr>
          <a:xfrm>
            <a:off x="8247888" y="360273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94" name="Shape 292"/>
          <p:cNvSpPr/>
          <p:nvPr/>
        </p:nvSpPr>
        <p:spPr>
          <a:xfrm>
            <a:off x="8421624" y="360273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95" name="Shape 293"/>
          <p:cNvSpPr/>
          <p:nvPr/>
        </p:nvSpPr>
        <p:spPr>
          <a:xfrm>
            <a:off x="8595360" y="360273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96" name="Shape 294"/>
          <p:cNvSpPr/>
          <p:nvPr/>
        </p:nvSpPr>
        <p:spPr>
          <a:xfrm>
            <a:off x="8769096" y="360273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97" name="Shape 295"/>
          <p:cNvSpPr/>
          <p:nvPr/>
        </p:nvSpPr>
        <p:spPr>
          <a:xfrm>
            <a:off x="7761427" y="2629814"/>
            <a:ext cx="156362" cy="15636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298" name="Text 296"/>
          <p:cNvSpPr/>
          <p:nvPr/>
        </p:nvSpPr>
        <p:spPr>
          <a:xfrm>
            <a:off x="918972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확산</a:t>
            </a:r>
            <a:endParaRPr lang="en-US" sz="1500" dirty="0"/>
          </a:p>
        </p:txBody>
      </p:sp>
      <p:sp>
        <p:nvSpPr>
          <p:cNvPr id="299" name="Text 297"/>
          <p:cNvSpPr/>
          <p:nvPr/>
        </p:nvSpPr>
        <p:spPr>
          <a:xfrm>
            <a:off x="9189720" y="2441448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골목을 건너 외곽으로 번짐</a:t>
            </a:r>
            <a:endParaRPr lang="en-US" sz="1150" dirty="0"/>
          </a:p>
        </p:txBody>
      </p:sp>
      <p:sp>
        <p:nvSpPr>
          <p:cNvPr id="300" name="Shape 298"/>
          <p:cNvSpPr/>
          <p:nvPr/>
        </p:nvSpPr>
        <p:spPr>
          <a:xfrm>
            <a:off x="1207008" y="3950208"/>
            <a:ext cx="2231136" cy="2231136"/>
          </a:xfrm>
          <a:prstGeom prst="roundRect">
            <a:avLst>
              <a:gd name="adj" fmla="val 2459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1280160" y="402336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02" name="Shape 300"/>
          <p:cNvSpPr/>
          <p:nvPr/>
        </p:nvSpPr>
        <p:spPr>
          <a:xfrm>
            <a:off x="1453896" y="402336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03" name="Shape 301"/>
          <p:cNvSpPr/>
          <p:nvPr/>
        </p:nvSpPr>
        <p:spPr>
          <a:xfrm>
            <a:off x="1627632" y="402336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04" name="Shape 302"/>
          <p:cNvSpPr/>
          <p:nvPr/>
        </p:nvSpPr>
        <p:spPr>
          <a:xfrm>
            <a:off x="1801368" y="4023360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05" name="Shape 303"/>
          <p:cNvSpPr/>
          <p:nvPr/>
        </p:nvSpPr>
        <p:spPr>
          <a:xfrm>
            <a:off x="1975104" y="402336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06" name="Shape 304"/>
          <p:cNvSpPr/>
          <p:nvPr/>
        </p:nvSpPr>
        <p:spPr>
          <a:xfrm>
            <a:off x="2148840" y="402336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07" name="Shape 305"/>
          <p:cNvSpPr/>
          <p:nvPr/>
        </p:nvSpPr>
        <p:spPr>
          <a:xfrm>
            <a:off x="2322576" y="402336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08" name="Shape 306"/>
          <p:cNvSpPr/>
          <p:nvPr/>
        </p:nvSpPr>
        <p:spPr>
          <a:xfrm>
            <a:off x="2496312" y="4023360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309" name="Shape 307"/>
          <p:cNvSpPr/>
          <p:nvPr/>
        </p:nvSpPr>
        <p:spPr>
          <a:xfrm>
            <a:off x="2670048" y="402336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10" name="Shape 308"/>
          <p:cNvSpPr/>
          <p:nvPr/>
        </p:nvSpPr>
        <p:spPr>
          <a:xfrm>
            <a:off x="2843784" y="402336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11" name="Shape 309"/>
          <p:cNvSpPr/>
          <p:nvPr/>
        </p:nvSpPr>
        <p:spPr>
          <a:xfrm>
            <a:off x="3017520" y="402336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12" name="Shape 310"/>
          <p:cNvSpPr/>
          <p:nvPr/>
        </p:nvSpPr>
        <p:spPr>
          <a:xfrm>
            <a:off x="3191256" y="402336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13" name="Shape 311"/>
          <p:cNvSpPr/>
          <p:nvPr/>
        </p:nvSpPr>
        <p:spPr>
          <a:xfrm>
            <a:off x="1280160" y="419709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14" name="Shape 312"/>
          <p:cNvSpPr/>
          <p:nvPr/>
        </p:nvSpPr>
        <p:spPr>
          <a:xfrm>
            <a:off x="1453896" y="419709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15" name="Shape 313"/>
          <p:cNvSpPr/>
          <p:nvPr/>
        </p:nvSpPr>
        <p:spPr>
          <a:xfrm>
            <a:off x="1627632" y="419709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16" name="Shape 314"/>
          <p:cNvSpPr/>
          <p:nvPr/>
        </p:nvSpPr>
        <p:spPr>
          <a:xfrm>
            <a:off x="1801368" y="4197096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17" name="Shape 315"/>
          <p:cNvSpPr/>
          <p:nvPr/>
        </p:nvSpPr>
        <p:spPr>
          <a:xfrm>
            <a:off x="1975104" y="419709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18" name="Shape 316"/>
          <p:cNvSpPr/>
          <p:nvPr/>
        </p:nvSpPr>
        <p:spPr>
          <a:xfrm>
            <a:off x="2148840" y="419709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19" name="Shape 317"/>
          <p:cNvSpPr/>
          <p:nvPr/>
        </p:nvSpPr>
        <p:spPr>
          <a:xfrm>
            <a:off x="2322576" y="419709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20" name="Shape 318"/>
          <p:cNvSpPr/>
          <p:nvPr/>
        </p:nvSpPr>
        <p:spPr>
          <a:xfrm>
            <a:off x="2496312" y="4197096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321" name="Shape 319"/>
          <p:cNvSpPr/>
          <p:nvPr/>
        </p:nvSpPr>
        <p:spPr>
          <a:xfrm>
            <a:off x="2670048" y="419709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22" name="Shape 320"/>
          <p:cNvSpPr/>
          <p:nvPr/>
        </p:nvSpPr>
        <p:spPr>
          <a:xfrm>
            <a:off x="2843784" y="419709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23" name="Shape 321"/>
          <p:cNvSpPr/>
          <p:nvPr/>
        </p:nvSpPr>
        <p:spPr>
          <a:xfrm>
            <a:off x="3017520" y="419709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24" name="Shape 322"/>
          <p:cNvSpPr/>
          <p:nvPr/>
        </p:nvSpPr>
        <p:spPr>
          <a:xfrm>
            <a:off x="3191256" y="419709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25" name="Shape 323"/>
          <p:cNvSpPr/>
          <p:nvPr/>
        </p:nvSpPr>
        <p:spPr>
          <a:xfrm>
            <a:off x="1280160" y="437083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26" name="Shape 324"/>
          <p:cNvSpPr/>
          <p:nvPr/>
        </p:nvSpPr>
        <p:spPr>
          <a:xfrm>
            <a:off x="1453896" y="437083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27" name="Shape 325"/>
          <p:cNvSpPr/>
          <p:nvPr/>
        </p:nvSpPr>
        <p:spPr>
          <a:xfrm>
            <a:off x="1627632" y="437083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28" name="Shape 326"/>
          <p:cNvSpPr/>
          <p:nvPr/>
        </p:nvSpPr>
        <p:spPr>
          <a:xfrm>
            <a:off x="1801368" y="4370832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29" name="Shape 327"/>
          <p:cNvSpPr/>
          <p:nvPr/>
        </p:nvSpPr>
        <p:spPr>
          <a:xfrm>
            <a:off x="1975104" y="4370832"/>
            <a:ext cx="173736" cy="17373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30" name="Shape 328"/>
          <p:cNvSpPr/>
          <p:nvPr/>
        </p:nvSpPr>
        <p:spPr>
          <a:xfrm>
            <a:off x="2148840" y="4370832"/>
            <a:ext cx="173736" cy="17373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31" name="Shape 329"/>
          <p:cNvSpPr/>
          <p:nvPr/>
        </p:nvSpPr>
        <p:spPr>
          <a:xfrm>
            <a:off x="2322576" y="4370832"/>
            <a:ext cx="173736" cy="17373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32" name="Shape 330"/>
          <p:cNvSpPr/>
          <p:nvPr/>
        </p:nvSpPr>
        <p:spPr>
          <a:xfrm>
            <a:off x="2496312" y="4370832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333" name="Shape 331"/>
          <p:cNvSpPr/>
          <p:nvPr/>
        </p:nvSpPr>
        <p:spPr>
          <a:xfrm>
            <a:off x="2670048" y="437083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34" name="Shape 332"/>
          <p:cNvSpPr/>
          <p:nvPr/>
        </p:nvSpPr>
        <p:spPr>
          <a:xfrm>
            <a:off x="2843784" y="437083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35" name="Shape 333"/>
          <p:cNvSpPr/>
          <p:nvPr/>
        </p:nvSpPr>
        <p:spPr>
          <a:xfrm>
            <a:off x="3017520" y="437083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36" name="Shape 334"/>
          <p:cNvSpPr/>
          <p:nvPr/>
        </p:nvSpPr>
        <p:spPr>
          <a:xfrm>
            <a:off x="3191256" y="437083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37" name="Shape 335"/>
          <p:cNvSpPr/>
          <p:nvPr/>
        </p:nvSpPr>
        <p:spPr>
          <a:xfrm>
            <a:off x="1280160" y="4544568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38" name="Shape 336"/>
          <p:cNvSpPr/>
          <p:nvPr/>
        </p:nvSpPr>
        <p:spPr>
          <a:xfrm>
            <a:off x="1453896" y="4544568"/>
            <a:ext cx="173736" cy="173736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339" name="Shape 337"/>
          <p:cNvSpPr/>
          <p:nvPr/>
        </p:nvSpPr>
        <p:spPr>
          <a:xfrm>
            <a:off x="1627632" y="4544568"/>
            <a:ext cx="173736" cy="173736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340" name="Shape 338"/>
          <p:cNvSpPr/>
          <p:nvPr/>
        </p:nvSpPr>
        <p:spPr>
          <a:xfrm>
            <a:off x="1801368" y="454456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41" name="Shape 339"/>
          <p:cNvSpPr/>
          <p:nvPr/>
        </p:nvSpPr>
        <p:spPr>
          <a:xfrm>
            <a:off x="1975104" y="4544568"/>
            <a:ext cx="173736" cy="17373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42" name="Shape 340"/>
          <p:cNvSpPr/>
          <p:nvPr/>
        </p:nvSpPr>
        <p:spPr>
          <a:xfrm>
            <a:off x="2148840" y="4544568"/>
            <a:ext cx="173736" cy="17373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3" name="Shape 341"/>
          <p:cNvSpPr/>
          <p:nvPr/>
        </p:nvSpPr>
        <p:spPr>
          <a:xfrm>
            <a:off x="2322576" y="4544568"/>
            <a:ext cx="173736" cy="17373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4" name="Shape 342"/>
          <p:cNvSpPr/>
          <p:nvPr/>
        </p:nvSpPr>
        <p:spPr>
          <a:xfrm>
            <a:off x="2496312" y="4544568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345" name="Shape 343"/>
          <p:cNvSpPr/>
          <p:nvPr/>
        </p:nvSpPr>
        <p:spPr>
          <a:xfrm>
            <a:off x="2670048" y="4544568"/>
            <a:ext cx="173736" cy="17373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46" name="Shape 344"/>
          <p:cNvSpPr/>
          <p:nvPr/>
        </p:nvSpPr>
        <p:spPr>
          <a:xfrm>
            <a:off x="2843784" y="4544568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47" name="Shape 345"/>
          <p:cNvSpPr/>
          <p:nvPr/>
        </p:nvSpPr>
        <p:spPr>
          <a:xfrm>
            <a:off x="3017520" y="4544568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48" name="Shape 346"/>
          <p:cNvSpPr/>
          <p:nvPr/>
        </p:nvSpPr>
        <p:spPr>
          <a:xfrm>
            <a:off x="3191256" y="4544568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49" name="Shape 347"/>
          <p:cNvSpPr/>
          <p:nvPr/>
        </p:nvSpPr>
        <p:spPr>
          <a:xfrm>
            <a:off x="1280160" y="471830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50" name="Shape 348"/>
          <p:cNvSpPr/>
          <p:nvPr/>
        </p:nvSpPr>
        <p:spPr>
          <a:xfrm>
            <a:off x="1453896" y="4718304"/>
            <a:ext cx="173736" cy="173736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351" name="Shape 349"/>
          <p:cNvSpPr/>
          <p:nvPr/>
        </p:nvSpPr>
        <p:spPr>
          <a:xfrm>
            <a:off x="1627632" y="4718304"/>
            <a:ext cx="173736" cy="17373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52" name="Shape 350"/>
          <p:cNvSpPr/>
          <p:nvPr/>
        </p:nvSpPr>
        <p:spPr>
          <a:xfrm>
            <a:off x="1801368" y="4718304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53" name="Shape 351"/>
          <p:cNvSpPr/>
          <p:nvPr/>
        </p:nvSpPr>
        <p:spPr>
          <a:xfrm>
            <a:off x="1975104" y="4718304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54" name="Shape 352"/>
          <p:cNvSpPr/>
          <p:nvPr/>
        </p:nvSpPr>
        <p:spPr>
          <a:xfrm>
            <a:off x="2148840" y="4718304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55" name="Shape 353"/>
          <p:cNvSpPr/>
          <p:nvPr/>
        </p:nvSpPr>
        <p:spPr>
          <a:xfrm>
            <a:off x="2322576" y="4718304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56" name="Shape 354"/>
          <p:cNvSpPr/>
          <p:nvPr/>
        </p:nvSpPr>
        <p:spPr>
          <a:xfrm>
            <a:off x="2496312" y="4718304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357" name="Shape 355"/>
          <p:cNvSpPr/>
          <p:nvPr/>
        </p:nvSpPr>
        <p:spPr>
          <a:xfrm>
            <a:off x="2670048" y="4718304"/>
            <a:ext cx="173736" cy="17373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58" name="Shape 356"/>
          <p:cNvSpPr/>
          <p:nvPr/>
        </p:nvSpPr>
        <p:spPr>
          <a:xfrm>
            <a:off x="2843784" y="4718304"/>
            <a:ext cx="173736" cy="173736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359" name="Shape 357"/>
          <p:cNvSpPr/>
          <p:nvPr/>
        </p:nvSpPr>
        <p:spPr>
          <a:xfrm>
            <a:off x="3017520" y="471830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60" name="Shape 358"/>
          <p:cNvSpPr/>
          <p:nvPr/>
        </p:nvSpPr>
        <p:spPr>
          <a:xfrm>
            <a:off x="3191256" y="471830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61" name="Shape 359"/>
          <p:cNvSpPr/>
          <p:nvPr/>
        </p:nvSpPr>
        <p:spPr>
          <a:xfrm>
            <a:off x="1280160" y="489204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62" name="Shape 360"/>
          <p:cNvSpPr/>
          <p:nvPr/>
        </p:nvSpPr>
        <p:spPr>
          <a:xfrm>
            <a:off x="1453896" y="4892040"/>
            <a:ext cx="173736" cy="173736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363" name="Shape 361"/>
          <p:cNvSpPr/>
          <p:nvPr/>
        </p:nvSpPr>
        <p:spPr>
          <a:xfrm>
            <a:off x="1627632" y="4892040"/>
            <a:ext cx="173736" cy="17373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64" name="Shape 362"/>
          <p:cNvSpPr/>
          <p:nvPr/>
        </p:nvSpPr>
        <p:spPr>
          <a:xfrm>
            <a:off x="1801368" y="4892040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65" name="Shape 363"/>
          <p:cNvSpPr/>
          <p:nvPr/>
        </p:nvSpPr>
        <p:spPr>
          <a:xfrm>
            <a:off x="1975104" y="4892040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66" name="Shape 364"/>
          <p:cNvSpPr/>
          <p:nvPr/>
        </p:nvSpPr>
        <p:spPr>
          <a:xfrm>
            <a:off x="2148840" y="4892040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67" name="Shape 365"/>
          <p:cNvSpPr/>
          <p:nvPr/>
        </p:nvSpPr>
        <p:spPr>
          <a:xfrm>
            <a:off x="2322576" y="4892040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68" name="Shape 366"/>
          <p:cNvSpPr/>
          <p:nvPr/>
        </p:nvSpPr>
        <p:spPr>
          <a:xfrm>
            <a:off x="2496312" y="4892040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369" name="Shape 367"/>
          <p:cNvSpPr/>
          <p:nvPr/>
        </p:nvSpPr>
        <p:spPr>
          <a:xfrm>
            <a:off x="2670048" y="4892040"/>
            <a:ext cx="173736" cy="17373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70" name="Shape 368"/>
          <p:cNvSpPr/>
          <p:nvPr/>
        </p:nvSpPr>
        <p:spPr>
          <a:xfrm>
            <a:off x="2843784" y="4892040"/>
            <a:ext cx="173736" cy="173736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371" name="Shape 369"/>
          <p:cNvSpPr/>
          <p:nvPr/>
        </p:nvSpPr>
        <p:spPr>
          <a:xfrm>
            <a:off x="3017520" y="489204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72" name="Shape 370"/>
          <p:cNvSpPr/>
          <p:nvPr/>
        </p:nvSpPr>
        <p:spPr>
          <a:xfrm>
            <a:off x="3191256" y="489204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73" name="Shape 371"/>
          <p:cNvSpPr/>
          <p:nvPr/>
        </p:nvSpPr>
        <p:spPr>
          <a:xfrm>
            <a:off x="1280160" y="506577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74" name="Shape 372"/>
          <p:cNvSpPr/>
          <p:nvPr/>
        </p:nvSpPr>
        <p:spPr>
          <a:xfrm>
            <a:off x="1453896" y="5065776"/>
            <a:ext cx="173736" cy="173736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375" name="Shape 373"/>
          <p:cNvSpPr/>
          <p:nvPr/>
        </p:nvSpPr>
        <p:spPr>
          <a:xfrm>
            <a:off x="1627632" y="5065776"/>
            <a:ext cx="173736" cy="17373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76" name="Shape 374"/>
          <p:cNvSpPr/>
          <p:nvPr/>
        </p:nvSpPr>
        <p:spPr>
          <a:xfrm>
            <a:off x="1801368" y="5065776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77" name="Shape 375"/>
          <p:cNvSpPr/>
          <p:nvPr/>
        </p:nvSpPr>
        <p:spPr>
          <a:xfrm>
            <a:off x="1975104" y="5065776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78" name="Shape 376"/>
          <p:cNvSpPr/>
          <p:nvPr/>
        </p:nvSpPr>
        <p:spPr>
          <a:xfrm>
            <a:off x="2148840" y="5065776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79" name="Shape 377"/>
          <p:cNvSpPr/>
          <p:nvPr/>
        </p:nvSpPr>
        <p:spPr>
          <a:xfrm>
            <a:off x="2322576" y="5065776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80" name="Shape 378"/>
          <p:cNvSpPr/>
          <p:nvPr/>
        </p:nvSpPr>
        <p:spPr>
          <a:xfrm>
            <a:off x="2496312" y="5065776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381" name="Shape 379"/>
          <p:cNvSpPr/>
          <p:nvPr/>
        </p:nvSpPr>
        <p:spPr>
          <a:xfrm>
            <a:off x="2670048" y="5065776"/>
            <a:ext cx="173736" cy="17373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82" name="Shape 380"/>
          <p:cNvSpPr/>
          <p:nvPr/>
        </p:nvSpPr>
        <p:spPr>
          <a:xfrm>
            <a:off x="2843784" y="506577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83" name="Shape 381"/>
          <p:cNvSpPr/>
          <p:nvPr/>
        </p:nvSpPr>
        <p:spPr>
          <a:xfrm>
            <a:off x="3017520" y="506577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84" name="Shape 382"/>
          <p:cNvSpPr/>
          <p:nvPr/>
        </p:nvSpPr>
        <p:spPr>
          <a:xfrm>
            <a:off x="3191256" y="506577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85" name="Shape 383"/>
          <p:cNvSpPr/>
          <p:nvPr/>
        </p:nvSpPr>
        <p:spPr>
          <a:xfrm>
            <a:off x="1280160" y="523951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86" name="Shape 384"/>
          <p:cNvSpPr/>
          <p:nvPr/>
        </p:nvSpPr>
        <p:spPr>
          <a:xfrm>
            <a:off x="1453896" y="5239512"/>
            <a:ext cx="173736" cy="173736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387" name="Shape 385"/>
          <p:cNvSpPr/>
          <p:nvPr/>
        </p:nvSpPr>
        <p:spPr>
          <a:xfrm>
            <a:off x="1627632" y="5239512"/>
            <a:ext cx="173736" cy="17373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88" name="Shape 386"/>
          <p:cNvSpPr/>
          <p:nvPr/>
        </p:nvSpPr>
        <p:spPr>
          <a:xfrm>
            <a:off x="1801368" y="5239512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89" name="Shape 387"/>
          <p:cNvSpPr/>
          <p:nvPr/>
        </p:nvSpPr>
        <p:spPr>
          <a:xfrm>
            <a:off x="1975104" y="5239512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90" name="Shape 388"/>
          <p:cNvSpPr/>
          <p:nvPr/>
        </p:nvSpPr>
        <p:spPr>
          <a:xfrm>
            <a:off x="2148840" y="5239512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91" name="Shape 389"/>
          <p:cNvSpPr/>
          <p:nvPr/>
        </p:nvSpPr>
        <p:spPr>
          <a:xfrm>
            <a:off x="2322576" y="5239512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92" name="Shape 390"/>
          <p:cNvSpPr/>
          <p:nvPr/>
        </p:nvSpPr>
        <p:spPr>
          <a:xfrm>
            <a:off x="2496312" y="5239512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393" name="Shape 391"/>
          <p:cNvSpPr/>
          <p:nvPr/>
        </p:nvSpPr>
        <p:spPr>
          <a:xfrm>
            <a:off x="2670048" y="5239512"/>
            <a:ext cx="173736" cy="17373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94" name="Shape 392"/>
          <p:cNvSpPr/>
          <p:nvPr/>
        </p:nvSpPr>
        <p:spPr>
          <a:xfrm>
            <a:off x="2843784" y="523951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95" name="Shape 393"/>
          <p:cNvSpPr/>
          <p:nvPr/>
        </p:nvSpPr>
        <p:spPr>
          <a:xfrm>
            <a:off x="3017520" y="523951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96" name="Shape 394"/>
          <p:cNvSpPr/>
          <p:nvPr/>
        </p:nvSpPr>
        <p:spPr>
          <a:xfrm>
            <a:off x="3191256" y="523951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97" name="Shape 395"/>
          <p:cNvSpPr/>
          <p:nvPr/>
        </p:nvSpPr>
        <p:spPr>
          <a:xfrm>
            <a:off x="1280160" y="541324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98" name="Shape 396"/>
          <p:cNvSpPr/>
          <p:nvPr/>
        </p:nvSpPr>
        <p:spPr>
          <a:xfrm>
            <a:off x="1453896" y="541324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99" name="Shape 397"/>
          <p:cNvSpPr/>
          <p:nvPr/>
        </p:nvSpPr>
        <p:spPr>
          <a:xfrm>
            <a:off x="1627632" y="541324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00" name="Shape 398"/>
          <p:cNvSpPr/>
          <p:nvPr/>
        </p:nvSpPr>
        <p:spPr>
          <a:xfrm>
            <a:off x="1801368" y="541324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01" name="Shape 399"/>
          <p:cNvSpPr/>
          <p:nvPr/>
        </p:nvSpPr>
        <p:spPr>
          <a:xfrm>
            <a:off x="1975104" y="541324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02" name="Shape 400"/>
          <p:cNvSpPr/>
          <p:nvPr/>
        </p:nvSpPr>
        <p:spPr>
          <a:xfrm>
            <a:off x="2148840" y="541324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03" name="Shape 401"/>
          <p:cNvSpPr/>
          <p:nvPr/>
        </p:nvSpPr>
        <p:spPr>
          <a:xfrm>
            <a:off x="2322576" y="541324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04" name="Shape 402"/>
          <p:cNvSpPr/>
          <p:nvPr/>
        </p:nvSpPr>
        <p:spPr>
          <a:xfrm>
            <a:off x="2496312" y="541324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05" name="Shape 403"/>
          <p:cNvSpPr/>
          <p:nvPr/>
        </p:nvSpPr>
        <p:spPr>
          <a:xfrm>
            <a:off x="2670048" y="541324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06" name="Shape 404"/>
          <p:cNvSpPr/>
          <p:nvPr/>
        </p:nvSpPr>
        <p:spPr>
          <a:xfrm>
            <a:off x="2843784" y="541324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07" name="Shape 405"/>
          <p:cNvSpPr/>
          <p:nvPr/>
        </p:nvSpPr>
        <p:spPr>
          <a:xfrm>
            <a:off x="3017520" y="541324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08" name="Shape 406"/>
          <p:cNvSpPr/>
          <p:nvPr/>
        </p:nvSpPr>
        <p:spPr>
          <a:xfrm>
            <a:off x="3191256" y="541324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09" name="Shape 407"/>
          <p:cNvSpPr/>
          <p:nvPr/>
        </p:nvSpPr>
        <p:spPr>
          <a:xfrm>
            <a:off x="1280160" y="558698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10" name="Shape 408"/>
          <p:cNvSpPr/>
          <p:nvPr/>
        </p:nvSpPr>
        <p:spPr>
          <a:xfrm>
            <a:off x="1453896" y="558698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11" name="Shape 409"/>
          <p:cNvSpPr/>
          <p:nvPr/>
        </p:nvSpPr>
        <p:spPr>
          <a:xfrm>
            <a:off x="1627632" y="5586984"/>
            <a:ext cx="173736" cy="173736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412" name="Shape 410"/>
          <p:cNvSpPr/>
          <p:nvPr/>
        </p:nvSpPr>
        <p:spPr>
          <a:xfrm>
            <a:off x="1801368" y="5586984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13" name="Shape 411"/>
          <p:cNvSpPr/>
          <p:nvPr/>
        </p:nvSpPr>
        <p:spPr>
          <a:xfrm>
            <a:off x="1975104" y="5586984"/>
            <a:ext cx="173736" cy="173736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414" name="Shape 412"/>
          <p:cNvSpPr/>
          <p:nvPr/>
        </p:nvSpPr>
        <p:spPr>
          <a:xfrm>
            <a:off x="2148840" y="5586984"/>
            <a:ext cx="173736" cy="17373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15" name="Shape 413"/>
          <p:cNvSpPr/>
          <p:nvPr/>
        </p:nvSpPr>
        <p:spPr>
          <a:xfrm>
            <a:off x="2322576" y="5586984"/>
            <a:ext cx="173736" cy="17373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16" name="Shape 414"/>
          <p:cNvSpPr/>
          <p:nvPr/>
        </p:nvSpPr>
        <p:spPr>
          <a:xfrm>
            <a:off x="2496312" y="5586984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417" name="Shape 415"/>
          <p:cNvSpPr/>
          <p:nvPr/>
        </p:nvSpPr>
        <p:spPr>
          <a:xfrm>
            <a:off x="2670048" y="5586984"/>
            <a:ext cx="173736" cy="173736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418" name="Shape 416"/>
          <p:cNvSpPr/>
          <p:nvPr/>
        </p:nvSpPr>
        <p:spPr>
          <a:xfrm>
            <a:off x="2843784" y="558698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19" name="Shape 417"/>
          <p:cNvSpPr/>
          <p:nvPr/>
        </p:nvSpPr>
        <p:spPr>
          <a:xfrm>
            <a:off x="3017520" y="558698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20" name="Shape 418"/>
          <p:cNvSpPr/>
          <p:nvPr/>
        </p:nvSpPr>
        <p:spPr>
          <a:xfrm>
            <a:off x="3191256" y="558698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21" name="Shape 419"/>
          <p:cNvSpPr/>
          <p:nvPr/>
        </p:nvSpPr>
        <p:spPr>
          <a:xfrm>
            <a:off x="1280160" y="576072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22" name="Shape 420"/>
          <p:cNvSpPr/>
          <p:nvPr/>
        </p:nvSpPr>
        <p:spPr>
          <a:xfrm>
            <a:off x="1453896" y="576072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23" name="Shape 421"/>
          <p:cNvSpPr/>
          <p:nvPr/>
        </p:nvSpPr>
        <p:spPr>
          <a:xfrm>
            <a:off x="1627632" y="576072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24" name="Shape 422"/>
          <p:cNvSpPr/>
          <p:nvPr/>
        </p:nvSpPr>
        <p:spPr>
          <a:xfrm>
            <a:off x="1801368" y="5760720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25" name="Shape 423"/>
          <p:cNvSpPr/>
          <p:nvPr/>
        </p:nvSpPr>
        <p:spPr>
          <a:xfrm>
            <a:off x="1975104" y="5760720"/>
            <a:ext cx="173736" cy="173736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426" name="Shape 424"/>
          <p:cNvSpPr/>
          <p:nvPr/>
        </p:nvSpPr>
        <p:spPr>
          <a:xfrm>
            <a:off x="2148840" y="5760720"/>
            <a:ext cx="173736" cy="173736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427" name="Shape 425"/>
          <p:cNvSpPr/>
          <p:nvPr/>
        </p:nvSpPr>
        <p:spPr>
          <a:xfrm>
            <a:off x="2322576" y="5760720"/>
            <a:ext cx="173736" cy="173736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428" name="Shape 426"/>
          <p:cNvSpPr/>
          <p:nvPr/>
        </p:nvSpPr>
        <p:spPr>
          <a:xfrm>
            <a:off x="2496312" y="5760720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429" name="Shape 427"/>
          <p:cNvSpPr/>
          <p:nvPr/>
        </p:nvSpPr>
        <p:spPr>
          <a:xfrm>
            <a:off x="2670048" y="576072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30" name="Shape 428"/>
          <p:cNvSpPr/>
          <p:nvPr/>
        </p:nvSpPr>
        <p:spPr>
          <a:xfrm>
            <a:off x="2843784" y="576072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31" name="Shape 429"/>
          <p:cNvSpPr/>
          <p:nvPr/>
        </p:nvSpPr>
        <p:spPr>
          <a:xfrm>
            <a:off x="3017520" y="576072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32" name="Shape 430"/>
          <p:cNvSpPr/>
          <p:nvPr/>
        </p:nvSpPr>
        <p:spPr>
          <a:xfrm>
            <a:off x="3191256" y="576072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33" name="Shape 431"/>
          <p:cNvSpPr/>
          <p:nvPr/>
        </p:nvSpPr>
        <p:spPr>
          <a:xfrm>
            <a:off x="1280160" y="593445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34" name="Shape 432"/>
          <p:cNvSpPr/>
          <p:nvPr/>
        </p:nvSpPr>
        <p:spPr>
          <a:xfrm>
            <a:off x="1453896" y="593445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35" name="Shape 433"/>
          <p:cNvSpPr/>
          <p:nvPr/>
        </p:nvSpPr>
        <p:spPr>
          <a:xfrm>
            <a:off x="1627632" y="593445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36" name="Shape 434"/>
          <p:cNvSpPr/>
          <p:nvPr/>
        </p:nvSpPr>
        <p:spPr>
          <a:xfrm>
            <a:off x="1801368" y="5934456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37" name="Shape 435"/>
          <p:cNvSpPr/>
          <p:nvPr/>
        </p:nvSpPr>
        <p:spPr>
          <a:xfrm>
            <a:off x="1975104" y="593445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38" name="Shape 436"/>
          <p:cNvSpPr/>
          <p:nvPr/>
        </p:nvSpPr>
        <p:spPr>
          <a:xfrm>
            <a:off x="2148840" y="593445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39" name="Shape 437"/>
          <p:cNvSpPr/>
          <p:nvPr/>
        </p:nvSpPr>
        <p:spPr>
          <a:xfrm>
            <a:off x="2322576" y="593445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40" name="Shape 438"/>
          <p:cNvSpPr/>
          <p:nvPr/>
        </p:nvSpPr>
        <p:spPr>
          <a:xfrm>
            <a:off x="2496312" y="5934456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441" name="Shape 439"/>
          <p:cNvSpPr/>
          <p:nvPr/>
        </p:nvSpPr>
        <p:spPr>
          <a:xfrm>
            <a:off x="2670048" y="593445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42" name="Shape 440"/>
          <p:cNvSpPr/>
          <p:nvPr/>
        </p:nvSpPr>
        <p:spPr>
          <a:xfrm>
            <a:off x="2843784" y="593445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43" name="Shape 441"/>
          <p:cNvSpPr/>
          <p:nvPr/>
        </p:nvSpPr>
        <p:spPr>
          <a:xfrm>
            <a:off x="3017520" y="593445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44" name="Shape 442"/>
          <p:cNvSpPr/>
          <p:nvPr/>
        </p:nvSpPr>
        <p:spPr>
          <a:xfrm>
            <a:off x="3191256" y="593445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45" name="Shape 443"/>
          <p:cNvSpPr/>
          <p:nvPr/>
        </p:nvSpPr>
        <p:spPr>
          <a:xfrm>
            <a:off x="2183587" y="4961534"/>
            <a:ext cx="156362" cy="15636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>
            <a:off x="2148840" y="4544568"/>
            <a:ext cx="125090" cy="12509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>
            <a:off x="2843784" y="4718304"/>
            <a:ext cx="125090" cy="12509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1975104" y="5413248"/>
            <a:ext cx="125090" cy="12509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>
            <a:off x="2496312" y="5239512"/>
            <a:ext cx="125090" cy="12509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>
            <a:off x="2496312" y="4370832"/>
            <a:ext cx="125090" cy="12509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51" name="Text 449"/>
          <p:cNvSpPr/>
          <p:nvPr/>
        </p:nvSpPr>
        <p:spPr>
          <a:xfrm>
            <a:off x="3611880" y="4343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포위 진압</a:t>
            </a:r>
            <a:endParaRPr lang="en-US" sz="1500" dirty="0"/>
          </a:p>
        </p:txBody>
      </p:sp>
      <p:sp>
        <p:nvSpPr>
          <p:cNvPr id="452" name="Text 450"/>
          <p:cNvSpPr/>
          <p:nvPr/>
        </p:nvSpPr>
        <p:spPr>
          <a:xfrm>
            <a:off x="3611880" y="4773168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 편대 외곽 화선 차단</a:t>
            </a:r>
            <a:endParaRPr lang="en-US" sz="1150" dirty="0"/>
          </a:p>
        </p:txBody>
      </p:sp>
      <p:sp>
        <p:nvSpPr>
          <p:cNvPr id="453" name="Shape 451"/>
          <p:cNvSpPr/>
          <p:nvPr/>
        </p:nvSpPr>
        <p:spPr>
          <a:xfrm>
            <a:off x="6784848" y="3950208"/>
            <a:ext cx="2231136" cy="2231136"/>
          </a:xfrm>
          <a:prstGeom prst="roundRect">
            <a:avLst>
              <a:gd name="adj" fmla="val 2459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>
            <a:off x="6858000" y="402336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55" name="Shape 453"/>
          <p:cNvSpPr/>
          <p:nvPr/>
        </p:nvSpPr>
        <p:spPr>
          <a:xfrm>
            <a:off x="7031736" y="402336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56" name="Shape 454"/>
          <p:cNvSpPr/>
          <p:nvPr/>
        </p:nvSpPr>
        <p:spPr>
          <a:xfrm>
            <a:off x="7205472" y="402336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57" name="Shape 455"/>
          <p:cNvSpPr/>
          <p:nvPr/>
        </p:nvSpPr>
        <p:spPr>
          <a:xfrm>
            <a:off x="7379208" y="4023360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58" name="Shape 456"/>
          <p:cNvSpPr/>
          <p:nvPr/>
        </p:nvSpPr>
        <p:spPr>
          <a:xfrm>
            <a:off x="7552944" y="402336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59" name="Shape 457"/>
          <p:cNvSpPr/>
          <p:nvPr/>
        </p:nvSpPr>
        <p:spPr>
          <a:xfrm>
            <a:off x="7726680" y="402336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60" name="Shape 458"/>
          <p:cNvSpPr/>
          <p:nvPr/>
        </p:nvSpPr>
        <p:spPr>
          <a:xfrm>
            <a:off x="7900416" y="402336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61" name="Shape 459"/>
          <p:cNvSpPr/>
          <p:nvPr/>
        </p:nvSpPr>
        <p:spPr>
          <a:xfrm>
            <a:off x="8074152" y="4023360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462" name="Shape 460"/>
          <p:cNvSpPr/>
          <p:nvPr/>
        </p:nvSpPr>
        <p:spPr>
          <a:xfrm>
            <a:off x="8247888" y="402336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63" name="Shape 461"/>
          <p:cNvSpPr/>
          <p:nvPr/>
        </p:nvSpPr>
        <p:spPr>
          <a:xfrm>
            <a:off x="8421624" y="402336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64" name="Shape 462"/>
          <p:cNvSpPr/>
          <p:nvPr/>
        </p:nvSpPr>
        <p:spPr>
          <a:xfrm>
            <a:off x="8595360" y="402336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65" name="Shape 463"/>
          <p:cNvSpPr/>
          <p:nvPr/>
        </p:nvSpPr>
        <p:spPr>
          <a:xfrm>
            <a:off x="8769096" y="402336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66" name="Shape 464"/>
          <p:cNvSpPr/>
          <p:nvPr/>
        </p:nvSpPr>
        <p:spPr>
          <a:xfrm>
            <a:off x="6858000" y="419709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67" name="Shape 465"/>
          <p:cNvSpPr/>
          <p:nvPr/>
        </p:nvSpPr>
        <p:spPr>
          <a:xfrm>
            <a:off x="7031736" y="419709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68" name="Shape 466"/>
          <p:cNvSpPr/>
          <p:nvPr/>
        </p:nvSpPr>
        <p:spPr>
          <a:xfrm>
            <a:off x="7205472" y="419709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69" name="Shape 467"/>
          <p:cNvSpPr/>
          <p:nvPr/>
        </p:nvSpPr>
        <p:spPr>
          <a:xfrm>
            <a:off x="7379208" y="4197096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70" name="Shape 468"/>
          <p:cNvSpPr/>
          <p:nvPr/>
        </p:nvSpPr>
        <p:spPr>
          <a:xfrm>
            <a:off x="7552944" y="4197096"/>
            <a:ext cx="173736" cy="173736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471" name="Shape 469"/>
          <p:cNvSpPr/>
          <p:nvPr/>
        </p:nvSpPr>
        <p:spPr>
          <a:xfrm>
            <a:off x="7726680" y="4197096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472" name="Shape 470"/>
          <p:cNvSpPr/>
          <p:nvPr/>
        </p:nvSpPr>
        <p:spPr>
          <a:xfrm>
            <a:off x="7900416" y="4197096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473" name="Shape 471"/>
          <p:cNvSpPr/>
          <p:nvPr/>
        </p:nvSpPr>
        <p:spPr>
          <a:xfrm>
            <a:off x="8074152" y="4197096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474" name="Shape 472"/>
          <p:cNvSpPr/>
          <p:nvPr/>
        </p:nvSpPr>
        <p:spPr>
          <a:xfrm>
            <a:off x="8247888" y="419709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75" name="Shape 473"/>
          <p:cNvSpPr/>
          <p:nvPr/>
        </p:nvSpPr>
        <p:spPr>
          <a:xfrm>
            <a:off x="8421624" y="419709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76" name="Shape 474"/>
          <p:cNvSpPr/>
          <p:nvPr/>
        </p:nvSpPr>
        <p:spPr>
          <a:xfrm>
            <a:off x="8595360" y="419709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77" name="Shape 475"/>
          <p:cNvSpPr/>
          <p:nvPr/>
        </p:nvSpPr>
        <p:spPr>
          <a:xfrm>
            <a:off x="8769096" y="419709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78" name="Shape 476"/>
          <p:cNvSpPr/>
          <p:nvPr/>
        </p:nvSpPr>
        <p:spPr>
          <a:xfrm>
            <a:off x="6858000" y="437083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79" name="Shape 477"/>
          <p:cNvSpPr/>
          <p:nvPr/>
        </p:nvSpPr>
        <p:spPr>
          <a:xfrm>
            <a:off x="7031736" y="437083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80" name="Shape 478"/>
          <p:cNvSpPr/>
          <p:nvPr/>
        </p:nvSpPr>
        <p:spPr>
          <a:xfrm>
            <a:off x="7205472" y="4370832"/>
            <a:ext cx="173736" cy="173736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481" name="Shape 479"/>
          <p:cNvSpPr/>
          <p:nvPr/>
        </p:nvSpPr>
        <p:spPr>
          <a:xfrm>
            <a:off x="7379208" y="4370832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82" name="Shape 480"/>
          <p:cNvSpPr/>
          <p:nvPr/>
        </p:nvSpPr>
        <p:spPr>
          <a:xfrm>
            <a:off x="7552944" y="4370832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483" name="Shape 481"/>
          <p:cNvSpPr/>
          <p:nvPr/>
        </p:nvSpPr>
        <p:spPr>
          <a:xfrm>
            <a:off x="7726680" y="4370832"/>
            <a:ext cx="173736" cy="173736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484" name="Shape 482"/>
          <p:cNvSpPr/>
          <p:nvPr/>
        </p:nvSpPr>
        <p:spPr>
          <a:xfrm>
            <a:off x="7900416" y="4370832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485" name="Shape 483"/>
          <p:cNvSpPr/>
          <p:nvPr/>
        </p:nvSpPr>
        <p:spPr>
          <a:xfrm>
            <a:off x="8074152" y="4370832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486" name="Shape 484"/>
          <p:cNvSpPr/>
          <p:nvPr/>
        </p:nvSpPr>
        <p:spPr>
          <a:xfrm>
            <a:off x="8247888" y="4370832"/>
            <a:ext cx="173736" cy="173736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487" name="Shape 485"/>
          <p:cNvSpPr/>
          <p:nvPr/>
        </p:nvSpPr>
        <p:spPr>
          <a:xfrm>
            <a:off x="8421624" y="437083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88" name="Shape 486"/>
          <p:cNvSpPr/>
          <p:nvPr/>
        </p:nvSpPr>
        <p:spPr>
          <a:xfrm>
            <a:off x="8595360" y="437083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89" name="Shape 487"/>
          <p:cNvSpPr/>
          <p:nvPr/>
        </p:nvSpPr>
        <p:spPr>
          <a:xfrm>
            <a:off x="8769096" y="437083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90" name="Shape 488"/>
          <p:cNvSpPr/>
          <p:nvPr/>
        </p:nvSpPr>
        <p:spPr>
          <a:xfrm>
            <a:off x="6858000" y="4544568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91" name="Shape 489"/>
          <p:cNvSpPr/>
          <p:nvPr/>
        </p:nvSpPr>
        <p:spPr>
          <a:xfrm>
            <a:off x="7031736" y="4544568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92" name="Shape 490"/>
          <p:cNvSpPr/>
          <p:nvPr/>
        </p:nvSpPr>
        <p:spPr>
          <a:xfrm>
            <a:off x="7205472" y="4544568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493" name="Shape 491"/>
          <p:cNvSpPr/>
          <p:nvPr/>
        </p:nvSpPr>
        <p:spPr>
          <a:xfrm>
            <a:off x="7379208" y="454456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94" name="Shape 492"/>
          <p:cNvSpPr/>
          <p:nvPr/>
        </p:nvSpPr>
        <p:spPr>
          <a:xfrm>
            <a:off x="7552944" y="4544568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495" name="Shape 493"/>
          <p:cNvSpPr/>
          <p:nvPr/>
        </p:nvSpPr>
        <p:spPr>
          <a:xfrm>
            <a:off x="7726680" y="4544568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496" name="Shape 494"/>
          <p:cNvSpPr/>
          <p:nvPr/>
        </p:nvSpPr>
        <p:spPr>
          <a:xfrm>
            <a:off x="7900416" y="4544568"/>
            <a:ext cx="173736" cy="173736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497" name="Shape 495"/>
          <p:cNvSpPr/>
          <p:nvPr/>
        </p:nvSpPr>
        <p:spPr>
          <a:xfrm>
            <a:off x="8074152" y="4544568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498" name="Shape 496"/>
          <p:cNvSpPr/>
          <p:nvPr/>
        </p:nvSpPr>
        <p:spPr>
          <a:xfrm>
            <a:off x="8247888" y="4544568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499" name="Shape 497"/>
          <p:cNvSpPr/>
          <p:nvPr/>
        </p:nvSpPr>
        <p:spPr>
          <a:xfrm>
            <a:off x="8421624" y="4544568"/>
            <a:ext cx="173736" cy="173736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500" name="Shape 498"/>
          <p:cNvSpPr/>
          <p:nvPr/>
        </p:nvSpPr>
        <p:spPr>
          <a:xfrm>
            <a:off x="8595360" y="4544568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01" name="Shape 499"/>
          <p:cNvSpPr/>
          <p:nvPr/>
        </p:nvSpPr>
        <p:spPr>
          <a:xfrm>
            <a:off x="8769096" y="4544568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02" name="Shape 500"/>
          <p:cNvSpPr/>
          <p:nvPr/>
        </p:nvSpPr>
        <p:spPr>
          <a:xfrm>
            <a:off x="6858000" y="471830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03" name="Shape 501"/>
          <p:cNvSpPr/>
          <p:nvPr/>
        </p:nvSpPr>
        <p:spPr>
          <a:xfrm>
            <a:off x="7031736" y="4718304"/>
            <a:ext cx="173736" cy="173736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504" name="Shape 502"/>
          <p:cNvSpPr/>
          <p:nvPr/>
        </p:nvSpPr>
        <p:spPr>
          <a:xfrm>
            <a:off x="7205472" y="4718304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505" name="Shape 503"/>
          <p:cNvSpPr/>
          <p:nvPr/>
        </p:nvSpPr>
        <p:spPr>
          <a:xfrm>
            <a:off x="7379208" y="4718304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06" name="Shape 504"/>
          <p:cNvSpPr/>
          <p:nvPr/>
        </p:nvSpPr>
        <p:spPr>
          <a:xfrm>
            <a:off x="7552944" y="4718304"/>
            <a:ext cx="173736" cy="173736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507" name="Shape 505"/>
          <p:cNvSpPr/>
          <p:nvPr/>
        </p:nvSpPr>
        <p:spPr>
          <a:xfrm>
            <a:off x="7726680" y="4718304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508" name="Shape 506"/>
          <p:cNvSpPr/>
          <p:nvPr/>
        </p:nvSpPr>
        <p:spPr>
          <a:xfrm>
            <a:off x="7900416" y="4718304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509" name="Shape 507"/>
          <p:cNvSpPr/>
          <p:nvPr/>
        </p:nvSpPr>
        <p:spPr>
          <a:xfrm>
            <a:off x="8074152" y="4718304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510" name="Shape 508"/>
          <p:cNvSpPr/>
          <p:nvPr/>
        </p:nvSpPr>
        <p:spPr>
          <a:xfrm>
            <a:off x="8247888" y="4718304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511" name="Shape 509"/>
          <p:cNvSpPr/>
          <p:nvPr/>
        </p:nvSpPr>
        <p:spPr>
          <a:xfrm>
            <a:off x="8421624" y="4718304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512" name="Shape 510"/>
          <p:cNvSpPr/>
          <p:nvPr/>
        </p:nvSpPr>
        <p:spPr>
          <a:xfrm>
            <a:off x="8595360" y="4718304"/>
            <a:ext cx="173736" cy="173736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513" name="Shape 511"/>
          <p:cNvSpPr/>
          <p:nvPr/>
        </p:nvSpPr>
        <p:spPr>
          <a:xfrm>
            <a:off x="8769096" y="471830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14" name="Shape 512"/>
          <p:cNvSpPr/>
          <p:nvPr/>
        </p:nvSpPr>
        <p:spPr>
          <a:xfrm>
            <a:off x="6858000" y="489204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15" name="Shape 513"/>
          <p:cNvSpPr/>
          <p:nvPr/>
        </p:nvSpPr>
        <p:spPr>
          <a:xfrm>
            <a:off x="7031736" y="4892040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516" name="Shape 514"/>
          <p:cNvSpPr/>
          <p:nvPr/>
        </p:nvSpPr>
        <p:spPr>
          <a:xfrm>
            <a:off x="7205472" y="4892040"/>
            <a:ext cx="173736" cy="173736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517" name="Shape 515"/>
          <p:cNvSpPr/>
          <p:nvPr/>
        </p:nvSpPr>
        <p:spPr>
          <a:xfrm>
            <a:off x="7379208" y="4892040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18" name="Shape 516"/>
          <p:cNvSpPr/>
          <p:nvPr/>
        </p:nvSpPr>
        <p:spPr>
          <a:xfrm>
            <a:off x="7552944" y="4892040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519" name="Shape 517"/>
          <p:cNvSpPr/>
          <p:nvPr/>
        </p:nvSpPr>
        <p:spPr>
          <a:xfrm>
            <a:off x="7726680" y="4892040"/>
            <a:ext cx="173736" cy="173736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520" name="Shape 518"/>
          <p:cNvSpPr/>
          <p:nvPr/>
        </p:nvSpPr>
        <p:spPr>
          <a:xfrm>
            <a:off x="7900416" y="4892040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521" name="Shape 519"/>
          <p:cNvSpPr/>
          <p:nvPr/>
        </p:nvSpPr>
        <p:spPr>
          <a:xfrm>
            <a:off x="8074152" y="4892040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522" name="Shape 520"/>
          <p:cNvSpPr/>
          <p:nvPr/>
        </p:nvSpPr>
        <p:spPr>
          <a:xfrm>
            <a:off x="8247888" y="4892040"/>
            <a:ext cx="173736" cy="173736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523" name="Shape 521"/>
          <p:cNvSpPr/>
          <p:nvPr/>
        </p:nvSpPr>
        <p:spPr>
          <a:xfrm>
            <a:off x="8421624" y="4892040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524" name="Shape 522"/>
          <p:cNvSpPr/>
          <p:nvPr/>
        </p:nvSpPr>
        <p:spPr>
          <a:xfrm>
            <a:off x="8595360" y="4892040"/>
            <a:ext cx="173736" cy="173736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525" name="Shape 523"/>
          <p:cNvSpPr/>
          <p:nvPr/>
        </p:nvSpPr>
        <p:spPr>
          <a:xfrm>
            <a:off x="8769096" y="489204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26" name="Shape 524"/>
          <p:cNvSpPr/>
          <p:nvPr/>
        </p:nvSpPr>
        <p:spPr>
          <a:xfrm>
            <a:off x="6858000" y="506577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27" name="Shape 525"/>
          <p:cNvSpPr/>
          <p:nvPr/>
        </p:nvSpPr>
        <p:spPr>
          <a:xfrm>
            <a:off x="7031736" y="5065776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528" name="Shape 526"/>
          <p:cNvSpPr/>
          <p:nvPr/>
        </p:nvSpPr>
        <p:spPr>
          <a:xfrm>
            <a:off x="7205472" y="5065776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529" name="Shape 527"/>
          <p:cNvSpPr/>
          <p:nvPr/>
        </p:nvSpPr>
        <p:spPr>
          <a:xfrm>
            <a:off x="7379208" y="5065776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30" name="Shape 528"/>
          <p:cNvSpPr/>
          <p:nvPr/>
        </p:nvSpPr>
        <p:spPr>
          <a:xfrm>
            <a:off x="7552944" y="5065776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531" name="Shape 529"/>
          <p:cNvSpPr/>
          <p:nvPr/>
        </p:nvSpPr>
        <p:spPr>
          <a:xfrm>
            <a:off x="7726680" y="5065776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532" name="Shape 530"/>
          <p:cNvSpPr/>
          <p:nvPr/>
        </p:nvSpPr>
        <p:spPr>
          <a:xfrm>
            <a:off x="7900416" y="5065776"/>
            <a:ext cx="173736" cy="173736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533" name="Shape 531"/>
          <p:cNvSpPr/>
          <p:nvPr/>
        </p:nvSpPr>
        <p:spPr>
          <a:xfrm>
            <a:off x="8074152" y="5065776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534" name="Shape 532"/>
          <p:cNvSpPr/>
          <p:nvPr/>
        </p:nvSpPr>
        <p:spPr>
          <a:xfrm>
            <a:off x="8247888" y="5065776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535" name="Shape 533"/>
          <p:cNvSpPr/>
          <p:nvPr/>
        </p:nvSpPr>
        <p:spPr>
          <a:xfrm>
            <a:off x="8421624" y="5065776"/>
            <a:ext cx="173736" cy="173736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536" name="Shape 534"/>
          <p:cNvSpPr/>
          <p:nvPr/>
        </p:nvSpPr>
        <p:spPr>
          <a:xfrm>
            <a:off x="8595360" y="506577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37" name="Shape 535"/>
          <p:cNvSpPr/>
          <p:nvPr/>
        </p:nvSpPr>
        <p:spPr>
          <a:xfrm>
            <a:off x="8769096" y="506577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38" name="Shape 536"/>
          <p:cNvSpPr/>
          <p:nvPr/>
        </p:nvSpPr>
        <p:spPr>
          <a:xfrm>
            <a:off x="6858000" y="523951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39" name="Shape 537"/>
          <p:cNvSpPr/>
          <p:nvPr/>
        </p:nvSpPr>
        <p:spPr>
          <a:xfrm>
            <a:off x="7031736" y="5239512"/>
            <a:ext cx="173736" cy="173736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540" name="Shape 538"/>
          <p:cNvSpPr/>
          <p:nvPr/>
        </p:nvSpPr>
        <p:spPr>
          <a:xfrm>
            <a:off x="7205472" y="5239512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541" name="Shape 539"/>
          <p:cNvSpPr/>
          <p:nvPr/>
        </p:nvSpPr>
        <p:spPr>
          <a:xfrm>
            <a:off x="7379208" y="5239512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42" name="Shape 540"/>
          <p:cNvSpPr/>
          <p:nvPr/>
        </p:nvSpPr>
        <p:spPr>
          <a:xfrm>
            <a:off x="7552944" y="5239512"/>
            <a:ext cx="173736" cy="173736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543" name="Shape 541"/>
          <p:cNvSpPr/>
          <p:nvPr/>
        </p:nvSpPr>
        <p:spPr>
          <a:xfrm>
            <a:off x="7726680" y="5239512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544" name="Shape 542"/>
          <p:cNvSpPr/>
          <p:nvPr/>
        </p:nvSpPr>
        <p:spPr>
          <a:xfrm>
            <a:off x="7900416" y="5239512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545" name="Shape 543"/>
          <p:cNvSpPr/>
          <p:nvPr/>
        </p:nvSpPr>
        <p:spPr>
          <a:xfrm>
            <a:off x="8074152" y="5239512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546" name="Shape 544"/>
          <p:cNvSpPr/>
          <p:nvPr/>
        </p:nvSpPr>
        <p:spPr>
          <a:xfrm>
            <a:off x="8247888" y="5239512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547" name="Shape 545"/>
          <p:cNvSpPr/>
          <p:nvPr/>
        </p:nvSpPr>
        <p:spPr>
          <a:xfrm>
            <a:off x="8421624" y="5239512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548" name="Shape 546"/>
          <p:cNvSpPr/>
          <p:nvPr/>
        </p:nvSpPr>
        <p:spPr>
          <a:xfrm>
            <a:off x="8595360" y="523951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49" name="Shape 547"/>
          <p:cNvSpPr/>
          <p:nvPr/>
        </p:nvSpPr>
        <p:spPr>
          <a:xfrm>
            <a:off x="8769096" y="5239512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50" name="Shape 548"/>
          <p:cNvSpPr/>
          <p:nvPr/>
        </p:nvSpPr>
        <p:spPr>
          <a:xfrm>
            <a:off x="6858000" y="541324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51" name="Shape 549"/>
          <p:cNvSpPr/>
          <p:nvPr/>
        </p:nvSpPr>
        <p:spPr>
          <a:xfrm>
            <a:off x="7031736" y="541324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52" name="Shape 550"/>
          <p:cNvSpPr/>
          <p:nvPr/>
        </p:nvSpPr>
        <p:spPr>
          <a:xfrm>
            <a:off x="7205472" y="541324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53" name="Shape 551"/>
          <p:cNvSpPr/>
          <p:nvPr/>
        </p:nvSpPr>
        <p:spPr>
          <a:xfrm>
            <a:off x="7379208" y="541324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54" name="Shape 552"/>
          <p:cNvSpPr/>
          <p:nvPr/>
        </p:nvSpPr>
        <p:spPr>
          <a:xfrm>
            <a:off x="7552944" y="541324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55" name="Shape 553"/>
          <p:cNvSpPr/>
          <p:nvPr/>
        </p:nvSpPr>
        <p:spPr>
          <a:xfrm>
            <a:off x="7726680" y="541324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56" name="Shape 554"/>
          <p:cNvSpPr/>
          <p:nvPr/>
        </p:nvSpPr>
        <p:spPr>
          <a:xfrm>
            <a:off x="7900416" y="541324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57" name="Shape 555"/>
          <p:cNvSpPr/>
          <p:nvPr/>
        </p:nvSpPr>
        <p:spPr>
          <a:xfrm>
            <a:off x="8074152" y="541324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58" name="Shape 556"/>
          <p:cNvSpPr/>
          <p:nvPr/>
        </p:nvSpPr>
        <p:spPr>
          <a:xfrm>
            <a:off x="8247888" y="541324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59" name="Shape 557"/>
          <p:cNvSpPr/>
          <p:nvPr/>
        </p:nvSpPr>
        <p:spPr>
          <a:xfrm>
            <a:off x="8421624" y="541324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60" name="Shape 558"/>
          <p:cNvSpPr/>
          <p:nvPr/>
        </p:nvSpPr>
        <p:spPr>
          <a:xfrm>
            <a:off x="8595360" y="541324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61" name="Shape 559"/>
          <p:cNvSpPr/>
          <p:nvPr/>
        </p:nvSpPr>
        <p:spPr>
          <a:xfrm>
            <a:off x="8769096" y="5413248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62" name="Shape 560"/>
          <p:cNvSpPr/>
          <p:nvPr/>
        </p:nvSpPr>
        <p:spPr>
          <a:xfrm>
            <a:off x="6858000" y="558698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63" name="Shape 561"/>
          <p:cNvSpPr/>
          <p:nvPr/>
        </p:nvSpPr>
        <p:spPr>
          <a:xfrm>
            <a:off x="7031736" y="558698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64" name="Shape 562"/>
          <p:cNvSpPr/>
          <p:nvPr/>
        </p:nvSpPr>
        <p:spPr>
          <a:xfrm>
            <a:off x="7205472" y="558698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65" name="Shape 563"/>
          <p:cNvSpPr/>
          <p:nvPr/>
        </p:nvSpPr>
        <p:spPr>
          <a:xfrm>
            <a:off x="7379208" y="5586984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66" name="Shape 564"/>
          <p:cNvSpPr/>
          <p:nvPr/>
        </p:nvSpPr>
        <p:spPr>
          <a:xfrm>
            <a:off x="7552944" y="5586984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567" name="Shape 565"/>
          <p:cNvSpPr/>
          <p:nvPr/>
        </p:nvSpPr>
        <p:spPr>
          <a:xfrm>
            <a:off x="7726680" y="5586984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568" name="Shape 566"/>
          <p:cNvSpPr/>
          <p:nvPr/>
        </p:nvSpPr>
        <p:spPr>
          <a:xfrm>
            <a:off x="7900416" y="5586984"/>
            <a:ext cx="173736" cy="173736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569" name="Shape 567"/>
          <p:cNvSpPr/>
          <p:nvPr/>
        </p:nvSpPr>
        <p:spPr>
          <a:xfrm>
            <a:off x="8074152" y="5586984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570" name="Shape 568"/>
          <p:cNvSpPr/>
          <p:nvPr/>
        </p:nvSpPr>
        <p:spPr>
          <a:xfrm>
            <a:off x="8247888" y="5586984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571" name="Shape 569"/>
          <p:cNvSpPr/>
          <p:nvPr/>
        </p:nvSpPr>
        <p:spPr>
          <a:xfrm>
            <a:off x="8421624" y="558698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72" name="Shape 570"/>
          <p:cNvSpPr/>
          <p:nvPr/>
        </p:nvSpPr>
        <p:spPr>
          <a:xfrm>
            <a:off x="8595360" y="558698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73" name="Shape 571"/>
          <p:cNvSpPr/>
          <p:nvPr/>
        </p:nvSpPr>
        <p:spPr>
          <a:xfrm>
            <a:off x="8769096" y="5586984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74" name="Shape 572"/>
          <p:cNvSpPr/>
          <p:nvPr/>
        </p:nvSpPr>
        <p:spPr>
          <a:xfrm>
            <a:off x="6858000" y="576072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75" name="Shape 573"/>
          <p:cNvSpPr/>
          <p:nvPr/>
        </p:nvSpPr>
        <p:spPr>
          <a:xfrm>
            <a:off x="7031736" y="576072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76" name="Shape 574"/>
          <p:cNvSpPr/>
          <p:nvPr/>
        </p:nvSpPr>
        <p:spPr>
          <a:xfrm>
            <a:off x="7205472" y="576072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77" name="Shape 575"/>
          <p:cNvSpPr/>
          <p:nvPr/>
        </p:nvSpPr>
        <p:spPr>
          <a:xfrm>
            <a:off x="7379208" y="5760720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78" name="Shape 576"/>
          <p:cNvSpPr/>
          <p:nvPr/>
        </p:nvSpPr>
        <p:spPr>
          <a:xfrm>
            <a:off x="7552944" y="576072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79" name="Shape 577"/>
          <p:cNvSpPr/>
          <p:nvPr/>
        </p:nvSpPr>
        <p:spPr>
          <a:xfrm>
            <a:off x="7726680" y="5760720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580" name="Shape 578"/>
          <p:cNvSpPr/>
          <p:nvPr/>
        </p:nvSpPr>
        <p:spPr>
          <a:xfrm>
            <a:off x="7900416" y="5760720"/>
            <a:ext cx="173736" cy="173736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581" name="Shape 579"/>
          <p:cNvSpPr/>
          <p:nvPr/>
        </p:nvSpPr>
        <p:spPr>
          <a:xfrm>
            <a:off x="8074152" y="5760720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582" name="Shape 580"/>
          <p:cNvSpPr/>
          <p:nvPr/>
        </p:nvSpPr>
        <p:spPr>
          <a:xfrm>
            <a:off x="8247888" y="576072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83" name="Shape 581"/>
          <p:cNvSpPr/>
          <p:nvPr/>
        </p:nvSpPr>
        <p:spPr>
          <a:xfrm>
            <a:off x="8421624" y="576072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84" name="Shape 582"/>
          <p:cNvSpPr/>
          <p:nvPr/>
        </p:nvSpPr>
        <p:spPr>
          <a:xfrm>
            <a:off x="8595360" y="576072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85" name="Shape 583"/>
          <p:cNvSpPr/>
          <p:nvPr/>
        </p:nvSpPr>
        <p:spPr>
          <a:xfrm>
            <a:off x="8769096" y="5760720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86" name="Shape 584"/>
          <p:cNvSpPr/>
          <p:nvPr/>
        </p:nvSpPr>
        <p:spPr>
          <a:xfrm>
            <a:off x="6858000" y="593445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87" name="Shape 585"/>
          <p:cNvSpPr/>
          <p:nvPr/>
        </p:nvSpPr>
        <p:spPr>
          <a:xfrm>
            <a:off x="7031736" y="593445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88" name="Shape 586"/>
          <p:cNvSpPr/>
          <p:nvPr/>
        </p:nvSpPr>
        <p:spPr>
          <a:xfrm>
            <a:off x="7205472" y="593445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89" name="Shape 587"/>
          <p:cNvSpPr/>
          <p:nvPr/>
        </p:nvSpPr>
        <p:spPr>
          <a:xfrm>
            <a:off x="7379208" y="5934456"/>
            <a:ext cx="173736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90" name="Shape 588"/>
          <p:cNvSpPr/>
          <p:nvPr/>
        </p:nvSpPr>
        <p:spPr>
          <a:xfrm>
            <a:off x="7552944" y="593445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91" name="Shape 589"/>
          <p:cNvSpPr/>
          <p:nvPr/>
        </p:nvSpPr>
        <p:spPr>
          <a:xfrm>
            <a:off x="7726680" y="593445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92" name="Shape 590"/>
          <p:cNvSpPr/>
          <p:nvPr/>
        </p:nvSpPr>
        <p:spPr>
          <a:xfrm>
            <a:off x="7900416" y="593445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93" name="Shape 591"/>
          <p:cNvSpPr/>
          <p:nvPr/>
        </p:nvSpPr>
        <p:spPr>
          <a:xfrm>
            <a:off x="8074152" y="5934456"/>
            <a:ext cx="173736" cy="173736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594" name="Shape 592"/>
          <p:cNvSpPr/>
          <p:nvPr/>
        </p:nvSpPr>
        <p:spPr>
          <a:xfrm>
            <a:off x="8247888" y="593445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95" name="Shape 593"/>
          <p:cNvSpPr/>
          <p:nvPr/>
        </p:nvSpPr>
        <p:spPr>
          <a:xfrm>
            <a:off x="8421624" y="593445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96" name="Shape 594"/>
          <p:cNvSpPr/>
          <p:nvPr/>
        </p:nvSpPr>
        <p:spPr>
          <a:xfrm>
            <a:off x="8595360" y="593445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97" name="Shape 595"/>
          <p:cNvSpPr/>
          <p:nvPr/>
        </p:nvSpPr>
        <p:spPr>
          <a:xfrm>
            <a:off x="8769096" y="5934456"/>
            <a:ext cx="173736" cy="17373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98" name="Shape 596"/>
          <p:cNvSpPr/>
          <p:nvPr/>
        </p:nvSpPr>
        <p:spPr>
          <a:xfrm>
            <a:off x="7761427" y="4961534"/>
            <a:ext cx="156362" cy="15636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599" name="Shape 597"/>
          <p:cNvSpPr/>
          <p:nvPr/>
        </p:nvSpPr>
        <p:spPr>
          <a:xfrm>
            <a:off x="7552944" y="4892040"/>
            <a:ext cx="125090" cy="12509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600" name="Shape 598"/>
          <p:cNvSpPr/>
          <p:nvPr/>
        </p:nvSpPr>
        <p:spPr>
          <a:xfrm>
            <a:off x="8247888" y="5065776"/>
            <a:ext cx="125090" cy="12509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601" name="Shape 599"/>
          <p:cNvSpPr/>
          <p:nvPr/>
        </p:nvSpPr>
        <p:spPr>
          <a:xfrm>
            <a:off x="7900416" y="4718304"/>
            <a:ext cx="125090" cy="12509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602" name="Text 600"/>
          <p:cNvSpPr/>
          <p:nvPr/>
        </p:nvSpPr>
        <p:spPr>
          <a:xfrm>
            <a:off x="9189720" y="4343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완전 진화</a:t>
            </a:r>
            <a:endParaRPr lang="en-US" sz="1500" dirty="0"/>
          </a:p>
        </p:txBody>
      </p:sp>
      <p:sp>
        <p:nvSpPr>
          <p:cNvPr id="603" name="Text 601"/>
          <p:cNvSpPr/>
          <p:nvPr/>
        </p:nvSpPr>
        <p:spPr>
          <a:xfrm>
            <a:off x="9189720" y="4773168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착화 중단 → 진화</a:t>
            </a:r>
            <a:endParaRPr lang="en-US" sz="1150" dirty="0"/>
          </a:p>
        </p:txBody>
      </p:sp>
      <p:sp>
        <p:nvSpPr>
          <p:cNvPr id="604" name="Text 602"/>
          <p:cNvSpPr/>
          <p:nvPr/>
        </p:nvSpPr>
        <p:spPr>
          <a:xfrm>
            <a:off x="548640" y="63093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국면: 확산 → 포위 진압 → 화선 후퇴 → 확산 저지 → 완전 진화 (전환 시각 자동 기록)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화재 확산 시뮬레이션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대응시간 — 소방차 vs 드론 편대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화재 인지 시점을 공통 기준으로 비교 (진입불가 지점 예시 시나리오)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2788920"/>
          </a:xfrm>
          <a:prstGeom prst="roundRect">
            <a:avLst>
              <a:gd name="adj" fmla="val 295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031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4871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실도로 주행 + 출동준비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8:40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48640" y="39776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좁은 골목은 입구까지만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51960" y="1874520"/>
            <a:ext cx="3520440" cy="2788920"/>
          </a:xfrm>
          <a:prstGeom prst="roundRect">
            <a:avLst>
              <a:gd name="adj" fmla="val 2951"/>
            </a:avLst>
          </a:prstGeom>
          <a:solidFill>
            <a:srgbClr val="1F120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21031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 편대 (직선 비행)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51960" y="24871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최근접 거점 → 화점 직상공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51960" y="28803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3:20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4251960" y="39776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골목 위를 그대로 넘어 도착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55280" y="1874520"/>
            <a:ext cx="3657600" cy="2788920"/>
          </a:xfrm>
          <a:prstGeom prst="roundRect">
            <a:avLst>
              <a:gd name="adj" fmla="val 2951"/>
            </a:avLst>
          </a:prstGeom>
          <a:solidFill>
            <a:srgbClr val="172033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6EF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드론이 먼저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955280" y="26060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5:20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795528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6EF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도착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55280" y="4069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초동 골든타임을 확보한다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인지·신고 지연은 양쪽에 동일 적용.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소방차 = OSRM 실도로 라우팅 + 출동준비 1분, 드론 = 거점→화점 직선 비행.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532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수치는 예시 시나리오 — 지점·거점 거리에 따라 달라진다.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드론 군집 로직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군집 자율비행 — 중앙 제어 없는 편대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드론은 이웃의 위치·속도만 보고 스스로 움직인다. 여기에 국방 군집 운용 알고리즘을 얹는다.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299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분리 Separation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안전거리 내 이웃을 밀어내 충돌 방지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20299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 Alignment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26280" y="254203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이웃 평균 속도에 방향을 맞춤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82880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20299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결합 Cohesion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75320" y="254203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이웃 무게중심으로 모임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＋ 국방 군집 운용 알고리즘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172033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297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충돌 방지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481888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다수 무인체 근접 비행 시 상호 회피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97680" y="406908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172033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4297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분산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26280" y="481888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편대가 겹치지 않게 임무 공간을 나눔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406908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172033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4297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 임무 배정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75320" y="481888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화점·요구조자별로 담당을 스스로 할당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드론 군집 로직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유무인 복합 편대 편성 · SOP-D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73936"/>
            <a:ext cx="1188720" cy="521208"/>
          </a:xfrm>
          <a:prstGeom prst="roundRect">
            <a:avLst>
              <a:gd name="adj" fmla="val 14035"/>
            </a:avLst>
          </a:prstGeom>
          <a:solidFill>
            <a:srgbClr val="0B1220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73936"/>
            <a:ext cx="1188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103120" y="16002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지휘통제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0020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공중지휘권 선언 · 3D 매핑 융합 · 통합 제어·자원 관리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87752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761488"/>
            <a:ext cx="1188720" cy="521208"/>
          </a:xfrm>
          <a:prstGeom prst="roundRect">
            <a:avLst>
              <a:gd name="adj" fmla="val 14035"/>
            </a:avLst>
          </a:prstGeom>
          <a:solidFill>
            <a:srgbClr val="0B1220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761488"/>
            <a:ext cx="1188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1편대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103120" y="258775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공중정찰대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2587752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사방 3D 스캐닝 · 열화상 화점 탐지 · 연소확대선 모니터링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75304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749040"/>
            <a:ext cx="1188720" cy="521208"/>
          </a:xfrm>
          <a:prstGeom prst="roundRect">
            <a:avLst>
              <a:gd name="adj" fmla="val 14035"/>
            </a:avLst>
          </a:prstGeom>
          <a:solidFill>
            <a:srgbClr val="0B1220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749040"/>
            <a:ext cx="1188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2편대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103120" y="3575304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인명수색·구조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3575304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고립 구조대상자 식별 · 생명유지 키트 투하 · 대피 인도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562856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736592"/>
            <a:ext cx="1188720" cy="521208"/>
          </a:xfrm>
          <a:prstGeom prst="roundRect">
            <a:avLst>
              <a:gd name="adj" fmla="val 14035"/>
            </a:avLst>
          </a:prstGeom>
          <a:solidFill>
            <a:srgbClr val="0B1220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736592"/>
            <a:ext cx="1188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3편대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103120" y="456285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화재진압대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37760" y="4562856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창문·진입점 파악 · 창문 파쇄 후 정밀 소화탄 투하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550408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724144"/>
            <a:ext cx="1188720" cy="521208"/>
          </a:xfrm>
          <a:prstGeom prst="roundRect">
            <a:avLst>
              <a:gd name="adj" fmla="val 14035"/>
            </a:avLst>
          </a:prstGeom>
          <a:solidFill>
            <a:srgbClr val="0B122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724144"/>
            <a:ext cx="1188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4편대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103120" y="555040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통신중계·조명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37760" y="5550408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Mesh 통신망 형성 · 음영지역 신호 중계 · 광역 조명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드론 군집 로직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SOP-D 표준 행동요령 · 5단계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29968" cy="3566160"/>
          </a:xfrm>
          <a:prstGeom prst="roundRect">
            <a:avLst>
              <a:gd name="adj" fmla="val 405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7864" y="2103120"/>
            <a:ext cx="731520" cy="731520"/>
          </a:xfrm>
          <a:prstGeom prst="ellipse">
            <a:avLst/>
          </a:prstGeom>
          <a:solidFill>
            <a:srgbClr val="0B1220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97864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전개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94360" y="336499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58368" y="3703320"/>
            <a:ext cx="1810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정찰 편대 출격·상승, 진압·구조 편대 전개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501091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101-D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1828800"/>
            <a:ext cx="26517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807208" y="1828800"/>
            <a:ext cx="2029968" cy="3566160"/>
          </a:xfrm>
          <a:prstGeom prst="roundRect">
            <a:avLst>
              <a:gd name="adj" fmla="val 405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56432" y="2103120"/>
            <a:ext cx="731520" cy="731520"/>
          </a:xfrm>
          <a:prstGeom prst="ellipse">
            <a:avLst/>
          </a:prstGeom>
          <a:solidFill>
            <a:srgbClr val="0B1220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852928" y="297180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정찰·평가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2852928" y="336499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ASSESS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916936" y="3703320"/>
            <a:ext cx="1810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사방 3D 스캐닝 · 열화상 화점 탐지 · 진입점 파악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52928" y="501091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102-D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18888" y="1828800"/>
            <a:ext cx="26517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065776" y="1828800"/>
            <a:ext cx="2029968" cy="3566160"/>
          </a:xfrm>
          <a:prstGeom prst="roundRect">
            <a:avLst>
              <a:gd name="adj" fmla="val 405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15000" y="2103120"/>
            <a:ext cx="731520" cy="731520"/>
          </a:xfrm>
          <a:prstGeom prst="ellipse">
            <a:avLst/>
          </a:prstGeom>
          <a:solidFill>
            <a:srgbClr val="0B1220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111496" y="297180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작전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111496" y="336499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175504" y="3703320"/>
            <a:ext cx="1810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창문 파쇄 후 정밀 소화탄 투하 · 대피 인도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11496" y="501091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222-D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77456" y="1828800"/>
            <a:ext cx="26517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324344" y="1828800"/>
            <a:ext cx="2029968" cy="3566160"/>
          </a:xfrm>
          <a:prstGeom prst="roundRect">
            <a:avLst>
              <a:gd name="adj" fmla="val 405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73568" y="2103120"/>
            <a:ext cx="731520" cy="731520"/>
          </a:xfrm>
          <a:prstGeom prst="ellipse">
            <a:avLst/>
          </a:prstGeom>
          <a:solidFill>
            <a:srgbClr val="0B1220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73568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370064" y="297180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중계·호위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370064" y="336499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434072" y="3703320"/>
            <a:ext cx="1810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요구조자 호위 · 외벽 연소차단 · 배터리 릴레이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370064" y="501091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105-D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336024" y="1828800"/>
            <a:ext cx="26517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9582912" y="1828800"/>
            <a:ext cx="2029968" cy="3566160"/>
          </a:xfrm>
          <a:prstGeom prst="roundRect">
            <a:avLst>
              <a:gd name="adj" fmla="val 405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232136" y="2103120"/>
            <a:ext cx="731520" cy="731520"/>
          </a:xfrm>
          <a:prstGeom prst="ellipse">
            <a:avLst/>
          </a:prstGeom>
          <a:solidFill>
            <a:srgbClr val="0B1220"/>
          </a:solidFill>
          <a:ln w="25400">
            <a:solidFill>
              <a:srgbClr val="4ADE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32136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9628632" y="297180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종결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9628632" y="336499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692640" y="3703320"/>
            <a:ext cx="1810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대피 완료 확인 · 잔불 감시 · 임무 이양 후 RTH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628632" y="501091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113-D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편대가 단계별 표준 행동요령(SOP 코드)에 따라 자율 수행 — 지휘·정찰·진압·구조·통신이 한 타임라인에서 맞물린다.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드론 군집 로직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건물 시뮬레이션 · 2층 주택 화재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4114800"/>
          </a:xfrm>
          <a:prstGeom prst="roundRect">
            <a:avLst>
              <a:gd name="adj" fmla="val 1333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5166360"/>
            <a:ext cx="4754880" cy="548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2057400" y="2697480"/>
            <a:ext cx="2286000" cy="2468880"/>
          </a:xfrm>
          <a:prstGeom prst="rect">
            <a:avLst/>
          </a:prstGeom>
          <a:solidFill>
            <a:srgbClr val="334155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1920240"/>
            <a:ext cx="2743200" cy="777240"/>
          </a:xfrm>
          <a:prstGeom prst="triangle">
            <a:avLst/>
          </a:prstGeom>
          <a:solidFill>
            <a:srgbClr val="475569"/>
          </a:solidFill>
          <a:ln/>
        </p:spPr>
      </p:sp>
      <p:sp>
        <p:nvSpPr>
          <p:cNvPr id="8" name="Shape 6"/>
          <p:cNvSpPr/>
          <p:nvPr/>
        </p:nvSpPr>
        <p:spPr>
          <a:xfrm>
            <a:off x="2057400" y="3931920"/>
            <a:ext cx="22860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434340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434340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71800" y="4480560"/>
            <a:ext cx="4572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41448" y="3063240"/>
            <a:ext cx="365760" cy="3657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3017520"/>
            <a:ext cx="502920" cy="502920"/>
          </a:xfrm>
          <a:prstGeom prst="rect">
            <a:avLst/>
          </a:prstGeom>
          <a:solidFill>
            <a:srgbClr val="F97316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691640"/>
            <a:ext cx="219456" cy="21945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3108960"/>
            <a:ext cx="219456" cy="2194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48840" y="3154680"/>
            <a:ext cx="219456" cy="21945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17320" y="1874520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43000" y="5303520"/>
            <a:ext cx="640080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532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대피 집결지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40080" y="586130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드래그 회전 · 휠 확대/축소 (Three.js)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0" y="1737360"/>
            <a:ext cx="5669280" cy="932688"/>
          </a:xfrm>
          <a:prstGeom prst="roundRect">
            <a:avLst>
              <a:gd name="adj" fmla="val 882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2066544"/>
            <a:ext cx="274320" cy="27432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186537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1편대 공중정찰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83680" y="219456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2층 우측 방 화점을 열화상으로 탐지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0" y="2761488"/>
            <a:ext cx="5669280" cy="932688"/>
          </a:xfrm>
          <a:prstGeom prst="roundRect">
            <a:avLst>
              <a:gd name="adj" fmla="val 882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3090672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28895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3편대 화재진압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583680" y="321868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창문 파쇄 후 화점에 정밀 소화탄 투하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43600" y="3785616"/>
            <a:ext cx="5669280" cy="932688"/>
          </a:xfrm>
          <a:prstGeom prst="roundRect">
            <a:avLst>
              <a:gd name="adj" fmla="val 882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4114800"/>
            <a:ext cx="274320" cy="27432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39136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2편대 인명수색·구조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583680" y="424281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2층 좌측 요구조자 앞·위에서 대피 인도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0" y="4809744"/>
            <a:ext cx="5669280" cy="932688"/>
          </a:xfrm>
          <a:prstGeom prst="roundRect">
            <a:avLst>
              <a:gd name="adj" fmla="val 882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72200" y="5138928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0" y="4937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4편대 통신중계·조명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583680" y="526694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고공에서 Mesh 통신 중계 · 광역 조명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드론 군집 로직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유무인 복합 — 지상 무인차량(UGV) 협업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0" cy="4114800"/>
          </a:xfrm>
          <a:prstGeom prst="roundRect">
            <a:avLst>
              <a:gd name="adj" fmla="val 1333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880360"/>
            <a:ext cx="1554480" cy="2194560"/>
          </a:xfrm>
          <a:prstGeom prst="rect">
            <a:avLst/>
          </a:prstGeom>
          <a:solidFill>
            <a:srgbClr val="33415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0" y="2880360"/>
            <a:ext cx="1554480" cy="2194560"/>
          </a:xfrm>
          <a:prstGeom prst="rect">
            <a:avLst/>
          </a:prstGeom>
          <a:solidFill>
            <a:srgbClr val="33415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2880360"/>
            <a:ext cx="1188720" cy="2194560"/>
          </a:xfrm>
          <a:prstGeom prst="rect">
            <a:avLst/>
          </a:prstGeom>
          <a:solidFill>
            <a:srgbClr val="3F1D1D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50932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진입불가 골목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0" y="3154680"/>
            <a:ext cx="457200" cy="457200"/>
          </a:xfrm>
          <a:prstGeom prst="rect">
            <a:avLst/>
          </a:prstGeom>
          <a:solidFill>
            <a:srgbClr val="F97316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4389120"/>
            <a:ext cx="731520" cy="384048"/>
          </a:xfrm>
          <a:prstGeom prst="roundRect">
            <a:avLst>
              <a:gd name="adj" fmla="val 11905"/>
            </a:avLst>
          </a:prstGeom>
          <a:solidFill>
            <a:srgbClr val="34D399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62072" y="4700016"/>
            <a:ext cx="182880" cy="182880"/>
          </a:xfrm>
          <a:prstGeom prst="ellipse">
            <a:avLst/>
          </a:prstGeom>
          <a:solidFill>
            <a:srgbClr val="0B122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4408" y="4700016"/>
            <a:ext cx="182880" cy="182880"/>
          </a:xfrm>
          <a:prstGeom prst="ellipse">
            <a:avLst/>
          </a:prstGeom>
          <a:solidFill>
            <a:srgbClr val="0B122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437083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UGV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34640" y="2194560"/>
            <a:ext cx="201168" cy="20116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2057400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31920" y="2258568"/>
            <a:ext cx="201168" cy="20116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1737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상공: 드론 편대 정밀 진압·정찰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74520" y="4846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지상: UGV 진입·보급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783080"/>
            <a:ext cx="5669280" cy="1207008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9632" y="1965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지상 무인차량(UGV)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199632" y="2386584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장애물 극복 · 소화수 보급 · 스마트 방재 거점에서 출발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0" y="3108960"/>
            <a:ext cx="5669280" cy="1207008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9632" y="3291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 편대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199632" y="3712464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상공에서 정밀 정찰·진압 — 골목 위를 그대로 넘는다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0" y="4434840"/>
            <a:ext cx="5669280" cy="1207008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9632" y="4617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유무인 복합 협업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199632" y="5038344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UGV가 지상 보급·거점, 드론이 공중 타격 — 상호 통신으로 한 편대처럼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기대효과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성과 — 골든타임을 되찾는다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977640" cy="4069080"/>
          </a:xfrm>
          <a:prstGeom prst="roundRect">
            <a:avLst>
              <a:gd name="adj" fmla="val 2069"/>
            </a:avLst>
          </a:prstGeom>
          <a:solidFill>
            <a:srgbClr val="172033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6EF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초동 진압 시점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3977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10분+</a:t>
            </a:r>
            <a:endParaRPr lang="en-US" sz="74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6EF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단축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43891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소방차 진입 불가 지역 기준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48920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소방관 직접 투입 전 정밀 정찰을 선행해 인명 피해 발생률을 크게 낮춘다.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737360"/>
            <a:ext cx="3291840" cy="96012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8470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편대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83480" y="235915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편대 동시 운용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75320" y="1737360"/>
            <a:ext cx="3291840" cy="96012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18470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수행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503920" y="235915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지휘·정찰·진압·구조·통신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3291840" cy="96012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9443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소방차보다 먼저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83480" y="345643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 도착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75320" y="2834640"/>
            <a:ext cx="3291840" cy="96012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29443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투입 전 정찰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503920" y="345643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소방관 안전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977640"/>
            <a:ext cx="6858000" cy="1828800"/>
          </a:xfrm>
          <a:prstGeom prst="roundRect">
            <a:avLst>
              <a:gd name="adj" fmla="val 4500"/>
            </a:avLst>
          </a:prstGeom>
          <a:solidFill>
            <a:srgbClr val="1F120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차별성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0" y="4645152"/>
            <a:ext cx="128016" cy="128016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25" name="Text 23"/>
          <p:cNvSpPr/>
          <p:nvPr/>
        </p:nvSpPr>
        <p:spPr>
          <a:xfrm>
            <a:off x="5285232" y="45262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국방 군집 무인체계 알고리즘의 민간 스핀오프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029200" y="5056632"/>
            <a:ext cx="128016" cy="128016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27" name="Text 25"/>
          <p:cNvSpPr/>
          <p:nvPr/>
        </p:nvSpPr>
        <p:spPr>
          <a:xfrm>
            <a:off x="5285232" y="49377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 편대 + 지상 UGV 유무인 복합 협업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29200" y="5468112"/>
            <a:ext cx="128016" cy="128016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29" name="Text 27"/>
          <p:cNvSpPr/>
          <p:nvPr/>
        </p:nvSpPr>
        <p:spPr>
          <a:xfrm>
            <a:off x="5285232" y="53492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실주소·실도로 빅데이터 기반 검증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골든타임 단축 등 효과는 계획서 목표치 — 실증으로 검증 예정.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기대효과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 — 기술 · 사회 · 지역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30168" cy="27432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01168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0116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기술·학문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4672" y="2606040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방산-민간 스핀오프 선도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3429000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기계공학 제어·역학 + 국방과학 자율 군집 운용의 고가치 융합 사례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61688" y="1737360"/>
            <a:ext cx="3630168" cy="27432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01168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0116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사회·안전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17720" y="2606040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원도심 골든타임 단축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3429000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초동 진압 최대 10분+ 단축 · 소방관 투입 전 정밀 정찰로 인명 보호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74736" y="1737360"/>
            <a:ext cx="3630168" cy="27432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30768" y="201168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0768" y="20116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혁신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30768" y="2606040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경남형 스마트시티·방산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30768" y="3429000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방위산업·항공우주 인프라를 스마트시티에 결합한 지역 특화 혁신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172033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9560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소방차가 못 가는 골목을, 유무인 복합 편대가 먼저 지킨다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22960" y="550468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국방 군집 알고리즘 · 실주소 화재확산 시뮬레이션 · 드론-UGV SOP-D를 하나로 — 팀 군체. 감사합니다. (Q&amp;A)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기반 드론-UGV 협업 도심 화재·재난 정밀 진압 모델</dc:title>
  <dc:subject>PptxGenJS Presentation</dc:subject>
  <dc:creator>팀 군체</dc:creator>
  <cp:lastModifiedBy>팀 군체</cp:lastModifiedBy>
  <cp:revision>1</cp:revision>
  <dcterms:created xsi:type="dcterms:W3CDTF">2026-08-03T14:16:32Z</dcterms:created>
  <dcterms:modified xsi:type="dcterms:W3CDTF">2026-08-03T14:16:32Z</dcterms:modified>
</cp:coreProperties>
</file>