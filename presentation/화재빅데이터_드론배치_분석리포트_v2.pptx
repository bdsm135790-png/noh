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6" r:id="rId3"/>
    <p:sldId id="258" r:id="rId4"/>
    <p:sldId id="259" r:id="rId5"/>
    <p:sldId id="260" r:id="rId6"/>
    <p:sldId id="261" r:id="rId7"/>
    <p:sldId id="262" r:id="rId8"/>
    <p:sldId id="27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7" r:id="rId24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6" y="1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Relationship Id="rId24" Type="http://schemas.openxmlformats.org/officeDocument/2006/relationships/slide" Target="slides/slide1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화재건수</c:v>
                </c:pt>
              </c:strCache>
            </c:strRef>
          </c:tx>
          <c:spPr>
            <a:solidFill>
              <a:srgbClr val="DC2626"/>
            </a:solidFill>
            <a:effectLst/>
          </c:spPr>
          <c:dPt>
            <c:idx val="0"/>
          </c:dPt>
          <c:dPt>
            <c:idx val="1"/>
            <c:spPr>
              <a:solidFill>
                <a:srgbClr val="93C5FD"/>
              </a:solidFill>
              <a:effectLst/>
            </c:spPr>
          </c:dPt>
          <c:dPt>
            <c:idx val="2"/>
            <c:spPr>
              <a:solidFill>
                <a:srgbClr val="93C5FD"/>
              </a:solidFill>
              <a:effectLst/>
            </c:spPr>
          </c:dPt>
          <c:dPt>
            <c:idx val="3"/>
            <c:spPr>
              <a:solidFill>
                <a:srgbClr val="93C5FD"/>
              </a:solidFill>
              <a:effectLst/>
            </c:spPr>
          </c:dPt>
          <c:dPt>
            <c:idx val="4"/>
            <c:spPr>
              <a:solidFill>
                <a:srgbClr val="93C5FD"/>
              </a:solidFill>
              <a:effectLst/>
            </c:spPr>
          </c:dPt>
          <c:dPt>
            <c:idx val="5"/>
            <c:spPr>
              <a:solidFill>
                <a:srgbClr val="93C5FD"/>
              </a:solidFill>
              <a:effectLst/>
            </c:spPr>
          </c:dPt>
          <c:dPt>
            <c:idx val="6"/>
            <c:spPr>
              <a:solidFill>
                <a:srgbClr val="93C5FD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150" b="1" i="0" u="none" strike="noStrike">
                    <a:solidFill>
                      <a:srgbClr val="0F172A"/>
                    </a:solidFill>
                    <a:latin typeface="Consolas"/>
                  </a:defRPr>
                </a:pPr>
                <a:endParaRPr lang="ko-KR"/>
              </a:p>
            </c:txPr>
            <c:showVal val="1"/>
          </c:dLbls>
          <c:cat>
            <c:strRef>
              <c:f>Sheet1!$A$2:$A$8</c:f>
              <c:strCache>
                <c:ptCount val="7"/>
                <c:pt idx="0">
                  <c:v>창원시</c:v>
                </c:pt>
                <c:pt idx="1">
                  <c:v>김해시</c:v>
                </c:pt>
                <c:pt idx="2">
                  <c:v>진주시</c:v>
                </c:pt>
                <c:pt idx="3">
                  <c:v>양산시</c:v>
                </c:pt>
                <c:pt idx="4">
                  <c:v>밀양시</c:v>
                </c:pt>
                <c:pt idx="5">
                  <c:v>함안군</c:v>
                </c:pt>
                <c:pt idx="6">
                  <c:v>거제시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563</c:v>
                </c:pt>
                <c:pt idx="1">
                  <c:v>457</c:v>
                </c:pt>
                <c:pt idx="2">
                  <c:v>318</c:v>
                </c:pt>
                <c:pt idx="3">
                  <c:v>271</c:v>
                </c:pt>
                <c:pt idx="4">
                  <c:v>239</c:v>
                </c:pt>
                <c:pt idx="5">
                  <c:v>193</c:v>
                </c:pt>
                <c:pt idx="6">
                  <c:v>187</c:v>
                </c:pt>
              </c:numCache>
            </c:numRef>
          </c:val>
        </c:ser>
        <c:dLbls>
          <c:showVal val="1"/>
        </c:dLbls>
        <c:gapWidth val="45"/>
        <c:axId val="52417280"/>
        <c:axId val="52418816"/>
      </c:barChart>
      <c:catAx>
        <c:axId val="52417280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ko-KR"/>
          </a:p>
        </c:txPr>
        <c:crossAx val="52418816"/>
        <c:crosses val="autoZero"/>
        <c:auto val="1"/>
        <c:lblAlgn val="ctr"/>
        <c:lblOffset val="100"/>
        <c:noMultiLvlLbl val="1"/>
      </c:catAx>
      <c:valAx>
        <c:axId val="52418816"/>
        <c:scaling>
          <c:orientation val="minMax"/>
          <c:max val="640"/>
        </c:scaling>
        <c:delete val="1"/>
        <c:axPos val="l"/>
        <c:numFmt formatCode="General" sourceLinked="0"/>
        <c:tickLblPos val="nextTo"/>
        <c:crossAx val="5241728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ko-KR"/>
  <c:roundedCorners val="1"/>
  <c:chart>
    <c:autoTitleDeleted val="1"/>
    <c:plotArea>
      <c:layout/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화재 발생</c:v>
                </c:pt>
              </c:strCache>
            </c:strRef>
          </c:tx>
          <c:spPr>
            <a:solidFill>
              <a:srgbClr val="2563EB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</c:v>
                </c:pt>
                <c:pt idx="1">
                  <c:v>29</c:v>
                </c:pt>
                <c:pt idx="2">
                  <c:v>33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도로협소</c:v>
                </c:pt>
              </c:strCache>
            </c:strRef>
          </c:tx>
          <c:spPr>
            <a:solidFill>
              <a:srgbClr val="EA580C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</c:v>
                </c:pt>
                <c:pt idx="1">
                  <c:v>28</c:v>
                </c:pt>
                <c:pt idx="2">
                  <c:v>14</c:v>
                </c:pt>
                <c:pt idx="3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노후건물</c:v>
                </c:pt>
              </c:strCache>
            </c:strRef>
          </c:tx>
          <c:spPr>
            <a:solidFill>
              <a:srgbClr val="7C3AED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</c:v>
                </c:pt>
                <c:pt idx="1">
                  <c:v>20</c:v>
                </c:pt>
                <c:pt idx="2">
                  <c:v>12</c:v>
                </c:pt>
                <c:pt idx="3">
                  <c:v>13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고령인구</c:v>
                </c:pt>
              </c:strCache>
            </c:strRef>
          </c:tx>
          <c:spPr>
            <a:solidFill>
              <a:srgbClr val="15803D"/>
            </a:solidFill>
            <a:effectLst/>
          </c:spPr>
          <c:cat>
            <c:strRef>
              <c:f>Sheet1!$A$2:$A$5</c:f>
              <c:strCache>
                <c:ptCount val="4"/>
                <c:pt idx="0">
                  <c:v>마산합포구</c:v>
                </c:pt>
                <c:pt idx="1">
                  <c:v>진해구</c:v>
                </c:pt>
                <c:pt idx="2">
                  <c:v>의창구</c:v>
                </c:pt>
                <c:pt idx="3">
                  <c:v>성산구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19</c:v>
                </c:pt>
                <c:pt idx="1">
                  <c:v>18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gapWidth val="60"/>
        <c:overlap val="100"/>
        <c:axId val="51369472"/>
        <c:axId val="57449088"/>
      </c:barChart>
      <c:catAx>
        <c:axId val="51369472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ko-KR"/>
          </a:p>
        </c:txPr>
        <c:crossAx val="57449088"/>
        <c:crosses val="autoZero"/>
        <c:auto val="1"/>
        <c:lblAlgn val="ctr"/>
        <c:lblOffset val="100"/>
        <c:noMultiLvlLbl val="1"/>
      </c:catAx>
      <c:valAx>
        <c:axId val="57449088"/>
        <c:scaling>
          <c:orientation val="minMax"/>
        </c:scaling>
        <c:delete val="1"/>
        <c:axPos val="l"/>
        <c:numFmt formatCode="General" sourceLinked="0"/>
        <c:tickLblPos val="nextTo"/>
        <c:crossAx val="51369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txPr>
        <a:bodyPr/>
        <a:lstStyle/>
        <a:p>
          <a:pPr>
            <a:defRPr sz="1100">
              <a:solidFill>
                <a:srgbClr val="334155"/>
              </a:solidFill>
              <a:latin typeface="Malgun Gothic"/>
              <a:cs typeface="Malgun Gothic"/>
            </a:defRPr>
          </a:pPr>
          <a:endParaRPr lang="ko-KR"/>
        </a:p>
      </c:txPr>
    </c:legend>
    <c:plotVisOnly val="1"/>
    <c:dispBlanksAs val="span"/>
  </c:chart>
  <c:spPr>
    <a:noFill/>
    <a:ln>
      <a:noFill/>
    </a:ln>
    <a:effectLst/>
  </c:spPr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ko-KR"/>
  <c:roundedCorners val="1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건당 재산피해(천원)</c:v>
                </c:pt>
              </c:strCache>
            </c:strRef>
          </c:tx>
          <c:spPr>
            <a:solidFill>
              <a:srgbClr val="15803D"/>
            </a:solidFill>
            <a:effectLst/>
          </c:spPr>
          <c:dPt>
            <c:idx val="0"/>
          </c:dPt>
          <c:dPt>
            <c:idx val="1"/>
            <c:spPr>
              <a:solidFill>
                <a:srgbClr val="DC2626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300" b="1" i="0" u="none" strike="noStrike">
                    <a:solidFill>
                      <a:srgbClr val="0F172A"/>
                    </a:solidFill>
                    <a:latin typeface="Consolas"/>
                  </a:defRPr>
                </a:pPr>
                <a:endParaRPr lang="ko-KR"/>
              </a:p>
            </c:txPr>
            <c:showVal val="1"/>
          </c:dLbls>
          <c:cat>
            <c:strRef>
              <c:f>Sheet1!$A$2:$A$3</c:f>
              <c:strCache>
                <c:ptCount val="2"/>
                <c:pt idx="0">
                  <c:v>5분 이내 도착</c:v>
                </c:pt>
                <c:pt idx="1">
                  <c:v>5~10분 도착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5425</c:v>
                </c:pt>
                <c:pt idx="1">
                  <c:v>11198</c:v>
                </c:pt>
              </c:numCache>
            </c:numRef>
          </c:val>
        </c:ser>
        <c:dLbls>
          <c:showVal val="1"/>
        </c:dLbls>
        <c:gapWidth val="70"/>
        <c:axId val="68612096"/>
        <c:axId val="68613632"/>
      </c:barChart>
      <c:catAx>
        <c:axId val="68612096"/>
        <c:scaling>
          <c:orientation val="minMax"/>
        </c:scaling>
        <c:axPos val="b"/>
        <c:numFmt formatCode="General" sourceLinked="1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Malgun Gothic"/>
              </a:defRPr>
            </a:pPr>
            <a:endParaRPr lang="ko-KR"/>
          </a:p>
        </c:txPr>
        <c:crossAx val="68613632"/>
        <c:crosses val="autoZero"/>
        <c:auto val="1"/>
        <c:lblAlgn val="ctr"/>
        <c:lblOffset val="100"/>
        <c:noMultiLvlLbl val="1"/>
      </c:catAx>
      <c:valAx>
        <c:axId val="68613632"/>
        <c:scaling>
          <c:orientation val="minMax"/>
          <c:max val="13000"/>
        </c:scaling>
        <c:delete val="1"/>
        <c:axPos val="l"/>
        <c:numFmt formatCode="General" sourceLinked="0"/>
        <c:tickLblPos val="nextTo"/>
        <c:crossAx val="686120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좌측 자산동 항공사진(스카이뷰)으로 '노후 다세대 밀집·진입 곤란'을 각인. 우측: 실제 사례(자산동 90대 사망)+진입지연(제천 29명)+골든타임 통계. 사진은 프레임에 스카이뷰 캡처를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종합 위험 지수(피해·도로·노후·고령) 1위 = 마산합포구 → 관할 마산소방서를 드론 거점으로 선정. (거점 단독 슬라이드를 이 한 장으로 통합)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PC(인터넷 연결)에서 시뮬레이터를 열어 자산동 노후 다세대 골목 지점을 지정 → 지도 화면을 캡처해 이 자리(점선 박스)에 삽입.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골든타임(5분) 확보 시 건당 재산피해가 절반 수준(11,198→5,425천원), 10분 초과 시 사망률 약 2.5배. 드론은 진입불가 골목에서도 골든타임을 확보하는 수단.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85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제6회 빅데이터로 우리동네 문제해결 아이디어 공모대회 · 경남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58368" y="160020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정한 소방 드론 거점,
</a:t>
            </a:r>
            <a:r>
              <a:rPr lang="en-US" sz="40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그리고 현장에서의 대응 로직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580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발생 빅데이터로 창원을 정하고, 지도 분석으로 거점을 정한다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4343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651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배치할 것인가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빅데이터 분석 → 창원 · 거점 소방서 선정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434340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44988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92240" y="4754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후 어떻게 움직이는가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0" y="5120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→ 편대 SOP-D → 시연 → 기대효과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군체</a:t>
            </a:r>
            <a:r>
              <a:rPr lang="en-US" sz="12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·   한태영 · 김상도 · 노현수   ·   경상국립대학교 방산시스템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· WHY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닿지 못하는 곳에서, 사람이 죽는다</a:t>
            </a:r>
            <a:endParaRPr lang="en-US" sz="2800" dirty="0"/>
          </a:p>
        </p:txBody>
      </p:sp>
      <p:sp>
        <p:nvSpPr>
          <p:cNvPr id="15" name="Text 3"/>
          <p:cNvSpPr/>
          <p:nvPr/>
        </p:nvSpPr>
        <p:spPr>
          <a:xfrm>
            <a:off x="1005840" y="3214116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 밀집 항공사진(스카이뷰) 삽입</a:t>
            </a:r>
            <a:endParaRPr lang="en-US" sz="1300" dirty="0"/>
          </a:p>
        </p:txBody>
      </p:sp>
      <p:sp>
        <p:nvSpPr>
          <p:cNvPr id="16" name="Text 4"/>
          <p:cNvSpPr/>
          <p:nvPr/>
        </p:nvSpPr>
        <p:spPr>
          <a:xfrm>
            <a:off x="548640" y="55321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 자산동 노후 다세대(빌라) 밀집지</a:t>
            </a:r>
            <a:endParaRPr lang="en-US" sz="1200" dirty="0"/>
          </a:p>
        </p:txBody>
      </p:sp>
      <p:sp>
        <p:nvSpPr>
          <p:cNvPr id="17" name="Text 5"/>
          <p:cNvSpPr/>
          <p:nvPr/>
        </p:nvSpPr>
        <p:spPr>
          <a:xfrm>
            <a:off x="548640" y="5806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4m 미만 골목 밀집 → 소방차 진입 곤란   ·   출처: 카카오맵 스카이뷰</a:t>
            </a:r>
            <a:endParaRPr lang="en-US" sz="950" dirty="0"/>
          </a:p>
        </p:txBody>
      </p:sp>
      <p:grpSp>
        <p:nvGrpSpPr>
          <p:cNvPr id="33" name="그룹 32"/>
          <p:cNvGrpSpPr/>
          <p:nvPr/>
        </p:nvGrpSpPr>
        <p:grpSpPr>
          <a:xfrm>
            <a:off x="7178040" y="1481328"/>
            <a:ext cx="3232254" cy="933442"/>
            <a:chOff x="7178040" y="1481328"/>
            <a:chExt cx="4462272" cy="1442466"/>
          </a:xfrm>
        </p:grpSpPr>
        <p:sp>
          <p:nvSpPr>
            <p:cNvPr id="18" name="Shape 6"/>
            <p:cNvSpPr/>
            <p:nvPr/>
          </p:nvSpPr>
          <p:spPr>
            <a:xfrm>
              <a:off x="7178040" y="1481328"/>
              <a:ext cx="4462272" cy="1376172"/>
            </a:xfrm>
            <a:prstGeom prst="roundRect">
              <a:avLst>
                <a:gd name="adj" fmla="val 5814"/>
              </a:avLst>
            </a:prstGeom>
            <a:solidFill>
              <a:srgbClr val="172033"/>
            </a:solidFill>
            <a:ln w="16510">
              <a:solidFill>
                <a:srgbClr val="F97316"/>
              </a:solidFill>
              <a:prstDash val="solid"/>
            </a:ln>
          </p:spPr>
        </p:sp>
        <p:sp>
          <p:nvSpPr>
            <p:cNvPr id="19" name="Shape 7"/>
            <p:cNvSpPr/>
            <p:nvPr/>
          </p:nvSpPr>
          <p:spPr>
            <a:xfrm>
              <a:off x="7415784" y="1645920"/>
              <a:ext cx="2468880" cy="320040"/>
            </a:xfrm>
            <a:prstGeom prst="roundRect">
              <a:avLst>
                <a:gd name="adj" fmla="val 50000"/>
              </a:avLst>
            </a:prstGeom>
            <a:solidFill>
              <a:srgbClr val="0B1220"/>
            </a:solidFill>
            <a:ln w="12700">
              <a:solidFill>
                <a:srgbClr val="F97316"/>
              </a:solidFill>
              <a:prstDash val="solid"/>
            </a:ln>
          </p:spPr>
        </p:sp>
        <p:sp>
          <p:nvSpPr>
            <p:cNvPr id="20" name="Text 8"/>
            <p:cNvSpPr/>
            <p:nvPr/>
          </p:nvSpPr>
          <p:spPr>
            <a:xfrm>
              <a:off x="7415784" y="1645920"/>
              <a:ext cx="246888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700" b="1" dirty="0">
                  <a:solidFill>
                    <a:srgbClr val="F97316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노후 주거·고령 인명 위험</a:t>
              </a:r>
              <a:endParaRPr lang="en-US" sz="700" dirty="0"/>
            </a:p>
          </p:txBody>
        </p:sp>
        <p:sp>
          <p:nvSpPr>
            <p:cNvPr id="21" name="Text 9"/>
            <p:cNvSpPr/>
            <p:nvPr/>
          </p:nvSpPr>
          <p:spPr>
            <a:xfrm>
              <a:off x="7434072" y="2139696"/>
              <a:ext cx="3950208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E2E8F0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마산합포 자산동 노후 빌라 새벽 화재</a:t>
              </a:r>
              <a:endParaRPr lang="en-US" sz="900" dirty="0"/>
            </a:p>
          </p:txBody>
        </p:sp>
        <p:sp>
          <p:nvSpPr>
            <p:cNvPr id="22" name="Text 10"/>
            <p:cNvSpPr/>
            <p:nvPr/>
          </p:nvSpPr>
          <p:spPr>
            <a:xfrm>
              <a:off x="7434072" y="2523744"/>
              <a:ext cx="3950208" cy="4000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lnSpc>
                  <a:spcPct val="120000"/>
                </a:lnSpc>
                <a:buNone/>
              </a:pPr>
              <a:r>
                <a:rPr lang="en-US" sz="800" dirty="0">
                  <a:solidFill>
                    <a:srgbClr val="94A3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2층 발화 → 90대 사망 · 50대 중상 · 주민 18명 대피</a:t>
              </a:r>
              <a:endParaRPr lang="en-US" sz="800" dirty="0"/>
            </a:p>
          </p:txBody>
        </p:sp>
      </p:grpSp>
      <p:grpSp>
        <p:nvGrpSpPr>
          <p:cNvPr id="32" name="그룹 31"/>
          <p:cNvGrpSpPr/>
          <p:nvPr/>
        </p:nvGrpSpPr>
        <p:grpSpPr>
          <a:xfrm>
            <a:off x="7150608" y="5696712"/>
            <a:ext cx="3456432" cy="627888"/>
            <a:chOff x="6614160" y="6056196"/>
            <a:chExt cx="4462272" cy="731520"/>
          </a:xfrm>
        </p:grpSpPr>
        <p:sp>
          <p:nvSpPr>
            <p:cNvPr id="26" name="Shape 14"/>
            <p:cNvSpPr/>
            <p:nvPr/>
          </p:nvSpPr>
          <p:spPr>
            <a:xfrm>
              <a:off x="6614160" y="6056196"/>
              <a:ext cx="4462272" cy="731520"/>
            </a:xfrm>
            <a:prstGeom prst="roundRect">
              <a:avLst>
                <a:gd name="adj" fmla="val 12500"/>
              </a:avLst>
            </a:prstGeom>
            <a:solidFill>
              <a:srgbClr val="1A0E06"/>
            </a:solidFill>
            <a:ln w="15240">
              <a:solidFill>
                <a:srgbClr val="FBBF24"/>
              </a:solidFill>
              <a:prstDash val="solid"/>
            </a:ln>
          </p:spPr>
        </p:sp>
        <p:sp>
          <p:nvSpPr>
            <p:cNvPr id="27" name="Text 15"/>
            <p:cNvSpPr/>
            <p:nvPr/>
          </p:nvSpPr>
          <p:spPr>
            <a:xfrm>
              <a:off x="6949440" y="6056196"/>
              <a:ext cx="3950208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5000"/>
                </a:lnSpc>
                <a:buNone/>
              </a:pPr>
              <a:r>
                <a:rPr lang="en-US" sz="900" b="1" dirty="0">
                  <a:solidFill>
                    <a:srgbClr val="FBBF24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골든타임  </a:t>
              </a:r>
              <a:r>
                <a:rPr lang="en-US" sz="900" dirty="0">
                  <a:solidFill>
                    <a:srgbClr val="94A3B8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5분 초과 시 피해 2.1배 · 10분 초과 사망률 2.5배</a:t>
              </a:r>
              <a:endParaRPr lang="en-US" sz="900" dirty="0"/>
            </a:p>
          </p:txBody>
        </p:sp>
      </p:grpSp>
      <p:sp>
        <p:nvSpPr>
          <p:cNvPr id="28" name="Text 16"/>
          <p:cNvSpPr/>
          <p:nvPr/>
        </p:nvSpPr>
        <p:spPr>
          <a:xfrm>
            <a:off x="548640" y="6172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국가화재정보시스템(NFDS)·골든타임 연구 / </a:t>
            </a:r>
            <a:r>
              <a:rPr lang="ko-KR" altLang="en-US" sz="900" i="1" dirty="0" smtClean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국제신문</a:t>
            </a:r>
            <a:endParaRPr lang="en-US" sz="900" dirty="0"/>
          </a:p>
        </p:txBody>
      </p:sp>
      <p:sp>
        <p:nvSpPr>
          <p:cNvPr id="30" name="Shape 2"/>
          <p:cNvSpPr/>
          <p:nvPr/>
        </p:nvSpPr>
        <p:spPr>
          <a:xfrm>
            <a:off x="548640" y="1463040"/>
            <a:ext cx="6400800" cy="3995928"/>
          </a:xfrm>
          <a:prstGeom prst="roundRect">
            <a:avLst>
              <a:gd name="adj" fmla="val 2368"/>
            </a:avLst>
          </a:prstGeom>
          <a:blipFill>
            <a:blip r:embed="rId3"/>
            <a:stretch>
              <a:fillRect/>
            </a:stretch>
          </a:blipFill>
          <a:ln w="19050">
            <a:solidFill>
              <a:srgbClr val="DC2626"/>
            </a:solidFill>
            <a:prstDash val="dash"/>
          </a:ln>
        </p:spPr>
      </p:sp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150608" y="2558796"/>
            <a:ext cx="3232255" cy="2900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인식 · 무엇이 골든타임을 막나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대응을 막는 세 개의 벽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603504" cy="603504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불가·지연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 4m 미만 골목 + 불법주차로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가거나 늦게 도착한다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029968"/>
            <a:ext cx="603504" cy="603504"/>
          </a:xfrm>
          <a:prstGeom prst="ellipse">
            <a:avLst/>
          </a:prstGeom>
          <a:solidFill>
            <a:srgbClr val="FFEDD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취약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57200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고령·노후 주거 밀집·새벽 단독 거주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대피 어렵고 초동 정찰·안내 공백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5661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21040" y="2029968"/>
            <a:ext cx="603504" cy="603504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202996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0525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소방드론 한계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321040" y="2880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조종사 1명이 드론 1기만 운용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급확산 대형 재난 입체 대응 불가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소방차가 진입하기 전, 자율 군집 드론이 초동을 채운다.  </a:t>
            </a:r>
            <a:endParaRPr lang="en-US" sz="1400" b="1" dirty="0" smtClean="0">
              <a:solidFill>
                <a:srgbClr val="1580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 err="1" smtClean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</a:t>
            </a:r>
            <a:r>
              <a:rPr lang="en-US" sz="1400" dirty="0" smtClean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둘지(PART 1) · 도착 후 어떻게 움직일지(PART 2)를 데이터로 설계한다.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배치할 것인가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발생 빈도로 대상 지역을 창원으로 정하고 — 지도에서 소방차가 못 가는 경로를 찾아 드론 거점 소방서를 정한다.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선정 · 창원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취약지 분석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선정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관련 데이터를 모은다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 빈도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시·군구별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건수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8152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FFEDD5"/>
          </a:solidFill>
          <a:ln/>
        </p:spPr>
      </p:sp>
      <p:sp>
        <p:nvSpPr>
          <p:cNvPr id="11" name="Text 9"/>
          <p:cNvSpPr/>
          <p:nvPr/>
        </p:nvSpPr>
        <p:spPr>
          <a:xfrm>
            <a:off x="308152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도로폭·도로망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08152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지자체 · OSM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8152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폭·소방차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가능성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1208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1324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sp>
        <p:nvSpPr>
          <p:cNvPr id="16" name="Text 14"/>
          <p:cNvSpPr/>
          <p:nvPr/>
        </p:nvSpPr>
        <p:spPr>
          <a:xfrm>
            <a:off x="541324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건축물대장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1324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국가공간정보포털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1324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노후 건축물 비율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취약 지수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4380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4496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774496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고령·인구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74496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통계청 KOSIS·SGIS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4496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65세+ 교통약자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밀집 지역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75520" y="1691640"/>
            <a:ext cx="2194560" cy="2743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76688" y="1920240"/>
            <a:ext cx="1792224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/>
        </p:spPr>
      </p:sp>
      <p:sp>
        <p:nvSpPr>
          <p:cNvPr id="26" name="Text 24"/>
          <p:cNvSpPr/>
          <p:nvPr/>
        </p:nvSpPr>
        <p:spPr>
          <a:xfrm>
            <a:off x="10076688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소방용수·진입곤란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76688" y="2624328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공공데이터포털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76688" y="3154680"/>
            <a:ext cx="1792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소화전·진입곤란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구간 현황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7091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= 소방안전 빅데이터 플랫폼의 최근 1년 화재 발생 빈도.  </a:t>
            </a:r>
            <a:r>
              <a:rPr lang="en-US" sz="13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도로·건축·인구 데이터를 파이썬(Pandas·NumPy·Matplotlib)으로 통합·시각화한다.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 err="1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지역을</a:t>
            </a:r>
            <a:r>
              <a:rPr lang="en-US" sz="2700" b="1" dirty="0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창원으로</a:t>
            </a:r>
            <a:r>
              <a:rPr lang="en-US" sz="2700" b="1" dirty="0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700" b="1" dirty="0" err="1" smtClean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소방안전 빅데이터 플랫폼 · 최근 1년 · 경남 시·군별 화재 발생 건수 (창원시 = 5개 구 합산)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731520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1783080"/>
            <a:ext cx="3474720" cy="3977640"/>
          </a:xfrm>
          <a:prstGeom prst="roundRect">
            <a:avLst>
              <a:gd name="adj" fmla="val 23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412480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12480" y="234086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창원시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8412480" y="2971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563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8412480" y="37673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 · 경남 최다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412480" y="4160520"/>
            <a:ext cx="29260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4279392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 전체 화재의 15.8% 집중 — 화재 최다 도시를 드론 배치 대상 지역으로 확정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</a:t>
            </a:r>
            <a:r>
              <a:rPr lang="en-US" sz="1250" b="1" kern="0" spc="300" dirty="0" smtClean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지도에서 소방차 진입불가 지역을 찾는다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36016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22960" y="5513832"/>
            <a:ext cx="384048" cy="0"/>
          </a:xfrm>
          <a:prstGeom prst="line">
            <a:avLst/>
          </a:prstGeom>
          <a:noFill/>
          <a:ln w="31750">
            <a:solidFill>
              <a:srgbClr val="DC2626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280160" y="5385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진입불가 골목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5513832"/>
            <a:ext cx="384048" cy="0"/>
          </a:xfrm>
          <a:prstGeom prst="line">
            <a:avLst/>
          </a:prstGeom>
          <a:noFill/>
          <a:ln w="4445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538581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 주행경로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534009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endParaRPr lang="en-US" sz="1200" dirty="0">
              <a:solidFill>
                <a:srgbClr val="C00000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9552" y="53858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발생지점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772400" y="1737360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973568" y="1993392"/>
            <a:ext cx="420624" cy="42062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9" name="Text 37"/>
          <p:cNvSpPr/>
          <p:nvPr/>
        </p:nvSpPr>
        <p:spPr>
          <a:xfrm>
            <a:off x="7973568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56" dirty="0"/>
          </a:p>
        </p:txBody>
      </p:sp>
      <p:sp>
        <p:nvSpPr>
          <p:cNvPr id="40" name="Text 38"/>
          <p:cNvSpPr/>
          <p:nvPr/>
        </p:nvSpPr>
        <p:spPr>
          <a:xfrm>
            <a:off x="8522208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화재지점 표시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522208" y="21671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창원 화재 발생지점(</a:t>
            </a:r>
            <a:r>
              <a:rPr lang="en-US" sz="1050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)을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올린다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72400" y="2761488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73568" y="3017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4" name="Text 42"/>
          <p:cNvSpPr/>
          <p:nvPr/>
        </p:nvSpPr>
        <p:spPr>
          <a:xfrm>
            <a:off x="7973568" y="3017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56" dirty="0"/>
          </a:p>
        </p:txBody>
      </p:sp>
      <p:sp>
        <p:nvSpPr>
          <p:cNvPr id="45" name="Text 43"/>
          <p:cNvSpPr/>
          <p:nvPr/>
        </p:nvSpPr>
        <p:spPr>
          <a:xfrm>
            <a:off x="8522208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탐색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8522208" y="31912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소방서에서 각 지점까지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하늘색 주행경로를 그린다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772400" y="3785616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73568" y="4041648"/>
            <a:ext cx="420624" cy="42062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9" name="Text 47"/>
          <p:cNvSpPr/>
          <p:nvPr/>
        </p:nvSpPr>
        <p:spPr>
          <a:xfrm>
            <a:off x="79735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56" dirty="0"/>
          </a:p>
        </p:txBody>
      </p:sp>
      <p:sp>
        <p:nvSpPr>
          <p:cNvPr id="50" name="Text 48"/>
          <p:cNvSpPr/>
          <p:nvPr/>
        </p:nvSpPr>
        <p:spPr>
          <a:xfrm>
            <a:off x="8522208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 = 진입불가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522208" y="421538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중 폭 4m 미만 구간을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점선으로 표시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772400" y="4809744"/>
            <a:ext cx="3840480" cy="932688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973568" y="5065776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4" name="Text 52"/>
          <p:cNvSpPr/>
          <p:nvPr/>
        </p:nvSpPr>
        <p:spPr>
          <a:xfrm>
            <a:off x="7973568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6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56" dirty="0"/>
          </a:p>
        </p:txBody>
      </p:sp>
      <p:sp>
        <p:nvSpPr>
          <p:cNvPr id="55" name="Text 53"/>
          <p:cNvSpPr/>
          <p:nvPr/>
        </p:nvSpPr>
        <p:spPr>
          <a:xfrm>
            <a:off x="8522208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필요 지점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522208" y="52395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빨간 점선이 걸린 화재지점 =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가장 필요한 곳</a:t>
            </a:r>
            <a:endParaRPr lang="en-US" sz="105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22198" y="1867281"/>
            <a:ext cx="561594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2" name="Shape 22"/>
          <p:cNvSpPr/>
          <p:nvPr/>
        </p:nvSpPr>
        <p:spPr>
          <a:xfrm>
            <a:off x="2201163" y="3749040"/>
            <a:ext cx="2611905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23"/>
          <p:cNvSpPr/>
          <p:nvPr/>
        </p:nvSpPr>
        <p:spPr>
          <a:xfrm>
            <a:off x="2201164" y="3749040"/>
            <a:ext cx="261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🔥</a:t>
            </a:r>
            <a:r>
              <a:rPr lang="en-US" sz="9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자산동 노후빌라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지수로 거점 소방서를 정한다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 발생(실측 반영) · 도로협소 · 노후건물 · 고령인구를 가중 합산 (도로·노후·고령은 예시)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758952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9612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의창구는 화재건수 최다지만 도로·노후·고령이 낮아 종합은 하위 — 원도심(마산합포·진해)이 상위.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366760" y="1828800"/>
            <a:ext cx="3246120" cy="1627632"/>
          </a:xfrm>
          <a:prstGeom prst="roundRect">
            <a:avLst>
              <a:gd name="adj" fmla="val 50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22792" y="201168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1위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22792" y="2286000"/>
            <a:ext cx="2734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마산합포구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8622792" y="2761488"/>
            <a:ext cx="2734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</a:t>
            </a: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점 / 위험지수</a:t>
            </a:r>
            <a:endParaRPr lang="en-US" sz="3800" dirty="0"/>
          </a:p>
        </p:txBody>
      </p:sp>
      <p:sp>
        <p:nvSpPr>
          <p:cNvPr id="11" name="Shape 8"/>
          <p:cNvSpPr/>
          <p:nvPr/>
        </p:nvSpPr>
        <p:spPr>
          <a:xfrm>
            <a:off x="8366760" y="3611880"/>
            <a:ext cx="3246120" cy="1920240"/>
          </a:xfrm>
          <a:prstGeom prst="roundRect">
            <a:avLst>
              <a:gd name="adj" fmla="val 4286"/>
            </a:avLst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22792" y="3803904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22792" y="3803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거점 선정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22792" y="4224528"/>
            <a:ext cx="2734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8622792" y="4754880"/>
            <a:ext cx="27340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위험 최상위 원도심(마산합포·진해)을 최단 거리로 관할 → 소방 드론 배치 거점으로 선정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4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58368" y="2834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후 어떻게 움직이는가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7033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거점에서 출동한 드론 편대가 화점에 도착한 순간부터 — 표준 행동요령(SOP-D)에 따라 자율 수행한다.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출동·도착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5468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7472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 전개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26364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5단계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732520" y="4709160"/>
            <a:ext cx="320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052560" y="4709160"/>
            <a:ext cx="2468880" cy="640080"/>
          </a:xfrm>
          <a:prstGeom prst="roundRect">
            <a:avLst>
              <a:gd name="adj" fmla="val 14286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4709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r>
              <a:rPr lang="en-US" sz="12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— 소방차보다 먼저 도착한다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 소방서 → 화점 직선 비행 · 화재 인지 시점 공통 기준 (예시)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실도로 주행+출동준비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8:40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좁은 골목은 입구까지만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874520"/>
            <a:ext cx="3520440" cy="2743200"/>
          </a:xfrm>
          <a:prstGeom prst="roundRect">
            <a:avLst>
              <a:gd name="adj" fmla="val 3000"/>
            </a:avLst>
          </a:prstGeom>
          <a:solidFill>
            <a:srgbClr val="FFEDD5"/>
          </a:solidFill>
          <a:ln w="12700">
            <a:solidFill>
              <a:srgbClr val="FDBA74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251960" y="2084832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251960" y="245059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거점→화점 직선 비행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278892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3:20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4251960" y="388620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위를 그대로 넘어 도착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55280" y="1874520"/>
            <a:ext cx="3657600" cy="2743200"/>
          </a:xfrm>
          <a:prstGeom prst="roundRect">
            <a:avLst>
              <a:gd name="adj" fmla="val 3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552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955280" y="2578608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5:20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7955280" y="35844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골든타임 확보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5528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소방관 투입 전 정밀 정찰까지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892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수치는 예시 시나리오 — 거점·지점 거리에 따라 달라진다.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즉시 — 5개 편대로 전개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73936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73936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103120" y="1600200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지휘통제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892040" y="1600200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공중지휘권 선언 · 3D 매핑 융합 · 통합 제어·자원 관리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786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52344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752344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1편대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03120" y="2578608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공중정찰대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892040" y="2578608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사방 3D 스캐닝 · 열화상 화점 탐지 · 연소확대선 모니터링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730752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307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2편대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03120" y="3557016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인명수색·구조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892040" y="3557016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고립 구조대상자 식별 · 생명유지 키트 투하 · 대피 인도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3542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709160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709160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3편대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103120" y="4535424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화재진압대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892040" y="4535424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창문·진입점 파악 · 창문 파쇄 후 정밀 소화탄 투하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13832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5687568"/>
            <a:ext cx="11887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687568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4편대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03120" y="5513832"/>
            <a:ext cx="2743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통신중계·조명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892040" y="5513832"/>
            <a:ext cx="6446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Mesh 통신망 형성 · 음영지역 신호 중계 · 광역 조명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SOP-D 표준 행동요령 · 5단계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97864" y="2121408"/>
            <a:ext cx="731520" cy="73152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1197864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6366F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전개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정찰·진압·구조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편대 전개·상승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101-D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807208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56432" y="2121408"/>
            <a:ext cx="731520" cy="73152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56432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852928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정찰·평가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852928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ASSESS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35224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스캐닝·열화상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화점/진입점 파악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852928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102-D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18888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065776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15000" y="2121408"/>
            <a:ext cx="731520" cy="7315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5715000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111496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작전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111496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193792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창문 파쇄 후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소화탄·대피 인도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11496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222-D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77456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324344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973568" y="2121408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973568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370064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중계·호위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7370064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52360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요구조자 호위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외벽 연소차단·릴레이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70064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105-D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336024" y="1828800"/>
            <a:ext cx="26517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9582912" y="1828800"/>
            <a:ext cx="2029968" cy="35204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232136" y="2121408"/>
            <a:ext cx="731520" cy="7315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38" name="Text 36"/>
          <p:cNvSpPr/>
          <p:nvPr/>
        </p:nvSpPr>
        <p:spPr>
          <a:xfrm>
            <a:off x="10232136" y="21214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628632" y="2999232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종결</a:t>
            </a:r>
            <a:endParaRPr lang="en-US" sz="1450" dirty="0"/>
          </a:p>
        </p:txBody>
      </p:sp>
      <p:sp>
        <p:nvSpPr>
          <p:cNvPr id="40" name="Text 38"/>
          <p:cNvSpPr/>
          <p:nvPr/>
        </p:nvSpPr>
        <p:spPr>
          <a:xfrm>
            <a:off x="9628632" y="33832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710928" y="3703320"/>
            <a:ext cx="1773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대피 완료 확인</a:t>
            </a:r>
            <a:endParaRPr lang="en-US" sz="1050" dirty="0"/>
          </a:p>
          <a:p>
            <a:pPr marL="0" indent="0" algn="ctr">
              <a:lnSpc>
                <a:spcPct val="11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잔불 감시·RTH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628632" y="49834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113-D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지휘·정찰·진압·구조·통신 편대가 단계별 SOP 코드에 따라 한 타임라인에서 자율로 맞물려 움직인다.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 · STEP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— 지상 무인차량(UGV) 협업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지상 무인차량(UGV)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장애물 극복·소화수 보급 ·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방재 거점에서 출발·재보급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EDE9F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편대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상공에서 정밀 정찰·진압 —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골목 위를 그대로 넘는다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37360"/>
            <a:ext cx="356616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02752" y="2011680"/>
            <a:ext cx="3054096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/>
        </p:spPr>
      </p:sp>
      <p:sp>
        <p:nvSpPr>
          <p:cNvPr id="14" name="Text 12"/>
          <p:cNvSpPr/>
          <p:nvPr/>
        </p:nvSpPr>
        <p:spPr>
          <a:xfrm>
            <a:off x="8302752" y="2011680"/>
            <a:ext cx="3054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유무인 복합 편대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21040" y="269748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UGV는 지상 보급·거점,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드론은 공중 타격 — 한 편대처럼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6177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진입하기 전, 상공의 드론 편대와 지상의 UGV가 </a:t>
            </a:r>
            <a:r>
              <a:rPr lang="en-US" sz="1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→ 진압 → 대피 인도 → 보급</a:t>
            </a:r>
            <a:r>
              <a:rPr lang="en-US" sz="14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끊김 없이 이어 초동 대응을 채운다.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· 자산동 노후 다세대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지도에 발화점 위치 지정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7269480" cy="4526280"/>
          </a:xfrm>
          <a:prstGeom prst="roundRect">
            <a:avLst>
              <a:gd name="adj" fmla="val 1818"/>
            </a:avLst>
          </a:prstGeom>
          <a:solidFill>
            <a:srgbClr val="0B1220"/>
          </a:solidFill>
          <a:ln w="19050">
            <a:solidFill>
              <a:srgbClr val="7C3AED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771900" y="3040380"/>
            <a:ext cx="822960" cy="822960"/>
          </a:xfrm>
          <a:prstGeom prst="ellipse">
            <a:avLst/>
          </a:prstGeom>
          <a:solidFill>
            <a:srgbClr val="172033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37076" y="3305556"/>
            <a:ext cx="292608" cy="292608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54780"/>
            <a:ext cx="6355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실제 시뮬레이터 지도 화면을 넣으세요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4366260"/>
            <a:ext cx="5989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 골목 발화점 지정 · 마산소방서 거점 · 소방차 진입불가 빨간선 · 드론 직선 경로가 보이는 화면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001000" y="1554480"/>
            <a:ext cx="3611880" cy="2697480"/>
          </a:xfrm>
          <a:prstGeom prst="roundRect">
            <a:avLst>
              <a:gd name="adj" fmla="val 3051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73736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요약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75320" y="21579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72600" y="2157984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자산동 노후 다세대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753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최근접 거점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72600" y="265176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마산소방서 · 직선 1.96km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7532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도착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72600" y="314553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 29초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75320" y="3639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372600" y="3639312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CA5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 다수 · 호스 연장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01000" y="4389120"/>
            <a:ext cx="3611880" cy="1691640"/>
          </a:xfrm>
          <a:prstGeom prst="roundRect">
            <a:avLst>
              <a:gd name="adj" fmla="val 4865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45720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DE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드론이 먼저 도착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956048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골목을 드론이 상공으로 넘어 1분 만에 화점 도착 — 초동 골든타임 확보.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시연 · 자산동 노후 다세대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3D 건물 SOP-D 시뮬레이션</a:t>
            </a:r>
            <a:endParaRPr lang="en-US" sz="2600" dirty="0"/>
          </a:p>
        </p:txBody>
      </p:sp>
      <p:pic>
        <p:nvPicPr>
          <p:cNvPr id="4" name="Image 0" descr="cap_jasa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10817352" cy="479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6236208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정찰(열화상 화점 탐지) · 진압(창문 파쇄·정밀 소화탄) · 인명수색구조(대피 인도) · 통신중계·조명 편대가 SOP-D 단계별로 동시에 자율 수행 — 실제 시뮬레이션 화면.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 골든타임과 화재 피해 — 데이터로 본 근거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국가화재정보시스템 기반 분석 · 골든타임 연구 (현장도착 5분 기준)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828800"/>
          <a:ext cx="512064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1389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도착시간별 건당 재산피해 (천원)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0" y="1828800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99632" y="221284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Text 6"/>
          <p:cNvSpPr/>
          <p:nvPr/>
        </p:nvSpPr>
        <p:spPr>
          <a:xfrm>
            <a:off x="6601968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재산피해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601968" y="226771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2.1배 ↑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732520" y="182880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5분 → 5~10분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(건당 5,425 → 11,198천원)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0" y="2990088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199632" y="3374136"/>
            <a:ext cx="274320" cy="27432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4" name="Text 11"/>
          <p:cNvSpPr/>
          <p:nvPr/>
        </p:nvSpPr>
        <p:spPr>
          <a:xfrm>
            <a:off x="6601968" y="31272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사망률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601968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2.5배 ↑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8732520" y="2990088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현장도착 10분 초과 시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(10분 이하 대비)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943600" y="4151376"/>
            <a:ext cx="566928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334155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99632" y="4535424"/>
            <a:ext cx="274320" cy="27432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19" name="Text 16"/>
          <p:cNvSpPr/>
          <p:nvPr/>
        </p:nvSpPr>
        <p:spPr>
          <a:xfrm>
            <a:off x="6601968" y="4288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사망 확률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01968" y="459028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4배 ↓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732520" y="4151376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 이내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골든타임 확보 시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504688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0C1F16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시스템 = 골든타임 확보 수단. </a:t>
            </a:r>
            <a:endParaRPr lang="en-US" sz="1200" b="1" dirty="0" smtClean="0">
              <a:solidFill>
                <a:srgbClr val="15803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sz="1200" b="1" dirty="0" smtClean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소방차가 못 가는 골목도 드론이 5분 내 도착 → 문헌 기준 건당 피해 11,198 → 5,425천원(약 52%↓) 구간 유지, 인명 사망 위험 대폭 감소.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48640" y="6327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소방청 국가화재정보시스템(NFDS) 기반 분석 · 한국방재학회논문집 등 소방 골든타임 연구.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기대효과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사회 · 지역, 그리고 마무리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기술·학문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방산-민간 스핀오프 선도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4672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기계공학 제어·역학과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국방과학 자율 군집 운용의 융합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61688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사회·안전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617720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원도심 골든타임 확보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진입불가 골목도 5분 내 초동 대응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재산피해 약 52%↓·인명 위험 감소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74736" y="1737360"/>
            <a:ext cx="3630168" cy="2743200"/>
          </a:xfrm>
          <a:prstGeom prst="roundRect">
            <a:avLst>
              <a:gd name="adj" fmla="val 3000"/>
            </a:avLst>
          </a:prstGeom>
          <a:solidFill>
            <a:srgbClr val="172033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201168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0768" y="201168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EA5E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혁신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30768" y="2606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경남형 스마트시티·방산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30768" y="34290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방위산업·항공우주 인프라를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스마트시티에 결합한 지역 특화 혁신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1F1206"/>
          </a:solidFill>
          <a:ln w="1651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9560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창원·거점을 정하고, 편대가 골든타임을 먼저 지킨다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5046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1년 화재 빅데이터 → 창원·거점 소방서 선정 → SOP-D 현장 대응 → UGV 유무인 복합. 팀 군체 · 감사합니다. (Q&amp;A)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 가능성 · 이미 되는 기술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근거 — 시뮬레이션이 아니라, 현실에서 검증 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시뮬레이션의 요소는 국내에서 이미 실운용·실증되고 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04672" y="1965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군집 자율 편대 (정찰→분석→진압)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800600" y="19659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965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’26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04672" y="2386584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산림청 군집드론 운용 실증 — 감시·분석·진화 편대로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'헬기 도착 전 30분 골든타임'을 메운다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28232" y="1965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드론 화재 진압 (방수)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424160" y="196596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424160" y="196596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 ’25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28232" y="2386584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고중량 드론으로 고층건물 화재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방수 진압 기술 현장 실증 완료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83864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04672" y="36667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정찰 · 대피유도 · 투하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00600" y="36667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666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실운용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04672" y="408736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소방청 드론 실운용 — 열화상 정찰 · 확성기 ·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투하장치로 대피 유도·물자 전달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72200" y="3483864"/>
            <a:ext cx="5486400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334155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28232" y="3666744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→ </a:t>
            </a:r>
            <a:pPr indent="0" marL="0">
              <a:buNone/>
            </a:pPr>
            <a:r>
              <a:rPr lang="en-US" sz="13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정밀 소화탄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0424160" y="3666744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24160" y="366674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특허·논문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28232" y="4087368"/>
            <a:ext cx="49743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소화탄 화재진압 드론 특허(KR101741578B1) ·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자동소화드론 운용 논문(KAIS·KCI)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932688"/>
          </a:xfrm>
          <a:prstGeom prst="roundRect">
            <a:avLst>
              <a:gd name="adj" fmla="val 9804"/>
            </a:avLst>
          </a:prstGeom>
          <a:solidFill>
            <a:srgbClr val="1F1206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257800"/>
            <a:ext cx="105156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B92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우리의 확장 —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산불이 아닌 도심 원도심 골목(진입불가) + 지상 UGV 유무인 복합 + SOP-D.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(군집·소화탄 자율은 실증 단계, 그 위에 도심 특화를 얹는다.)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27278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산림청·소방청 보도(2025~2026), 특허 KR101741578B1, KAIS·KCI 소방드론 연구.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1493</Words>
  <Application>Microsoft Office PowerPoint</Application>
  <PresentationFormat>사용자 지정</PresentationFormat>
  <Paragraphs>276</Paragraphs>
  <Slides>17</Slides>
  <Notes>17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1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데이터로 정한 소방 드론 거점, 그리고 현장 로직</dc:title>
  <dc:subject>PptxGenJS Presentation</dc:subject>
  <dc:creator>팀 군체</dc:creator>
  <cp:lastModifiedBy>김형식</cp:lastModifiedBy>
  <cp:revision>7</cp:revision>
  <dcterms:created xsi:type="dcterms:W3CDTF">2026-08-07T09:20:05Z</dcterms:created>
  <dcterms:modified xsi:type="dcterms:W3CDTF">2026-08-08T14:37:14Z</dcterms:modified>
</cp:coreProperties>
</file>