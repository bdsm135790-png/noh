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화재건수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0F172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창원시</c:v>
                  </c:pt>
                  <c:pt idx="1">
                    <c:v>김해시</c:v>
                  </c:pt>
                  <c:pt idx="2">
                    <c:v>진주시</c:v>
                  </c:pt>
                  <c:pt idx="3">
                    <c:v>양산시</c:v>
                  </c:pt>
                  <c:pt idx="4">
                    <c:v>밀양시</c:v>
                  </c:pt>
                  <c:pt idx="5">
                    <c:v>함안군</c:v>
                  </c:pt>
                  <c:pt idx="6">
                    <c:v>거제시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563</c:v>
                </c:pt>
                <c:pt idx="1">
                  <c:v>457</c:v>
                </c:pt>
                <c:pt idx="2">
                  <c:v>318</c:v>
                </c:pt>
                <c:pt idx="3">
                  <c:v>271</c:v>
                </c:pt>
                <c:pt idx="4">
                  <c:v>239</c:v>
                </c:pt>
                <c:pt idx="5">
                  <c:v>193</c:v>
                </c:pt>
                <c:pt idx="6">
                  <c:v>187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0F172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화재건수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의창구</c:v>
                  </c:pt>
                  <c:pt idx="1">
                    <c:v>진해구</c:v>
                  </c:pt>
                  <c:pt idx="2">
                    <c:v>마산합포구</c:v>
                  </c:pt>
                  <c:pt idx="3">
                    <c:v>성산구</c:v>
                  </c:pt>
                  <c:pt idx="4">
                    <c:v>마산회원구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</c:v>
                </c:pt>
                <c:pt idx="1">
                  <c:v>117</c:v>
                </c:pt>
                <c:pt idx="2">
                  <c:v>116</c:v>
                </c:pt>
                <c:pt idx="3">
                  <c:v>116</c:v>
                </c:pt>
                <c:pt idx="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화재빈도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도로협소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노후건물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20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고령인구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마산합포구</c:v>
                  </c:pt>
                  <c:pt idx="1">
                    <c:v>진해구</c:v>
                  </c:pt>
                  <c:pt idx="2">
                    <c:v>의창구</c:v>
                  </c:pt>
                  <c:pt idx="3">
                    <c:v>성산구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</c:v>
                </c:pt>
                <c:pt idx="1">
                  <c:v>18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4155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건당 재산피해(천원)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5분 이내 도착</c:v>
                  </c:pt>
                  <c:pt idx="1">
                    <c:v>5~10분 도착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5425</c:v>
                </c:pt>
                <c:pt idx="1">
                  <c:v>11198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PC(인터넷 연결)에서 시뮬레이터를 열어 마산어시장 지정 → 지도 화면을 캡처해 이 자리(점선 박스)에 삽입.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골든타임(5분) 확보 시 건당 재산피해가 절반 수준(11,198→5,425천원), 10분 초과 시 사망률 약 2.5배. 드론은 진입불가 골목에서도 골든타임을 확보하는 수단.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제6회 빅데이터로 우리동네 문제해결 아이디어 공모대회 · 경남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정한 소방 드론 거점,
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현장에서의 대응 로직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빅데이터로 창원을 정하고, 지도 분석으로 거점을 정한다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빅데이터 분석 → 창원 · 거점 소방서 선정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→ 편대 SOP-D → 시연 → 기대효과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군체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한태영 · 김상도 · 노현수   ·   경상국립대학교 방산시스템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빈도로 대상 지역을 창원으로 정하고 — 지도에서 소방차가 못 가는 경로를 찾아 드론 거점 소방서를 정한다.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선정 · 창원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취약지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선정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관련 데이터를 모은다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 빈도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시·군구별 화재 건수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152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도로폭·도로망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8152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· OSM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폭 · 소방차 진입 가능성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1324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541324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1324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국가공간정보포털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1324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건축물 비율 → 취약 지수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4496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4496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고령·인구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4496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KOSIS·SGIS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4496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65세+ 교통약자 밀집 지역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7552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668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668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소방용수·진입곤란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7668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7668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소화전 · 진입곤란 구간 현황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= 소방안전 빅데이터 플랫폼의 최근 1년 화재 발생 빈도.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도로·건축·인구 데이터를 파이썬(Pandas·NumPy·Matplotlib)으로 통합·시각화한다.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지역을 창원으로 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 · 최근 1년 · 경남 시·군별 화재 발생 건수 (창원시 = 5개 구 합산)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783080"/>
            <a:ext cx="3474720" cy="3977640"/>
          </a:xfrm>
          <a:prstGeom prst="roundRect">
            <a:avLst>
              <a:gd name="adj" fmla="val 23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창원시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41248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563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412480" y="3767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· 경남 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0" y="416052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2793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전체 화재의 15.8% 집중 — 화재 최다 도시를 드론 배치 대상 지역으로 확정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① — 창원 구별 화재와 피해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 · 최근 1년 · 창원시 구별 화재 발생 건수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949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783080"/>
            <a:ext cx="3794760" cy="3977640"/>
          </a:xfrm>
          <a:prstGeom prst="roundRect">
            <a:avLst>
              <a:gd name="adj" fmla="val 21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38160" y="2542032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0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구별 화재건수는 88~126건으로 비슷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3108960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0" y="29626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도로·노후·인명피해에서 갈린다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3675888"/>
            <a:ext cx="137160" cy="1371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0" y="35295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마산합포구는 인명피해가 창원 최다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43434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321040" y="4800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인명피해 22명(사망 5) — 원도심 위험 집중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소방차 진입불가 지역을 찾는다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408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583680" cy="3383280"/>
          </a:xfrm>
          <a:prstGeom prst="rect">
            <a:avLst/>
          </a:prstGeom>
          <a:solidFill>
            <a:srgbClr val="EEF2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40280"/>
            <a:ext cx="1188720" cy="82296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194560"/>
            <a:ext cx="1280160" cy="73152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49240" y="2286000"/>
            <a:ext cx="1280160" cy="82296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3520440"/>
            <a:ext cx="1097280" cy="91440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3429000"/>
            <a:ext cx="1188720" cy="100584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3611880"/>
            <a:ext cx="1097280" cy="91440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4251960"/>
            <a:ext cx="1188720" cy="640080"/>
          </a:xfrm>
          <a:prstGeom prst="rect">
            <a:avLst/>
          </a:prstGeom>
          <a:solidFill>
            <a:srgbClr val="DDE3E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291840"/>
            <a:ext cx="6217920" cy="0"/>
          </a:xfrm>
          <a:prstGeom prst="line">
            <a:avLst/>
          </a:prstGeom>
          <a:noFill/>
          <a:ln w="571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057400"/>
            <a:ext cx="0" cy="3017520"/>
          </a:xfrm>
          <a:prstGeom prst="line">
            <a:avLst/>
          </a:prstGeom>
          <a:noFill/>
          <a:ln w="571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3291840"/>
            <a:ext cx="0" cy="178308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6040" y="3291840"/>
            <a:ext cx="1005840" cy="-77724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3291840"/>
            <a:ext cx="914400" cy="-64008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3291840"/>
            <a:ext cx="0" cy="105156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4526280"/>
            <a:ext cx="1005840" cy="22860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91840"/>
            <a:ext cx="457200" cy="105156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3864" y="2386584"/>
            <a:ext cx="256032" cy="25603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4184" y="2523744"/>
            <a:ext cx="256032" cy="25603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72184" y="4215384"/>
            <a:ext cx="256032" cy="25603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5464" y="4626864"/>
            <a:ext cx="256032" cy="25603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5704" y="4215384"/>
            <a:ext cx="256032" cy="25603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" y="4837176"/>
            <a:ext cx="201168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1114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소방서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2960" y="5513832"/>
            <a:ext cx="365760" cy="0"/>
          </a:xfrm>
          <a:prstGeom prst="line">
            <a:avLst/>
          </a:prstGeom>
          <a:noFill/>
          <a:ln w="444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1872" y="5385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진입불가 경로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5513832"/>
            <a:ext cx="365760" cy="0"/>
          </a:xfrm>
          <a:prstGeom prst="line">
            <a:avLst/>
          </a:prstGeom>
          <a:noFill/>
          <a:ln w="4445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0752" y="5385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진입가능 도로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5440680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5385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발생지점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1737360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73568" y="1993392"/>
            <a:ext cx="420624" cy="42062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797356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56" dirty="0"/>
          </a:p>
        </p:txBody>
      </p:sp>
      <p:sp>
        <p:nvSpPr>
          <p:cNvPr id="38" name="Text 36"/>
          <p:cNvSpPr/>
          <p:nvPr/>
        </p:nvSpPr>
        <p:spPr>
          <a:xfrm>
            <a:off x="8522208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화재지점 표시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522208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창원 화재 발생지점을 지도에 올린다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72400" y="2761488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3568" y="3017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7973568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56" dirty="0"/>
          </a:p>
        </p:txBody>
      </p:sp>
      <p:sp>
        <p:nvSpPr>
          <p:cNvPr id="43" name="Text 41"/>
          <p:cNvSpPr/>
          <p:nvPr/>
        </p:nvSpPr>
        <p:spPr>
          <a:xfrm>
            <a:off x="8522208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탐색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22208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지점까지 소방서에서 실측 도로망으로 경로를 찾는다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72400" y="3785616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73568" y="4041648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79735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56" dirty="0"/>
          </a:p>
        </p:txBody>
      </p:sp>
      <p:sp>
        <p:nvSpPr>
          <p:cNvPr id="48" name="Text 46"/>
          <p:cNvSpPr/>
          <p:nvPr/>
        </p:nvSpPr>
        <p:spPr>
          <a:xfrm>
            <a:off x="852220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빨간선 = 진입불가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522208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중 폭 4m 미만 구간을 빨간선으로 표시한다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772400" y="4809744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73568" y="506577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7973568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56" dirty="0"/>
          </a:p>
        </p:txBody>
      </p:sp>
      <p:sp>
        <p:nvSpPr>
          <p:cNvPr id="53" name="Text 51"/>
          <p:cNvSpPr/>
          <p:nvPr/>
        </p:nvSpPr>
        <p:spPr>
          <a:xfrm>
            <a:off x="8522208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필요 지점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522208" y="5239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빨간선이 걸린 화재지점 = 드론이 가장 필요한 곳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② — 종합 위험 지수로 합친다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화재빈도(실측 반영) · 도로협소 · 노후건물 · 고령인구 가중 합산 (도로·노후·고령은 예시)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4980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828800"/>
            <a:ext cx="3246120" cy="3703320"/>
          </a:xfrm>
          <a:prstGeom prst="roundRect">
            <a:avLst>
              <a:gd name="adj" fmla="val 25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95360" y="20299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1위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95360" y="2359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95360" y="2880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595360" y="3639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/ 위험지수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595360" y="402336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0" y="41148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의창구는 화재건수 최다지만 도로·노후가 낮아 종합은 하위 — 원도심(마산합포·진해)이 상위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 안에서 거점 소방서를 정한다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035040" cy="3520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" name="Shape 6"/>
          <p:cNvSpPr/>
          <p:nvPr/>
        </p:nvSpPr>
        <p:spPr>
          <a:xfrm>
            <a:off x="188366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9" name="Shape 7"/>
          <p:cNvSpPr/>
          <p:nvPr/>
        </p:nvSpPr>
        <p:spPr>
          <a:xfrm>
            <a:off x="243230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0" name="Shape 8"/>
          <p:cNvSpPr/>
          <p:nvPr/>
        </p:nvSpPr>
        <p:spPr>
          <a:xfrm>
            <a:off x="298094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1" name="Shape 9"/>
          <p:cNvSpPr/>
          <p:nvPr/>
        </p:nvSpPr>
        <p:spPr>
          <a:xfrm>
            <a:off x="352958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7822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1837944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5175504" y="1837944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5" name="Shape 13"/>
          <p:cNvSpPr/>
          <p:nvPr/>
        </p:nvSpPr>
        <p:spPr>
          <a:xfrm>
            <a:off x="572414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2784" y="183794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227799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5024" y="227799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8366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230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298094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958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407822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4626864" y="2277999"/>
            <a:ext cx="530352" cy="42176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227799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6" name="Shape 24"/>
          <p:cNvSpPr/>
          <p:nvPr/>
        </p:nvSpPr>
        <p:spPr>
          <a:xfrm>
            <a:off x="5724144" y="227799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2784" y="227799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" y="271805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29" name="Shape 27"/>
          <p:cNvSpPr/>
          <p:nvPr/>
        </p:nvSpPr>
        <p:spPr>
          <a:xfrm>
            <a:off x="1335024" y="2718054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1883664" y="271805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2304" y="271805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2" name="Shape 30"/>
          <p:cNvSpPr/>
          <p:nvPr/>
        </p:nvSpPr>
        <p:spPr>
          <a:xfrm>
            <a:off x="2980944" y="271805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3" name="Shape 31"/>
          <p:cNvSpPr/>
          <p:nvPr/>
        </p:nvSpPr>
        <p:spPr>
          <a:xfrm>
            <a:off x="3529584" y="2718054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4" name="Shape 32"/>
          <p:cNvSpPr/>
          <p:nvPr/>
        </p:nvSpPr>
        <p:spPr>
          <a:xfrm>
            <a:off x="4078224" y="271805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4626864" y="271805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5175504" y="271805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5724144" y="2718054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8" name="Shape 36"/>
          <p:cNvSpPr/>
          <p:nvPr/>
        </p:nvSpPr>
        <p:spPr>
          <a:xfrm>
            <a:off x="6272784" y="2718054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" y="315810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40" name="Shape 38"/>
          <p:cNvSpPr/>
          <p:nvPr/>
        </p:nvSpPr>
        <p:spPr>
          <a:xfrm>
            <a:off x="1335024" y="3158109"/>
            <a:ext cx="530352" cy="42176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883664" y="315810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2" name="Shape 40"/>
          <p:cNvSpPr/>
          <p:nvPr/>
        </p:nvSpPr>
        <p:spPr>
          <a:xfrm>
            <a:off x="2432304" y="315810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3" name="Shape 41"/>
          <p:cNvSpPr/>
          <p:nvPr/>
        </p:nvSpPr>
        <p:spPr>
          <a:xfrm>
            <a:off x="2980944" y="315810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4" name="Shape 42"/>
          <p:cNvSpPr/>
          <p:nvPr/>
        </p:nvSpPr>
        <p:spPr>
          <a:xfrm>
            <a:off x="3529584" y="315810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45" name="Shape 43"/>
          <p:cNvSpPr/>
          <p:nvPr/>
        </p:nvSpPr>
        <p:spPr>
          <a:xfrm>
            <a:off x="4078224" y="3158109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6" name="Shape 44"/>
          <p:cNvSpPr/>
          <p:nvPr/>
        </p:nvSpPr>
        <p:spPr>
          <a:xfrm>
            <a:off x="4626864" y="3158109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Shape 45"/>
          <p:cNvSpPr/>
          <p:nvPr/>
        </p:nvSpPr>
        <p:spPr>
          <a:xfrm>
            <a:off x="5175504" y="3158109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Shape 46"/>
          <p:cNvSpPr/>
          <p:nvPr/>
        </p:nvSpPr>
        <p:spPr>
          <a:xfrm>
            <a:off x="5724144" y="315810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9" name="Shape 47"/>
          <p:cNvSpPr/>
          <p:nvPr/>
        </p:nvSpPr>
        <p:spPr>
          <a:xfrm>
            <a:off x="6272784" y="315810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50" name="Shape 48"/>
          <p:cNvSpPr/>
          <p:nvPr/>
        </p:nvSpPr>
        <p:spPr>
          <a:xfrm>
            <a:off x="786384" y="359816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51" name="Shape 49"/>
          <p:cNvSpPr/>
          <p:nvPr/>
        </p:nvSpPr>
        <p:spPr>
          <a:xfrm>
            <a:off x="1335024" y="3598164"/>
            <a:ext cx="530352" cy="42176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1883664" y="359816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53" name="Shape 51"/>
          <p:cNvSpPr/>
          <p:nvPr/>
        </p:nvSpPr>
        <p:spPr>
          <a:xfrm>
            <a:off x="2432304" y="359816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54" name="Shape 52"/>
          <p:cNvSpPr/>
          <p:nvPr/>
        </p:nvSpPr>
        <p:spPr>
          <a:xfrm>
            <a:off x="2980944" y="359816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55" name="Shape 53"/>
          <p:cNvSpPr/>
          <p:nvPr/>
        </p:nvSpPr>
        <p:spPr>
          <a:xfrm>
            <a:off x="3529584" y="3598164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56" name="Shape 54"/>
          <p:cNvSpPr/>
          <p:nvPr/>
        </p:nvSpPr>
        <p:spPr>
          <a:xfrm>
            <a:off x="4078224" y="3598164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7" name="Shape 55"/>
          <p:cNvSpPr/>
          <p:nvPr/>
        </p:nvSpPr>
        <p:spPr>
          <a:xfrm>
            <a:off x="4626864" y="359816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8" name="Shape 56"/>
          <p:cNvSpPr/>
          <p:nvPr/>
        </p:nvSpPr>
        <p:spPr>
          <a:xfrm>
            <a:off x="5175504" y="3598164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9" name="Shape 57"/>
          <p:cNvSpPr/>
          <p:nvPr/>
        </p:nvSpPr>
        <p:spPr>
          <a:xfrm>
            <a:off x="5724144" y="3598164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60" name="Shape 58"/>
          <p:cNvSpPr/>
          <p:nvPr/>
        </p:nvSpPr>
        <p:spPr>
          <a:xfrm>
            <a:off x="6272784" y="359816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1" name="Shape 59"/>
          <p:cNvSpPr/>
          <p:nvPr/>
        </p:nvSpPr>
        <p:spPr>
          <a:xfrm>
            <a:off x="786384" y="403821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2" name="Shape 60"/>
          <p:cNvSpPr/>
          <p:nvPr/>
        </p:nvSpPr>
        <p:spPr>
          <a:xfrm>
            <a:off x="1335024" y="403821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3" name="Shape 61"/>
          <p:cNvSpPr/>
          <p:nvPr/>
        </p:nvSpPr>
        <p:spPr>
          <a:xfrm>
            <a:off x="1883664" y="4038219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4" name="Shape 62"/>
          <p:cNvSpPr/>
          <p:nvPr/>
        </p:nvSpPr>
        <p:spPr>
          <a:xfrm>
            <a:off x="2432304" y="403821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65" name="Shape 63"/>
          <p:cNvSpPr/>
          <p:nvPr/>
        </p:nvSpPr>
        <p:spPr>
          <a:xfrm>
            <a:off x="2980944" y="403821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66" name="Shape 64"/>
          <p:cNvSpPr/>
          <p:nvPr/>
        </p:nvSpPr>
        <p:spPr>
          <a:xfrm>
            <a:off x="3529584" y="4038219"/>
            <a:ext cx="530352" cy="421767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67" name="Shape 65"/>
          <p:cNvSpPr/>
          <p:nvPr/>
        </p:nvSpPr>
        <p:spPr>
          <a:xfrm>
            <a:off x="4078224" y="4038219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8" name="Shape 66"/>
          <p:cNvSpPr/>
          <p:nvPr/>
        </p:nvSpPr>
        <p:spPr>
          <a:xfrm>
            <a:off x="4626864" y="403821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9" name="Shape 67"/>
          <p:cNvSpPr/>
          <p:nvPr/>
        </p:nvSpPr>
        <p:spPr>
          <a:xfrm>
            <a:off x="5175504" y="403821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0" name="Shape 68"/>
          <p:cNvSpPr/>
          <p:nvPr/>
        </p:nvSpPr>
        <p:spPr>
          <a:xfrm>
            <a:off x="5724144" y="403821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1" name="Shape 69"/>
          <p:cNvSpPr/>
          <p:nvPr/>
        </p:nvSpPr>
        <p:spPr>
          <a:xfrm>
            <a:off x="6272784" y="403821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2" name="Shape 70"/>
          <p:cNvSpPr/>
          <p:nvPr/>
        </p:nvSpPr>
        <p:spPr>
          <a:xfrm>
            <a:off x="786384" y="447827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3" name="Shape 71"/>
          <p:cNvSpPr/>
          <p:nvPr/>
        </p:nvSpPr>
        <p:spPr>
          <a:xfrm>
            <a:off x="1335024" y="447827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4" name="Shape 72"/>
          <p:cNvSpPr/>
          <p:nvPr/>
        </p:nvSpPr>
        <p:spPr>
          <a:xfrm>
            <a:off x="1883664" y="4478274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5" name="Shape 73"/>
          <p:cNvSpPr/>
          <p:nvPr/>
        </p:nvSpPr>
        <p:spPr>
          <a:xfrm>
            <a:off x="2432304" y="447827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6" name="Shape 74"/>
          <p:cNvSpPr/>
          <p:nvPr/>
        </p:nvSpPr>
        <p:spPr>
          <a:xfrm>
            <a:off x="2980944" y="4478274"/>
            <a:ext cx="530352" cy="421767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7" name="Shape 75"/>
          <p:cNvSpPr/>
          <p:nvPr/>
        </p:nvSpPr>
        <p:spPr>
          <a:xfrm>
            <a:off x="3529584" y="4478274"/>
            <a:ext cx="530352" cy="42176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8" name="Shape 76"/>
          <p:cNvSpPr/>
          <p:nvPr/>
        </p:nvSpPr>
        <p:spPr>
          <a:xfrm>
            <a:off x="4078224" y="4478274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9" name="Shape 77"/>
          <p:cNvSpPr/>
          <p:nvPr/>
        </p:nvSpPr>
        <p:spPr>
          <a:xfrm>
            <a:off x="4626864" y="4478274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0" name="Shape 78"/>
          <p:cNvSpPr/>
          <p:nvPr/>
        </p:nvSpPr>
        <p:spPr>
          <a:xfrm>
            <a:off x="5175504" y="447827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1" name="Shape 79"/>
          <p:cNvSpPr/>
          <p:nvPr/>
        </p:nvSpPr>
        <p:spPr>
          <a:xfrm>
            <a:off x="5724144" y="4478274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2" name="Shape 80"/>
          <p:cNvSpPr/>
          <p:nvPr/>
        </p:nvSpPr>
        <p:spPr>
          <a:xfrm>
            <a:off x="6272784" y="4478274"/>
            <a:ext cx="530352" cy="42176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3" name="Shape 81"/>
          <p:cNvSpPr/>
          <p:nvPr/>
        </p:nvSpPr>
        <p:spPr>
          <a:xfrm>
            <a:off x="786384" y="4918329"/>
            <a:ext cx="530352" cy="42176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4" name="Shape 82"/>
          <p:cNvSpPr/>
          <p:nvPr/>
        </p:nvSpPr>
        <p:spPr>
          <a:xfrm>
            <a:off x="1335024" y="491832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5" name="Shape 83"/>
          <p:cNvSpPr/>
          <p:nvPr/>
        </p:nvSpPr>
        <p:spPr>
          <a:xfrm>
            <a:off x="1883664" y="491832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86" name="Shape 84"/>
          <p:cNvSpPr/>
          <p:nvPr/>
        </p:nvSpPr>
        <p:spPr>
          <a:xfrm>
            <a:off x="2432304" y="491832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7" name="Shape 85"/>
          <p:cNvSpPr/>
          <p:nvPr/>
        </p:nvSpPr>
        <p:spPr>
          <a:xfrm>
            <a:off x="2980944" y="4918329"/>
            <a:ext cx="530352" cy="421767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8" name="Shape 86"/>
          <p:cNvSpPr/>
          <p:nvPr/>
        </p:nvSpPr>
        <p:spPr>
          <a:xfrm>
            <a:off x="3529584" y="4918329"/>
            <a:ext cx="530352" cy="421767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9" name="Shape 87"/>
          <p:cNvSpPr/>
          <p:nvPr/>
        </p:nvSpPr>
        <p:spPr>
          <a:xfrm>
            <a:off x="4078224" y="491832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90" name="Shape 88"/>
          <p:cNvSpPr/>
          <p:nvPr/>
        </p:nvSpPr>
        <p:spPr>
          <a:xfrm>
            <a:off x="4626864" y="491832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91" name="Shape 89"/>
          <p:cNvSpPr/>
          <p:nvPr/>
        </p:nvSpPr>
        <p:spPr>
          <a:xfrm>
            <a:off x="5175504" y="4918329"/>
            <a:ext cx="530352" cy="421767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92" name="Shape 90"/>
          <p:cNvSpPr/>
          <p:nvPr/>
        </p:nvSpPr>
        <p:spPr>
          <a:xfrm>
            <a:off x="5724144" y="4918329"/>
            <a:ext cx="530352" cy="42176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3" name="Shape 91"/>
          <p:cNvSpPr/>
          <p:nvPr/>
        </p:nvSpPr>
        <p:spPr>
          <a:xfrm>
            <a:off x="6272784" y="4918329"/>
            <a:ext cx="530352" cy="421767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4" name="Shape 92"/>
          <p:cNvSpPr/>
          <p:nvPr/>
        </p:nvSpPr>
        <p:spPr>
          <a:xfrm>
            <a:off x="1947672" y="3068955"/>
            <a:ext cx="512064" cy="51206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048256" y="3169539"/>
            <a:ext cx="310896" cy="310896"/>
          </a:xfrm>
          <a:prstGeom prst="star5">
            <a:avLst/>
          </a:prstGeom>
          <a:solidFill>
            <a:srgbClr val="2563EB"/>
          </a:solidFill>
          <a:ln/>
        </p:spPr>
      </p:sp>
      <p:sp>
        <p:nvSpPr>
          <p:cNvPr id="96" name="Text 94"/>
          <p:cNvSpPr/>
          <p:nvPr/>
        </p:nvSpPr>
        <p:spPr>
          <a:xfrm>
            <a:off x="1380744" y="348957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169664" y="4174236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65576" y="44577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성산소방서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376672" y="2590038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672584" y="287350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창원소방서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77240" y="5394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붉을수록 위험 지수 높음 · ★ 선정 거점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31520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— 마산소방서</a:t>
            </a:r>
            <a:endParaRPr lang="en-US" sz="1900" dirty="0"/>
          </a:p>
        </p:txBody>
      </p:sp>
      <p:sp>
        <p:nvSpPr>
          <p:cNvPr id="103" name="Shape 101"/>
          <p:cNvSpPr/>
          <p:nvPr/>
        </p:nvSpPr>
        <p:spPr>
          <a:xfrm>
            <a:off x="7315200" y="22402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543800" y="254203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5" name="Text 103"/>
          <p:cNvSpPr/>
          <p:nvPr/>
        </p:nvSpPr>
        <p:spPr>
          <a:xfrm>
            <a:off x="790956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위험지수 최상위 인접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7909560" y="26609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1위 마산합포구를 최단 거리에서 커버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7315200" y="31546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43800" y="3456432"/>
            <a:ext cx="237744" cy="23774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9" name="Text 107"/>
          <p:cNvSpPr/>
          <p:nvPr/>
        </p:nvSpPr>
        <p:spPr>
          <a:xfrm>
            <a:off x="790956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경로 최다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7909560" y="35753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빨간선 밀집 원도심 골목을 상공에서 보완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7315200" y="40690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43800" y="4370832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3" name="Text 111"/>
          <p:cNvSpPr/>
          <p:nvPr/>
        </p:nvSpPr>
        <p:spPr>
          <a:xfrm>
            <a:off x="7909560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교통약자 밀집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7909560" y="44897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인구 대피 취약지에 초동 대응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7315200" y="4983480"/>
            <a:ext cx="429768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543800" y="5285232"/>
            <a:ext cx="237744" cy="237744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7" name="Text 115"/>
          <p:cNvSpPr/>
          <p:nvPr/>
        </p:nvSpPr>
        <p:spPr>
          <a:xfrm>
            <a:off x="7909560" y="5093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보급 거점 확보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7909560" y="54041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드론·UGV 재보급 스마트 방재 거점 병설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거점에서 출동한 드론 편대가 화점에 도착한 순간부터 — 표준 행동요령(SOP-D)에 따라 자율 수행한다.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출동·도착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전개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5단계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— 소방차보다 먼저 도착한다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소방서 → 화점 직선 비행 · 화재 인지 시점 공통 기준 (예시)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실도로 주행+출동준비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골목은 입구까지만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거점→화점 직선 비행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25196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넘어 도착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25786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5:20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95528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골든타임 확보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 투입 전 정밀 정찰까지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예시 시나리오 — 거점·지점 거리에 따라 달라진다.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— 5개 편대로 전개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지휘통제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공중지휘권 선언 · 3D 매핑 융합 · 통합 제어·자원 관리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5234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523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1편대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5786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공중정찰대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92040" y="2578608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 3D 스캐닝 · 열화상 화점 탐지 · 연소확대선 모니터링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30752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307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2편대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55701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인명수색·구조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92040" y="3557016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구조대상자 식별 · 생명유지 키트 투하 · 대피 인도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0916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091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3편대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53542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화재진압대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92040" y="4535424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창문·진입점 파악 · 창문 파쇄 후 정밀 소화탄 투하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6875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875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4편대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551383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통신중계·조명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892040" y="5513832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 통신망 형성 · 음영지역 신호 중계 · 광역 조명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표준 행동요령 · 5단계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2121408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정찰·진압·구조 편대 전개·상승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101-D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07208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2121408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52928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정찰·평가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52928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스캐닝·열화상 화점/진입점 파악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102-D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2121408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11496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11496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파쇄 후 정밀 소화탄 · 대피 인도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11496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222-D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7456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24344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73568" y="2121408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973568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70064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중계·호위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0064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요구조자 호위 · 외벽 연소차단 · 배터리 릴레이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70064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105-D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36024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582912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32136" y="2121408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10232136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28632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628632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10928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완료 확인 · 잔불 감시 · RTH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28632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113-D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지휘·정찰·진압·구조·통신 편대가 단계별 SOP 코드에 따라 한 타임라인에서 자율로 맞물려 움직인다.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— 지상 무인차량(UGV) 협업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무인차량(UGV)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장애물 극복 · 소화수 보급 · 스마트 방재 거점에서 출발·재보급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상공에서 정밀 정찰·진압 — 골목 위를 그대로 넘는다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편대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UGV는 지상 보급·거점, 드론은 공중 타격 — 상호 통신으로 한 편대처럼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진입하기 전, 상공의 드론 편대와 지상의 UGV가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→ 진압 → 대피 인도 → 보급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끊김 없이 이어 초동 대응을 채운다.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마산어시장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발화점 위치 지정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269480" cy="452628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71900" y="3040380"/>
            <a:ext cx="822960" cy="8229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7076" y="3305556"/>
            <a:ext cx="292608" cy="29260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547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실제 시뮬레이터 지도 화면을 넣으세요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3662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마산어시장 발화점 지정 · 마산소방서 거점 · 소방차 진입불가 빨간선 · 드론 직선 경로가 보이는 화면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15544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37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요약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72600" y="21579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마산어시장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753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거점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72600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 · 직선 1.33km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7532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도착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31455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00초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 다수 · 호스 연장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4389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 도착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956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골목을 드론이 상공으로 넘어 1분 만에 화점 도착 — 초동 골든타임 확보.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마산어시장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건물 SOP-D 시뮬레이션</a:t>
            </a:r>
            <a:endParaRPr lang="en-US" sz="2600" dirty="0"/>
          </a:p>
        </p:txBody>
      </p:sp>
      <p:pic>
        <p:nvPicPr>
          <p:cNvPr id="4" name="Image 0" descr="cap_3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10817352" cy="479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3620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정찰(열화상 화점 탐지) · 진압(창문 파쇄·정밀 소화탄) · 인명수색구조(대피 인도) · 통신중계·조명 편대가 SOP-D 단계별로 동시에 자율 수행 — 실제 시뮬레이션 화면.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 골든타임과 화재 피해 — 데이터로 본 근거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국가화재정보시스템 기반 분석 · 골든타임 연구 (현장도착 5분 기준)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38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도착시간별 건당 재산피해 (천원)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182880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99632" y="221284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601968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재산피해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1968" y="22677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2.1배 ↑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32520" y="18288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5분 → 5~10분 (건당 5,425 → 11,198천원)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0" y="2990088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337413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01968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2.5배 ↑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732520" y="2990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현장도착 10분 초과 시 (10분 이하 대비)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4151376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99632" y="4535424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6601968" y="4288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확률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01968" y="4590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↓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732520" y="415137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이내 골든타임 확보 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5046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시스템 = 골든타임 확보 수단.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골목도 드론이 5분 내 도착 → 문헌 기준 건당 피해 11,198 → 5,425천원(약 52%↓) 구간 유지, 인명 사망 위험 대폭 감소.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 기반 분석 · 한국방재학회논문집 등 소방 골든타임 연구.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사회 · 지역, 그리고 마무리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기술·학문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방산-민간 스핀오프 선도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기계공학 제어·역학 + 국방과학 자율 군집 운용의 고가치 융합 사례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사회·안전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원도심 골든타임 확보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골목도 5분 내 초동 대응 → 재산피해 약 52%↓·인명 위험 대폭 감소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혁신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076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경남형 스마트시티·방산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방위산업·항공우주 인프라를 스마트시티에 결합한 지역 특화 혁신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1206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창원·거점을 정하고, 편대가 골든타임을 먼저 지킨다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빅데이터 → 창원·거점 소방서 선정 → SOP-D 현장 대응 → UGV 유무인 복합. 팀 군체 · 감사합니다. (Q&amp;A)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데이터로 정한 소방 드론 거점, 그리고 현장 로직</dc:title>
  <dc:subject>PptxGenJS Presentation</dc:subject>
  <dc:creator>팀 군체</dc:creator>
  <cp:lastModifiedBy>팀 군체</cp:lastModifiedBy>
  <cp:revision>1</cp:revision>
  <dcterms:created xsi:type="dcterms:W3CDTF">2026-08-04T15:14:37Z</dcterms:created>
  <dcterms:modified xsi:type="dcterms:W3CDTF">2026-08-04T15:14:37Z</dcterms:modified>
</cp:coreProperties>
</file>