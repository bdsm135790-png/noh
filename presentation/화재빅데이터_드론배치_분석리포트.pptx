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창원시</c:v>
                  </c:pt>
                  <c:pt idx="1">
                    <c:v>김해시</c:v>
                  </c:pt>
                  <c:pt idx="2">
                    <c:v>진주시</c:v>
                  </c:pt>
                  <c:pt idx="3">
                    <c:v>양산시</c:v>
                  </c:pt>
                  <c:pt idx="4">
                    <c:v>밀양시</c:v>
                  </c:pt>
                  <c:pt idx="5">
                    <c:v>함안군</c:v>
                  </c:pt>
                  <c:pt idx="6">
                    <c:v>거제시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563</c:v>
                </c:pt>
                <c:pt idx="1">
                  <c:v>457</c:v>
                </c:pt>
                <c:pt idx="2">
                  <c:v>318</c:v>
                </c:pt>
                <c:pt idx="3">
                  <c:v>271</c:v>
                </c:pt>
                <c:pt idx="4">
                  <c:v>239</c:v>
                </c:pt>
                <c:pt idx="5">
                  <c:v>193</c:v>
                </c:pt>
                <c:pt idx="6">
                  <c:v>187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5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의창구</c:v>
                  </c:pt>
                  <c:pt idx="1">
                    <c:v>진해구</c:v>
                  </c:pt>
                  <c:pt idx="2">
                    <c:v>마산합포구</c:v>
                  </c:pt>
                  <c:pt idx="3">
                    <c:v>성산구</c:v>
                  </c:pt>
                  <c:pt idx="4">
                    <c:v>마산회원구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117</c:v>
                </c:pt>
                <c:pt idx="2">
                  <c:v>116</c:v>
                </c:pt>
                <c:pt idx="3">
                  <c:v>116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</c:v>
                </c:pt>
                <c:pt idx="2">
                  <c:v>33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28</c:v>
                </c:pt>
                <c:pt idx="2">
                  <c:v>14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</c:v>
                </c:pt>
                <c:pt idx="1">
                  <c:v>20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</c:v>
                </c:pt>
                <c:pt idx="1">
                  <c:v>18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건당 재산피해(천원)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5분 이내 도착</c:v>
                  </c:pt>
                  <c:pt idx="1">
                    <c:v>5~10분 도착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5425</c:v>
                </c:pt>
                <c:pt idx="1">
                  <c:v>11198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사례로 문제 각인. 자산동 빌라=노후 주거·고령 인명 위험, 진입지연=별도 사례(제천 29명)로 구분해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PC(인터넷 연결)에서 시뮬레이터를 열어 자산동 노후 다세대 골목 지점을 지정 → 지도 화면을 캡처해 이 자리(점선 박스)에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골든타임(5분) 확보 시 건당 재산피해가 절반 수준(11,198→5,425천원), 10분 초과 시 사망률 약 2.5배. 드론은 진입불가 골목에서도 골든타임을 확보하는 수단.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빅데이터로 창원을 정하고, 지도 분석으로 거점을 정한다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창원 ·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→ 편대 SOP-D → 시연 → 기대효과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인식 · WHY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닿지 못하는 곳에서, 사람이 죽는다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697480"/>
          </a:xfrm>
          <a:prstGeom prst="roundRect">
            <a:avLst>
              <a:gd name="adj" fmla="val 3390"/>
            </a:avLst>
          </a:prstGeom>
          <a:solidFill>
            <a:srgbClr val="172033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주거 · 고령 인명 위험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963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 자산동 노후 빌라 새벽 화재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2층서 발화 → 90대 여성 사망 · 50대 중상 · 주민 18명 대피.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새벽·고령 단독 거주라 스스로 대피가 어려웠다.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486400" cy="2697480"/>
          </a:xfrm>
          <a:prstGeom prst="roundRect">
            <a:avLst>
              <a:gd name="adj" fmla="val 3390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87452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8745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지연 = 피해 급증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0" y="24963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골목·불법주차로 늦은 소방차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400800" y="30175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불법주차로 소방관이 현장 150m 밖부터 호스를 끌고 진입.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제천 화재는 진입 30여 분 지연 → 29명 사망.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11064240" cy="1024128"/>
          </a:xfrm>
          <a:prstGeom prst="roundRect">
            <a:avLst>
              <a:gd name="adj" fmla="val 8929"/>
            </a:avLst>
          </a:prstGeom>
          <a:solidFill>
            <a:srgbClr val="1A0E06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572000"/>
            <a:ext cx="10515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골든타임을 놓치면 피해가 급증한다.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현장도착 5분 초과 시 건당 재산피해 5,425 → 11,198천원, 10분 초과 시 사망률 약 2.5배.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72414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국가화재정보시스템(NFDS)·골든타임 연구 / 창원 마산합포 빌라 화재·진입지연 사례는 언론 보도.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인식 · 무엇이 골든타임을 막나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대응을 막는 세 개의 벽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603504" cy="603504"/>
          </a:xfrm>
          <a:prstGeom prst="ellipse">
            <a:avLst/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299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불가·지연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 4m 미만 골목 + 불법주차로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가거나 늦게 도착한다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029968"/>
            <a:ext cx="603504" cy="603504"/>
          </a:xfrm>
          <a:prstGeom prst="ellipse">
            <a:avLst/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0299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0352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취약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8803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고령·노후 주거 밀집·새벽 단독 거주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대피 어렵고 초동 정찰·안내 공백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29968"/>
            <a:ext cx="603504" cy="603504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0299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05256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소방드론 한계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21040" y="288036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조종사 1명이 드론 1기만 운용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급확산 대형 재난 입체 대응 불가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소방차가 진입하기 전, 자율 군집 드론이 초동을 채운다.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둘지(PART 1) · 도착 후 어떻게 움직일지(PART 2)를 데이터로 설계한다.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빈도로 대상 지역을 창원으로 정하고 — 지도에서 소방차가 못 가는 경로를 찾아 드론 거점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선정 · 창원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취약지 분석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선정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빈도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시·군구별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건수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폭·소방차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소화전·진입곤란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소방안전 빅데이터 플랫폼의 최근 1년 화재 발생 빈도.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도로·건축·인구 데이터를 파이썬(Pandas·NumPy·Matplotlib)으로 통합·시각화한다.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지역을 창원으로 정한다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경남 시·군별 화재 발생 건수 (창원시 = 5개 구 합산)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783080"/>
            <a:ext cx="3474720" cy="3977640"/>
          </a:xfrm>
          <a:prstGeom prst="roundRect">
            <a:avLst>
              <a:gd name="adj" fmla="val 23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34086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12480" y="2971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563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412480" y="3767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· 경남 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412480" y="4160520"/>
            <a:ext cx="29260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427939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전체 화재의 15.8% 집중 — 화재 최다 도시를 드론 배치 대상 지역으로 확정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① — 창원 구별 화재와 피해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창원시 구별 화재 발생 건수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487168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286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화재건수는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88~126건으로 비슷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054096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도로·노후·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인명피해에서 갈린다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21024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4198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인명피해가 창원 최다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 22명(사망 5) — 원도심 위험 집중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소방차 진입불가 지역을 찾는다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04088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6583680" cy="3383280"/>
          </a:xfrm>
          <a:prstGeom prst="rect">
            <a:avLst/>
          </a:prstGeom>
          <a:solidFill>
            <a:srgbClr val="F3EFE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4160520"/>
            <a:ext cx="1097280" cy="82296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4251960"/>
            <a:ext cx="1051560" cy="77724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0" y="2194560"/>
            <a:ext cx="1005840" cy="68580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777240" y="3703320"/>
            <a:ext cx="6583680" cy="27432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965960"/>
            <a:ext cx="365760" cy="329184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057400"/>
            <a:ext cx="365760" cy="320040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14400" y="2459736"/>
            <a:ext cx="6263640" cy="347472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3474720"/>
            <a:ext cx="365760" cy="178308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606040" y="4416552"/>
            <a:ext cx="4480560" cy="109728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2441448"/>
            <a:ext cx="6400800" cy="713232"/>
          </a:xfrm>
          <a:prstGeom prst="line">
            <a:avLst/>
          </a:prstGeom>
          <a:noFill/>
          <a:ln w="114300">
            <a:solidFill>
              <a:srgbClr val="ECDC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4780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92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합포로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0" y="2743200"/>
            <a:ext cx="0" cy="1033272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3776472"/>
            <a:ext cx="2148840" cy="109728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886200"/>
            <a:ext cx="0" cy="12801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5120640" y="3474720"/>
            <a:ext cx="1600200" cy="41148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89320" y="4114800"/>
            <a:ext cx="0" cy="10515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43400" y="4636008"/>
            <a:ext cx="2377440" cy="54864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3794760" y="3886200"/>
            <a:ext cx="1325880" cy="32004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89704" y="3447288"/>
            <a:ext cx="162763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9704" y="344728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자산동 노후빌라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12080" y="3831336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4507992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41605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94760" y="4178808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21608" y="3831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513832"/>
            <a:ext cx="384048" cy="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280160" y="53858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골목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46120" y="5513832"/>
            <a:ext cx="384048" cy="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03320" y="5385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주행경로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30368" y="534009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발생지점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0" y="1737360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3568" y="1993392"/>
            <a:ext cx="420624" cy="42062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797356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56" dirty="0"/>
          </a:p>
        </p:txBody>
      </p:sp>
      <p:sp>
        <p:nvSpPr>
          <p:cNvPr id="40" name="Text 38"/>
          <p:cNvSpPr/>
          <p:nvPr/>
        </p:nvSpPr>
        <p:spPr>
          <a:xfrm>
            <a:off x="8522208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화재지점 표시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22208" y="2167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창원 화재 발생지점(🔥)을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올린다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0" y="2761488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73568" y="3017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797356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56" dirty="0"/>
          </a:p>
        </p:txBody>
      </p:sp>
      <p:sp>
        <p:nvSpPr>
          <p:cNvPr id="45" name="Text 43"/>
          <p:cNvSpPr/>
          <p:nvPr/>
        </p:nvSpPr>
        <p:spPr>
          <a:xfrm>
            <a:off x="8522208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탐색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22208" y="31912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소방서에서 각 지점까지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주행경로를 그린다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772400" y="3785616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73568" y="4041648"/>
            <a:ext cx="420624" cy="42062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356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56" dirty="0"/>
          </a:p>
        </p:txBody>
      </p:sp>
      <p:sp>
        <p:nvSpPr>
          <p:cNvPr id="50" name="Text 48"/>
          <p:cNvSpPr/>
          <p:nvPr/>
        </p:nvSpPr>
        <p:spPr>
          <a:xfrm>
            <a:off x="852220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 = 진입불가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22208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중 폭 4m 미만 구간을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점선으로 표시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772400" y="4809744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73568" y="50657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4" name="Text 52"/>
          <p:cNvSpPr/>
          <p:nvPr/>
        </p:nvSpPr>
        <p:spPr>
          <a:xfrm>
            <a:off x="7973568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56" dirty="0"/>
          </a:p>
        </p:txBody>
      </p:sp>
      <p:sp>
        <p:nvSpPr>
          <p:cNvPr id="55" name="Text 53"/>
          <p:cNvSpPr/>
          <p:nvPr/>
        </p:nvSpPr>
        <p:spPr>
          <a:xfrm>
            <a:off x="8522208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필요 지점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522208" y="52395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점선이 걸린 화재지점 =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가장 필요한 곳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05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② — 종합 위험 지수로 합친다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화재빈도(실측 반영) · 도로협소 · 노후건물 · 고령인구 가중 합산 (도로·노후·고령은 예시)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의창구는 화재건수 최다지만 도로·노후가 낮아 종합은 하위 — 원도심(마산합포·진해)이 상위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06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안에서 거점 소방서를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경로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밀집 원도심 골목을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소화탄·대피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외벽 연소차단·릴레이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</a:t>
            </a:r>
            <a:endParaRPr lang="en-US" sz="10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잔불 감시·RTH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— 지상 무인차량(UGV) 협업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무인차량(UGV)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극복·소화수 보급 ·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방재 거점에서 출발·재보급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상공에서 정밀 정찰·진압 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넘는다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FFEDD5"/>
          </a:solidFill>
          <a:ln/>
        </p:spPr>
      </p:sp>
      <p:sp>
        <p:nvSpPr>
          <p:cNvPr id="14" name="Text 12"/>
          <p:cNvSpPr/>
          <p:nvPr/>
        </p:nvSpPr>
        <p:spPr>
          <a:xfrm>
            <a:off x="830275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편대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UGV는 지상 보급·거점,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드론은 공중 타격 — 한 편대처럼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진입하기 전, 상공의 드론 편대와 지상의 UGV가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진압 → 대피 인도 → 보급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끊김 없이 이어 초동 대응을 채운다.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자산동 노후 다세대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발화점 위치 지정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269480" cy="4526280"/>
          </a:xfrm>
          <a:prstGeom prst="roundRect">
            <a:avLst>
              <a:gd name="adj" fmla="val 1818"/>
            </a:avLst>
          </a:prstGeom>
          <a:solidFill>
            <a:srgbClr val="0B1220"/>
          </a:solidFill>
          <a:ln w="19050">
            <a:solidFill>
              <a:srgbClr val="7C3AE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771900" y="3040380"/>
            <a:ext cx="822960" cy="822960"/>
          </a:xfrm>
          <a:prstGeom prst="ellipse">
            <a:avLst/>
          </a:prstGeom>
          <a:solidFill>
            <a:srgbClr val="172033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37076" y="3305556"/>
            <a:ext cx="292608" cy="292608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95478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실제 시뮬레이터 지도 화면을 넣으세요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436626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자산동 노후 다세대 골목 발화점 지정 · 마산소방서 거점 · 소방차 진입불가 빨간선 · 드론 직선 경로가 보이는 화면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0" y="1554480"/>
            <a:ext cx="3611880" cy="2697480"/>
          </a:xfrm>
          <a:prstGeom prst="roundRect">
            <a:avLst>
              <a:gd name="adj" fmla="val 3051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37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요약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75320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72600" y="215798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자산동 노후 다세대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75320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최근접 거점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372600" y="26517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 · 직선 1.96km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75320" y="31455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도착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372600" y="31455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29초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75320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372600" y="363931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 다수 · 호스 연장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4389120"/>
            <a:ext cx="3611880" cy="1691640"/>
          </a:xfrm>
          <a:prstGeom prst="roundRect">
            <a:avLst>
              <a:gd name="adj" fmla="val 4865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572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 도착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골목을 드론이 상공으로 넘어 1분 만에 화점 도착 — 초동 골든타임 확보.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자산동 노후 다세대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건물 SOP-D 시뮬레이션</a:t>
            </a:r>
            <a:endParaRPr lang="en-US" sz="2600" dirty="0"/>
          </a:p>
        </p:txBody>
      </p:sp>
      <p:pic>
        <p:nvPicPr>
          <p:cNvPr id="4" name="Image 0" descr="cap_jasan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10817352" cy="4791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23620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정찰(열화상 화점 탐지) · 진압(창문 파쇄·정밀 소화탄) · 인명수색구조(대피 인도) · 통신중계·조명 편대가 SOP-D 단계별로 동시에 자율 수행 — 실제 시뮬레이션 화면.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 골든타임과 화재 피해 — 데이터로 본 근거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소방청 국가화재정보시스템 기반 분석 · 골든타임 연구 (현장도착 5분 기준)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12064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38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도착시간별 건당 재산피해 (천원)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828800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199632" y="2212848"/>
            <a:ext cx="274320" cy="2743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601968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재산피해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01968" y="22677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2.1배 ↑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732520" y="18288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5분 → 5~10분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(건당 5,425 → 11,198천원)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943600" y="2990088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99632" y="33741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601968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사망률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601968" y="3429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2.5배 ↑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732520" y="299008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현장도착 10분 초과 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(10분 이하 대비)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43600" y="4151376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99632" y="4535424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9" name="Text 16"/>
          <p:cNvSpPr/>
          <p:nvPr/>
        </p:nvSpPr>
        <p:spPr>
          <a:xfrm>
            <a:off x="6601968" y="42885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확률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601968" y="45902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 ↓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732520" y="4151376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이내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골든타임 확보 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5046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50468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시스템 = 골든타임 확보 수단.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골목도 드론이 5분 내 도착 → 문헌 기준 건당 피해 11,198 → 5,425천원(약 52%↓) 구간 유지, 인명 사망 위험 대폭 감소.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국가화재정보시스템(NFDS) 기반 분석 · 한국방재학회논문집 등 소방 골든타임 연구.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· 사회 · 지역, 그리고 마무리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기계공학 제어·역학과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국방과학 자율 군집 운용의 융합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1688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확보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골목도 5분 내 초동 대응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재산피해 약 52%↓·인명 위험 감소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혁신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30768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방위산업·항공우주 인프라를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스마트시티에 결합한 지역 특화 혁신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창원·거점을 정하고, 편대가 골든타임을 먼저 지킨다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빅데이터 → 창원·거점 소방서 선정 → SOP-D 현장 대응 → UGV 유무인 복합. 팀 군체 · 감사합니다. (Q&amp;A)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2026-08-05T06:46:02Z</dcterms:created>
  <dcterms:modified xsi:type="dcterms:W3CDTF">2026-08-05T06:46:02Z</dcterms:modified>
</cp:coreProperties>
</file>