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화재건수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마산회원구</c:v>
                  </c:pt>
                  <c:pt idx="3">
                    <c:v>성산구</c:v>
                  </c:pt>
                  <c:pt idx="4">
                    <c:v>의창구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128</c:v>
                </c:pt>
                <c:pt idx="1">
                  <c:v>96</c:v>
                </c:pt>
                <c:pt idx="2">
                  <c:v>84</c:v>
                </c:pt>
                <c:pt idx="3">
                  <c:v>61</c:v>
                </c:pt>
                <c:pt idx="4">
                  <c:v>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진입불가 비율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F172A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마산회원구</c:v>
                  </c:pt>
                  <c:pt idx="3">
                    <c:v>성산구</c:v>
                  </c:pt>
                  <c:pt idx="4">
                    <c:v>의창구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38</c:v>
                </c:pt>
                <c:pt idx="1">
                  <c:v>34</c:v>
                </c:pt>
                <c:pt idx="2">
                  <c:v>29</c:v>
                </c:pt>
                <c:pt idx="3">
                  <c:v>18</c:v>
                </c:pt>
                <c:pt idx="4">
                  <c:v>14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F172A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화재빈도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마산회원구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</c:v>
                </c:pt>
                <c:pt idx="1">
                  <c:v>28</c:v>
                </c:pt>
                <c:pt idx="2">
                  <c:v>24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도로협소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마산회원구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27</c:v>
                </c:pt>
                <c:pt idx="2">
                  <c:v>22</c:v>
                </c:pt>
                <c:pt idx="3">
                  <c:v>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노후건물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마산회원구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22</c:v>
                </c:pt>
                <c:pt idx="1">
                  <c:v>20</c:v>
                </c:pt>
                <c:pt idx="2">
                  <c:v>17</c:v>
                </c:pt>
                <c:pt idx="3">
                  <c:v>12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고령인구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마산합포구</c:v>
                  </c:pt>
                  <c:pt idx="1">
                    <c:v>진해구</c:v>
                  </c:pt>
                  <c:pt idx="2">
                    <c:v>마산회원구</c:v>
                  </c:pt>
                  <c:pt idx="3">
                    <c:v>성산구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18</c:v>
                </c:pt>
                <c:pt idx="1">
                  <c:v>19</c:v>
                </c:pt>
                <c:pt idx="2">
                  <c:v>14</c:v>
                </c:pt>
                <c:pt idx="3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BD5E1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34155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위험지수 히트맵 위에 후보 소방서 커버리지를 겹쳐, 상위 취약지를 최단 거리에서 커버하는 마산소방서를 드론 거점으로 선정.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제6회 빅데이터로 우리동네 문제해결 아이디어 공모대회 · 경남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58368" y="16002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정한 소방 드론 거점,
</a:t>
            </a:r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현장에서의 대응 로직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빅데이터 · 지도 분석 기반 소방 드론 배치 → 현장 대응 로직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DC26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화재·도로·취약 데이터 분석 → 거점 소방서 선정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4343400"/>
            <a:ext cx="5257800" cy="1234440"/>
          </a:xfrm>
          <a:prstGeom prst="roundRect">
            <a:avLst>
              <a:gd name="adj" fmla="val 7407"/>
            </a:avLst>
          </a:prstGeom>
          <a:solidFill>
            <a:srgbClr val="172033"/>
          </a:solidFill>
          <a:ln w="1651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4498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47548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5120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 → 편대 SOP-D → 현장 정밀 대응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 군체</a:t>
            </a:r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한태영 · 김상도 · 노현수   ·   경상국립대학교 방산시스템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배치할 것인가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불이 자주 나고, 소방차가 못 가는 곳은 어디인가? — 화재·도로·취약 데이터를 모아 드론을 배치할 소방서를 정한다.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API 연동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취약지 분석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소방서 선정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관련 데이터를 모은다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EE2E2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발생 이력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65176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경남소방본부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3063240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화재 발생 지점·건수·원인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8152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FFEDD5"/>
          </a:solidFill>
          <a:ln/>
        </p:spPr>
      </p:sp>
      <p:sp>
        <p:nvSpPr>
          <p:cNvPr id="11" name="Text 9"/>
          <p:cNvSpPr/>
          <p:nvPr/>
        </p:nvSpPr>
        <p:spPr>
          <a:xfrm>
            <a:off x="308152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도로폭·도로망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081528" y="265176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지자체 · OSM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081528" y="3063240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폭 · 소방차 진입 가능성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21208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1324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EDE9FE"/>
          </a:solidFill>
          <a:ln/>
        </p:spPr>
      </p:sp>
      <p:sp>
        <p:nvSpPr>
          <p:cNvPr id="16" name="Text 14"/>
          <p:cNvSpPr/>
          <p:nvPr/>
        </p:nvSpPr>
        <p:spPr>
          <a:xfrm>
            <a:off x="541324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13248" y="265176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국가공간정보포털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13248" y="3063240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노후 건축물 비율 → 취약 지수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54380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4496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BEAFE"/>
          </a:solidFill>
          <a:ln/>
        </p:spPr>
      </p:sp>
      <p:sp>
        <p:nvSpPr>
          <p:cNvPr id="21" name="Text 19"/>
          <p:cNvSpPr/>
          <p:nvPr/>
        </p:nvSpPr>
        <p:spPr>
          <a:xfrm>
            <a:off x="774496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고령·인구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744968" y="265176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KOSIS·SGIS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744968" y="3063240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65세+ 교통약자 밀집 지역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75520" y="1691640"/>
            <a:ext cx="2194560" cy="27432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076688" y="1920240"/>
            <a:ext cx="1792224" cy="566928"/>
          </a:xfrm>
          <a:prstGeom prst="roundRect">
            <a:avLst>
              <a:gd name="adj" fmla="val 12903"/>
            </a:avLst>
          </a:prstGeom>
          <a:solidFill>
            <a:srgbClr val="DCFCE7"/>
          </a:solidFill>
          <a:ln/>
        </p:spPr>
      </p:sp>
      <p:sp>
        <p:nvSpPr>
          <p:cNvPr id="26" name="Text 24"/>
          <p:cNvSpPr/>
          <p:nvPr/>
        </p:nvSpPr>
        <p:spPr>
          <a:xfrm>
            <a:off x="10076688" y="1920240"/>
            <a:ext cx="17922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소방용수·진입곤란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0076688" y="2651760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0076688" y="3063240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소화전 · 진입곤란 구간 현황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48640" y="470916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 빅데이터 5종을 파이썬으로 통합·정제  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Pandas · NumPy로 수집/전처리, Matplotlib · Seaborn으로 상관관계 시각화.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API로 실제 도로 위에 올린다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15184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39112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39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160" dirty="0"/>
          </a:p>
        </p:txBody>
      </p:sp>
      <p:sp>
        <p:nvSpPr>
          <p:cNvPr id="7" name="Text 5"/>
          <p:cNvSpPr/>
          <p:nvPr/>
        </p:nvSpPr>
        <p:spPr>
          <a:xfrm>
            <a:off x="777240" y="26974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주소·지점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 · 화재 발생지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82112" y="1783080"/>
            <a:ext cx="283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3483864" y="1783080"/>
            <a:ext cx="2615184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12464" y="2039112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3712464" y="2039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160" dirty="0"/>
          </a:p>
        </p:txBody>
      </p:sp>
      <p:sp>
        <p:nvSpPr>
          <p:cNvPr id="13" name="Text 11"/>
          <p:cNvSpPr/>
          <p:nvPr/>
        </p:nvSpPr>
        <p:spPr>
          <a:xfrm>
            <a:off x="3712464" y="26974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변환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12464" y="306324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API → 위경도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17336" y="1783080"/>
            <a:ext cx="283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419088" y="1783080"/>
            <a:ext cx="2615184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47688" y="2039112"/>
            <a:ext cx="548640" cy="54864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8" name="Text 16"/>
          <p:cNvSpPr/>
          <p:nvPr/>
        </p:nvSpPr>
        <p:spPr>
          <a:xfrm>
            <a:off x="6647688" y="2039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160" dirty="0"/>
          </a:p>
        </p:txBody>
      </p:sp>
      <p:sp>
        <p:nvSpPr>
          <p:cNvPr id="19" name="Text 17"/>
          <p:cNvSpPr/>
          <p:nvPr/>
        </p:nvSpPr>
        <p:spPr>
          <a:xfrm>
            <a:off x="6647688" y="26974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도로망 수집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47688" y="306324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도로 · 골목 폭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52560" y="1783080"/>
            <a:ext cx="2834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9354312" y="1783080"/>
            <a:ext cx="2615184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82912" y="2039112"/>
            <a:ext cx="548640" cy="54864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2"/>
          <p:cNvSpPr/>
          <p:nvPr/>
        </p:nvSpPr>
        <p:spPr>
          <a:xfrm>
            <a:off x="9582912" y="2039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6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60" dirty="0"/>
          </a:p>
        </p:txBody>
      </p:sp>
      <p:sp>
        <p:nvSpPr>
          <p:cNvPr id="25" name="Text 23"/>
          <p:cNvSpPr/>
          <p:nvPr/>
        </p:nvSpPr>
        <p:spPr>
          <a:xfrm>
            <a:off x="9582912" y="26974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격자화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82912" y="3063240"/>
            <a:ext cx="21579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3m 격자 · 취약지 매핑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3886200"/>
            <a:ext cx="5394960" cy="1920240"/>
          </a:xfrm>
          <a:prstGeom prst="roundRect">
            <a:avLst>
              <a:gd name="adj" fmla="val 38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0416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얻나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22960" y="4480560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0" name="Text 28"/>
          <p:cNvSpPr/>
          <p:nvPr/>
        </p:nvSpPr>
        <p:spPr>
          <a:xfrm>
            <a:off x="1097280" y="43799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지점을 실제 좌표·도로 위에 정렬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4864608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1097280" y="47640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 진입 가능/불가 도로 구분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22960" y="5248656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4" name="Text 32"/>
          <p:cNvSpPr/>
          <p:nvPr/>
        </p:nvSpPr>
        <p:spPr>
          <a:xfrm>
            <a:off x="1097280" y="514807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취약지 분석을 위한 격자 데이터 확보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17920" y="3886200"/>
            <a:ext cx="5394960" cy="192024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92240" y="4069080"/>
            <a:ext cx="0" cy="1554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516368" y="4069080"/>
            <a:ext cx="0" cy="1554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40496" y="4069080"/>
            <a:ext cx="0" cy="1554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64624" y="4069080"/>
            <a:ext cx="0" cy="1554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588752" y="4069080"/>
            <a:ext cx="0" cy="155448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92240" y="4754880"/>
            <a:ext cx="4846320" cy="1463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2" name="Shape 40"/>
          <p:cNvSpPr/>
          <p:nvPr/>
        </p:nvSpPr>
        <p:spPr>
          <a:xfrm>
            <a:off x="8503920" y="4069080"/>
            <a:ext cx="82296" cy="155448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3" name="Text 41"/>
          <p:cNvSpPr/>
          <p:nvPr/>
        </p:nvSpPr>
        <p:spPr>
          <a:xfrm>
            <a:off x="6217920" y="549554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파랑=진입가능 · 빨강=진입불가 골목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주소·지점을 좌표로 바꾸고, 실제 도로망을 얹어 3m 격자로 만든다.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① — 화재가 자주 나는 지역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3년 지역별 화재 발생 건수 (예시)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949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2542032"/>
            <a:ext cx="137160" cy="13716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구도심(마산합포·진해)이 상위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38160" y="3108960"/>
            <a:ext cx="137160" cy="13716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0" y="29626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전통시장·노후주택 밀집과 겹침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38160" y="3675888"/>
            <a:ext cx="137160" cy="13716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0" y="35295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빈도 = 위험지수의 핵심 축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434340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2104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2개 구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321040" y="4800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화재의 절반 이상 집중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② — 소방차가 못 가는 좁은 골목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지역별 폭 4m 미만(소방차 진입불가) 도로 비율 (예시, %)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9494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18120" y="1783080"/>
            <a:ext cx="3794760" cy="3977640"/>
          </a:xfrm>
          <a:prstGeom prst="roundRect">
            <a:avLst>
              <a:gd name="adj" fmla="val 216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092440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2542032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구도심일수록 진입불가 골목이 많다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138160" y="3108960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1" name="Text 8"/>
          <p:cNvSpPr/>
          <p:nvPr/>
        </p:nvSpPr>
        <p:spPr>
          <a:xfrm>
            <a:off x="8412480" y="2962656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불은 좁은 골목을 복사열로 건너뜀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138160" y="3675888"/>
            <a:ext cx="137160" cy="13716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0" y="3529584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구간 = 드론이 가장 필요한 곳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434340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2104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 38%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321040" y="48006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 3곳 중 1곳 이상 진입 불가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③ — 종합 위험 지수로 합친다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화재빈도 · 도로협소 · 노후건물 · 고령인구를 가중 합산 (예시 점수)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828800"/>
          <a:ext cx="74980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1828800"/>
            <a:ext cx="3246120" cy="3703320"/>
          </a:xfrm>
          <a:prstGeom prst="roundRect">
            <a:avLst>
              <a:gd name="adj" fmla="val 253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202996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595360" y="235915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마산합포구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595360" y="28803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104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8595360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/ 위험지수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595360" y="4023360"/>
            <a:ext cx="27432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0" y="411480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지표가 모두 상위 → 드론 우선 배치 대상 지역으로 도출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소방서를 정한다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49224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6035040" cy="3520440"/>
          </a:xfrm>
          <a:prstGeom prst="rect">
            <a:avLst/>
          </a:prstGeom>
          <a:solidFill>
            <a:srgbClr val="EEF2F6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" name="Shape 5"/>
          <p:cNvSpPr/>
          <p:nvPr/>
        </p:nvSpPr>
        <p:spPr>
          <a:xfrm>
            <a:off x="13350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" name="Shape 6"/>
          <p:cNvSpPr/>
          <p:nvPr/>
        </p:nvSpPr>
        <p:spPr>
          <a:xfrm>
            <a:off x="188366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" name="Shape 7"/>
          <p:cNvSpPr/>
          <p:nvPr/>
        </p:nvSpPr>
        <p:spPr>
          <a:xfrm>
            <a:off x="243230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0" name="Shape 8"/>
          <p:cNvSpPr/>
          <p:nvPr/>
        </p:nvSpPr>
        <p:spPr>
          <a:xfrm>
            <a:off x="29809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1" name="Shape 9"/>
          <p:cNvSpPr/>
          <p:nvPr/>
        </p:nvSpPr>
        <p:spPr>
          <a:xfrm>
            <a:off x="35295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2" name="Shape 10"/>
          <p:cNvSpPr/>
          <p:nvPr/>
        </p:nvSpPr>
        <p:spPr>
          <a:xfrm>
            <a:off x="407822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3" name="Shape 11"/>
          <p:cNvSpPr/>
          <p:nvPr/>
        </p:nvSpPr>
        <p:spPr>
          <a:xfrm>
            <a:off x="462686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4" name="Shape 12"/>
          <p:cNvSpPr/>
          <p:nvPr/>
        </p:nvSpPr>
        <p:spPr>
          <a:xfrm>
            <a:off x="5175504" y="183794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15" name="Shape 13"/>
          <p:cNvSpPr/>
          <p:nvPr/>
        </p:nvSpPr>
        <p:spPr>
          <a:xfrm>
            <a:off x="572414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72784" y="183794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7" name="Shape 15"/>
          <p:cNvSpPr/>
          <p:nvPr/>
        </p:nvSpPr>
        <p:spPr>
          <a:xfrm>
            <a:off x="7863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8" name="Shape 16"/>
          <p:cNvSpPr/>
          <p:nvPr/>
        </p:nvSpPr>
        <p:spPr>
          <a:xfrm>
            <a:off x="133502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19" name="Shape 17"/>
          <p:cNvSpPr/>
          <p:nvPr/>
        </p:nvSpPr>
        <p:spPr>
          <a:xfrm>
            <a:off x="188366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0" name="Shape 18"/>
          <p:cNvSpPr/>
          <p:nvPr/>
        </p:nvSpPr>
        <p:spPr>
          <a:xfrm>
            <a:off x="24323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1" name="Shape 19"/>
          <p:cNvSpPr/>
          <p:nvPr/>
        </p:nvSpPr>
        <p:spPr>
          <a:xfrm>
            <a:off x="298094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2" name="Shape 20"/>
          <p:cNvSpPr/>
          <p:nvPr/>
        </p:nvSpPr>
        <p:spPr>
          <a:xfrm>
            <a:off x="352958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3" name="Shape 21"/>
          <p:cNvSpPr/>
          <p:nvPr/>
        </p:nvSpPr>
        <p:spPr>
          <a:xfrm>
            <a:off x="407822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4" name="Shape 22"/>
          <p:cNvSpPr/>
          <p:nvPr/>
        </p:nvSpPr>
        <p:spPr>
          <a:xfrm>
            <a:off x="4626864" y="227799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175504" y="227799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26" name="Shape 24"/>
          <p:cNvSpPr/>
          <p:nvPr/>
        </p:nvSpPr>
        <p:spPr>
          <a:xfrm>
            <a:off x="5724144" y="227799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27799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8" name="Shape 26"/>
          <p:cNvSpPr/>
          <p:nvPr/>
        </p:nvSpPr>
        <p:spPr>
          <a:xfrm>
            <a:off x="786384" y="271805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29" name="Shape 27"/>
          <p:cNvSpPr/>
          <p:nvPr/>
        </p:nvSpPr>
        <p:spPr>
          <a:xfrm>
            <a:off x="133502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0" name="Shape 28"/>
          <p:cNvSpPr/>
          <p:nvPr/>
        </p:nvSpPr>
        <p:spPr>
          <a:xfrm>
            <a:off x="18836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1" name="Shape 29"/>
          <p:cNvSpPr/>
          <p:nvPr/>
        </p:nvSpPr>
        <p:spPr>
          <a:xfrm>
            <a:off x="243230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2" name="Shape 30"/>
          <p:cNvSpPr/>
          <p:nvPr/>
        </p:nvSpPr>
        <p:spPr>
          <a:xfrm>
            <a:off x="2980944" y="271805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33" name="Shape 31"/>
          <p:cNvSpPr/>
          <p:nvPr/>
        </p:nvSpPr>
        <p:spPr>
          <a:xfrm>
            <a:off x="3529584" y="271805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34" name="Shape 32"/>
          <p:cNvSpPr/>
          <p:nvPr/>
        </p:nvSpPr>
        <p:spPr>
          <a:xfrm>
            <a:off x="407822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686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6" name="Shape 34"/>
          <p:cNvSpPr/>
          <p:nvPr/>
        </p:nvSpPr>
        <p:spPr>
          <a:xfrm>
            <a:off x="5175504" y="271805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7" name="Shape 35"/>
          <p:cNvSpPr/>
          <p:nvPr/>
        </p:nvSpPr>
        <p:spPr>
          <a:xfrm>
            <a:off x="5724144" y="271805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38" name="Shape 36"/>
          <p:cNvSpPr/>
          <p:nvPr/>
        </p:nvSpPr>
        <p:spPr>
          <a:xfrm>
            <a:off x="6272784" y="271805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3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40" name="Shape 38"/>
          <p:cNvSpPr/>
          <p:nvPr/>
        </p:nvSpPr>
        <p:spPr>
          <a:xfrm>
            <a:off x="1335024" y="3158109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1" name="Shape 39"/>
          <p:cNvSpPr/>
          <p:nvPr/>
        </p:nvSpPr>
        <p:spPr>
          <a:xfrm>
            <a:off x="188366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2" name="Shape 40"/>
          <p:cNvSpPr/>
          <p:nvPr/>
        </p:nvSpPr>
        <p:spPr>
          <a:xfrm>
            <a:off x="243230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3" name="Shape 41"/>
          <p:cNvSpPr/>
          <p:nvPr/>
        </p:nvSpPr>
        <p:spPr>
          <a:xfrm>
            <a:off x="298094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29584" y="315810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45" name="Shape 43"/>
          <p:cNvSpPr/>
          <p:nvPr/>
        </p:nvSpPr>
        <p:spPr>
          <a:xfrm>
            <a:off x="407822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6" name="Shape 44"/>
          <p:cNvSpPr/>
          <p:nvPr/>
        </p:nvSpPr>
        <p:spPr>
          <a:xfrm>
            <a:off x="4626864" y="315810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47" name="Shape 45"/>
          <p:cNvSpPr/>
          <p:nvPr/>
        </p:nvSpPr>
        <p:spPr>
          <a:xfrm>
            <a:off x="5175504" y="315810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8" name="Shape 46"/>
          <p:cNvSpPr/>
          <p:nvPr/>
        </p:nvSpPr>
        <p:spPr>
          <a:xfrm>
            <a:off x="5724144" y="315810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315810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50" name="Shape 48"/>
          <p:cNvSpPr/>
          <p:nvPr/>
        </p:nvSpPr>
        <p:spPr>
          <a:xfrm>
            <a:off x="7863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51" name="Shape 49"/>
          <p:cNvSpPr/>
          <p:nvPr/>
        </p:nvSpPr>
        <p:spPr>
          <a:xfrm>
            <a:off x="1335024" y="3598164"/>
            <a:ext cx="530352" cy="421767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52" name="Shape 50"/>
          <p:cNvSpPr/>
          <p:nvPr/>
        </p:nvSpPr>
        <p:spPr>
          <a:xfrm>
            <a:off x="188366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3" name="Shape 51"/>
          <p:cNvSpPr/>
          <p:nvPr/>
        </p:nvSpPr>
        <p:spPr>
          <a:xfrm>
            <a:off x="243230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4" name="Shape 52"/>
          <p:cNvSpPr/>
          <p:nvPr/>
        </p:nvSpPr>
        <p:spPr>
          <a:xfrm>
            <a:off x="298094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5" name="Shape 53"/>
          <p:cNvSpPr/>
          <p:nvPr/>
        </p:nvSpPr>
        <p:spPr>
          <a:xfrm>
            <a:off x="3529584" y="3598164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56" name="Shape 54"/>
          <p:cNvSpPr/>
          <p:nvPr/>
        </p:nvSpPr>
        <p:spPr>
          <a:xfrm>
            <a:off x="4078224" y="359816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57" name="Shape 55"/>
          <p:cNvSpPr/>
          <p:nvPr/>
        </p:nvSpPr>
        <p:spPr>
          <a:xfrm>
            <a:off x="4626864" y="359816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58" name="Shape 56"/>
          <p:cNvSpPr/>
          <p:nvPr/>
        </p:nvSpPr>
        <p:spPr>
          <a:xfrm>
            <a:off x="5175504" y="359816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59" name="Shape 57"/>
          <p:cNvSpPr/>
          <p:nvPr/>
        </p:nvSpPr>
        <p:spPr>
          <a:xfrm>
            <a:off x="5724144" y="359816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60" name="Shape 58"/>
          <p:cNvSpPr/>
          <p:nvPr/>
        </p:nvSpPr>
        <p:spPr>
          <a:xfrm>
            <a:off x="6272784" y="359816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1" name="Shape 59"/>
          <p:cNvSpPr/>
          <p:nvPr/>
        </p:nvSpPr>
        <p:spPr>
          <a:xfrm>
            <a:off x="7863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62" name="Shape 60"/>
          <p:cNvSpPr/>
          <p:nvPr/>
        </p:nvSpPr>
        <p:spPr>
          <a:xfrm>
            <a:off x="133502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3" name="Shape 61"/>
          <p:cNvSpPr/>
          <p:nvPr/>
        </p:nvSpPr>
        <p:spPr>
          <a:xfrm>
            <a:off x="1883664" y="4038219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64" name="Shape 62"/>
          <p:cNvSpPr/>
          <p:nvPr/>
        </p:nvSpPr>
        <p:spPr>
          <a:xfrm>
            <a:off x="243230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6" name="Shape 64"/>
          <p:cNvSpPr/>
          <p:nvPr/>
        </p:nvSpPr>
        <p:spPr>
          <a:xfrm>
            <a:off x="3529584" y="4038219"/>
            <a:ext cx="530352" cy="421767"/>
          </a:xfrm>
          <a:prstGeom prst="rect">
            <a:avLst/>
          </a:prstGeom>
          <a:solidFill>
            <a:srgbClr val="991B1B"/>
          </a:solidFill>
          <a:ln/>
        </p:spPr>
      </p:sp>
      <p:sp>
        <p:nvSpPr>
          <p:cNvPr id="67" name="Shape 65"/>
          <p:cNvSpPr/>
          <p:nvPr/>
        </p:nvSpPr>
        <p:spPr>
          <a:xfrm>
            <a:off x="4078224" y="4038219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68" name="Shape 66"/>
          <p:cNvSpPr/>
          <p:nvPr/>
        </p:nvSpPr>
        <p:spPr>
          <a:xfrm>
            <a:off x="4626864" y="403821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69" name="Shape 67"/>
          <p:cNvSpPr/>
          <p:nvPr/>
        </p:nvSpPr>
        <p:spPr>
          <a:xfrm>
            <a:off x="5175504" y="403821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70" name="Shape 68"/>
          <p:cNvSpPr/>
          <p:nvPr/>
        </p:nvSpPr>
        <p:spPr>
          <a:xfrm>
            <a:off x="572414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1" name="Shape 69"/>
          <p:cNvSpPr/>
          <p:nvPr/>
        </p:nvSpPr>
        <p:spPr>
          <a:xfrm>
            <a:off x="6272784" y="403821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2" name="Shape 70"/>
          <p:cNvSpPr/>
          <p:nvPr/>
        </p:nvSpPr>
        <p:spPr>
          <a:xfrm>
            <a:off x="78638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3" name="Shape 71"/>
          <p:cNvSpPr/>
          <p:nvPr/>
        </p:nvSpPr>
        <p:spPr>
          <a:xfrm>
            <a:off x="133502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74" name="Shape 72"/>
          <p:cNvSpPr/>
          <p:nvPr/>
        </p:nvSpPr>
        <p:spPr>
          <a:xfrm>
            <a:off x="188366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5" name="Shape 73"/>
          <p:cNvSpPr/>
          <p:nvPr/>
        </p:nvSpPr>
        <p:spPr>
          <a:xfrm>
            <a:off x="243230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6" name="Shape 74"/>
          <p:cNvSpPr/>
          <p:nvPr/>
        </p:nvSpPr>
        <p:spPr>
          <a:xfrm>
            <a:off x="2980944" y="4478274"/>
            <a:ext cx="530352" cy="421767"/>
          </a:xfrm>
          <a:prstGeom prst="rect">
            <a:avLst/>
          </a:prstGeom>
          <a:solidFill>
            <a:srgbClr val="B91C1C"/>
          </a:solidFill>
          <a:ln/>
        </p:spPr>
      </p:sp>
      <p:sp>
        <p:nvSpPr>
          <p:cNvPr id="77" name="Shape 75"/>
          <p:cNvSpPr/>
          <p:nvPr/>
        </p:nvSpPr>
        <p:spPr>
          <a:xfrm>
            <a:off x="3529584" y="4478274"/>
            <a:ext cx="530352" cy="421767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78" name="Shape 76"/>
          <p:cNvSpPr/>
          <p:nvPr/>
        </p:nvSpPr>
        <p:spPr>
          <a:xfrm>
            <a:off x="4078224" y="4478274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79" name="Shape 77"/>
          <p:cNvSpPr/>
          <p:nvPr/>
        </p:nvSpPr>
        <p:spPr>
          <a:xfrm>
            <a:off x="4626864" y="4478274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0" name="Shape 78"/>
          <p:cNvSpPr/>
          <p:nvPr/>
        </p:nvSpPr>
        <p:spPr>
          <a:xfrm>
            <a:off x="517550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1" name="Shape 79"/>
          <p:cNvSpPr/>
          <p:nvPr/>
        </p:nvSpPr>
        <p:spPr>
          <a:xfrm>
            <a:off x="5724144" y="4478274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2" name="Shape 80"/>
          <p:cNvSpPr/>
          <p:nvPr/>
        </p:nvSpPr>
        <p:spPr>
          <a:xfrm>
            <a:off x="6272784" y="4478274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3" name="Shape 81"/>
          <p:cNvSpPr/>
          <p:nvPr/>
        </p:nvSpPr>
        <p:spPr>
          <a:xfrm>
            <a:off x="7863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84" name="Shape 82"/>
          <p:cNvSpPr/>
          <p:nvPr/>
        </p:nvSpPr>
        <p:spPr>
          <a:xfrm>
            <a:off x="13350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5" name="Shape 83"/>
          <p:cNvSpPr/>
          <p:nvPr/>
        </p:nvSpPr>
        <p:spPr>
          <a:xfrm>
            <a:off x="18836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86" name="Shape 84"/>
          <p:cNvSpPr/>
          <p:nvPr/>
        </p:nvSpPr>
        <p:spPr>
          <a:xfrm>
            <a:off x="243230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7" name="Shape 85"/>
          <p:cNvSpPr/>
          <p:nvPr/>
        </p:nvSpPr>
        <p:spPr>
          <a:xfrm>
            <a:off x="2980944" y="4918329"/>
            <a:ext cx="530352" cy="421767"/>
          </a:xfrm>
          <a:prstGeom prst="rect">
            <a:avLst/>
          </a:prstGeom>
          <a:solidFill>
            <a:srgbClr val="F87171"/>
          </a:solidFill>
          <a:ln/>
        </p:spPr>
      </p:sp>
      <p:sp>
        <p:nvSpPr>
          <p:cNvPr id="88" name="Shape 86"/>
          <p:cNvSpPr/>
          <p:nvPr/>
        </p:nvSpPr>
        <p:spPr>
          <a:xfrm>
            <a:off x="3529584" y="4918329"/>
            <a:ext cx="530352" cy="421767"/>
          </a:xfrm>
          <a:prstGeom prst="rect">
            <a:avLst/>
          </a:prstGeom>
          <a:solidFill>
            <a:srgbClr val="FCA5A5"/>
          </a:solidFill>
          <a:ln/>
        </p:spPr>
      </p:sp>
      <p:sp>
        <p:nvSpPr>
          <p:cNvPr id="89" name="Shape 87"/>
          <p:cNvSpPr/>
          <p:nvPr/>
        </p:nvSpPr>
        <p:spPr>
          <a:xfrm>
            <a:off x="407822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0" name="Shape 88"/>
          <p:cNvSpPr/>
          <p:nvPr/>
        </p:nvSpPr>
        <p:spPr>
          <a:xfrm>
            <a:off x="462686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1" name="Shape 89"/>
          <p:cNvSpPr/>
          <p:nvPr/>
        </p:nvSpPr>
        <p:spPr>
          <a:xfrm>
            <a:off x="5175504" y="4918329"/>
            <a:ext cx="530352" cy="421767"/>
          </a:xfrm>
          <a:prstGeom prst="rect">
            <a:avLst/>
          </a:prstGeom>
          <a:solidFill>
            <a:srgbClr val="FECACA"/>
          </a:solidFill>
          <a:ln/>
        </p:spPr>
      </p:sp>
      <p:sp>
        <p:nvSpPr>
          <p:cNvPr id="92" name="Shape 90"/>
          <p:cNvSpPr/>
          <p:nvPr/>
        </p:nvSpPr>
        <p:spPr>
          <a:xfrm>
            <a:off x="572414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3" name="Shape 91"/>
          <p:cNvSpPr/>
          <p:nvPr/>
        </p:nvSpPr>
        <p:spPr>
          <a:xfrm>
            <a:off x="6272784" y="4918329"/>
            <a:ext cx="530352" cy="421767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4" name="Shape 92"/>
          <p:cNvSpPr/>
          <p:nvPr/>
        </p:nvSpPr>
        <p:spPr>
          <a:xfrm>
            <a:off x="1947672" y="3068955"/>
            <a:ext cx="512064" cy="51206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2048256" y="3169539"/>
            <a:ext cx="310896" cy="310896"/>
          </a:xfrm>
          <a:prstGeom prst="star5">
            <a:avLst/>
          </a:prstGeom>
          <a:solidFill>
            <a:srgbClr val="2563EB"/>
          </a:solidFill>
          <a:ln/>
        </p:spPr>
      </p:sp>
      <p:sp>
        <p:nvSpPr>
          <p:cNvPr id="96" name="Text 94"/>
          <p:cNvSpPr/>
          <p:nvPr/>
        </p:nvSpPr>
        <p:spPr>
          <a:xfrm>
            <a:off x="1380744" y="3489579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마산소방서</a:t>
            </a:r>
            <a:endParaRPr lang="en-US" sz="900" dirty="0"/>
          </a:p>
        </p:txBody>
      </p:sp>
      <p:sp>
        <p:nvSpPr>
          <p:cNvPr id="97" name="Shape 95"/>
          <p:cNvSpPr/>
          <p:nvPr/>
        </p:nvSpPr>
        <p:spPr>
          <a:xfrm>
            <a:off x="4169664" y="4174236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465576" y="44577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성산소방서</a:t>
            </a:r>
            <a:endParaRPr lang="en-US" sz="900" dirty="0"/>
          </a:p>
        </p:txBody>
      </p:sp>
      <p:sp>
        <p:nvSpPr>
          <p:cNvPr id="99" name="Shape 97"/>
          <p:cNvSpPr/>
          <p:nvPr/>
        </p:nvSpPr>
        <p:spPr>
          <a:xfrm>
            <a:off x="5376672" y="259003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672584" y="287350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창원소방서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777240" y="539496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붉을수록 위험 지수 높음 · ★ 선정 거점</a:t>
            </a:r>
            <a:endParaRPr lang="en-US" sz="1000" dirty="0"/>
          </a:p>
        </p:txBody>
      </p:sp>
      <p:sp>
        <p:nvSpPr>
          <p:cNvPr id="102" name="Text 100"/>
          <p:cNvSpPr/>
          <p:nvPr/>
        </p:nvSpPr>
        <p:spPr>
          <a:xfrm>
            <a:off x="7315200" y="16916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— 마산소방서</a:t>
            </a:r>
            <a:endParaRPr lang="en-US" sz="1900" dirty="0"/>
          </a:p>
        </p:txBody>
      </p:sp>
      <p:sp>
        <p:nvSpPr>
          <p:cNvPr id="103" name="Shape 101"/>
          <p:cNvSpPr/>
          <p:nvPr/>
        </p:nvSpPr>
        <p:spPr>
          <a:xfrm>
            <a:off x="7315200" y="22402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543800" y="2542032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05" name="Text 103"/>
          <p:cNvSpPr/>
          <p:nvPr/>
        </p:nvSpPr>
        <p:spPr>
          <a:xfrm>
            <a:off x="7909560" y="2350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위험지수 최상위 인접</a:t>
            </a:r>
            <a:endParaRPr lang="en-US" sz="1300" dirty="0"/>
          </a:p>
        </p:txBody>
      </p:sp>
      <p:sp>
        <p:nvSpPr>
          <p:cNvPr id="106" name="Text 104"/>
          <p:cNvSpPr/>
          <p:nvPr/>
        </p:nvSpPr>
        <p:spPr>
          <a:xfrm>
            <a:off x="7909560" y="26609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1위 마산합포구를 최단 거리에서 커버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7315200" y="31546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43800" y="3456432"/>
            <a:ext cx="237744" cy="237744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109" name="Text 107"/>
          <p:cNvSpPr/>
          <p:nvPr/>
        </p:nvSpPr>
        <p:spPr>
          <a:xfrm>
            <a:off x="7909560" y="32644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진입불가 구간 최다</a:t>
            </a:r>
            <a:endParaRPr lang="en-US" sz="1300" dirty="0"/>
          </a:p>
        </p:txBody>
      </p:sp>
      <p:sp>
        <p:nvSpPr>
          <p:cNvPr id="110" name="Text 108"/>
          <p:cNvSpPr/>
          <p:nvPr/>
        </p:nvSpPr>
        <p:spPr>
          <a:xfrm>
            <a:off x="7909560" y="35753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 밀집 원도심을 상공에서 보완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7315200" y="40690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543800" y="4370832"/>
            <a:ext cx="237744" cy="237744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3" name="Text 111"/>
          <p:cNvSpPr/>
          <p:nvPr/>
        </p:nvSpPr>
        <p:spPr>
          <a:xfrm>
            <a:off x="7909560" y="41788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교통약자 밀집</a:t>
            </a:r>
            <a:endParaRPr lang="en-US" sz="1300" dirty="0"/>
          </a:p>
        </p:txBody>
      </p:sp>
      <p:sp>
        <p:nvSpPr>
          <p:cNvPr id="114" name="Text 112"/>
          <p:cNvSpPr/>
          <p:nvPr/>
        </p:nvSpPr>
        <p:spPr>
          <a:xfrm>
            <a:off x="7909560" y="44897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 인구 대피 취약지에 초동 대응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7315200" y="4983480"/>
            <a:ext cx="4297680" cy="841248"/>
          </a:xfrm>
          <a:prstGeom prst="roundRect">
            <a:avLst>
              <a:gd name="adj" fmla="val 86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7543800" y="5285232"/>
            <a:ext cx="237744" cy="237744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117" name="Text 115"/>
          <p:cNvSpPr/>
          <p:nvPr/>
        </p:nvSpPr>
        <p:spPr>
          <a:xfrm>
            <a:off x="7909560" y="5093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보급 거점 확보</a:t>
            </a:r>
            <a:endParaRPr lang="en-US" sz="1300" dirty="0"/>
          </a:p>
        </p:txBody>
      </p:sp>
      <p:sp>
        <p:nvSpPr>
          <p:cNvPr id="118" name="Text 116"/>
          <p:cNvSpPr/>
          <p:nvPr/>
        </p:nvSpPr>
        <p:spPr>
          <a:xfrm>
            <a:off x="7909560" y="5404104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드론·UGV 재보급 스마트 방재 거점 병설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2860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후 어떻게 움직이는가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85800" y="370332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거점에서 출동한 드론 편대가 화점에 도착한 순간부터 — 표준 행동요령(SOP-D)에 따라 자율 수행한다.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출동·도착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5468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7472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편대 전개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94360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6364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652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5단계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732520" y="4709160"/>
            <a:ext cx="320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52560" y="4709160"/>
            <a:ext cx="2468880" cy="640080"/>
          </a:xfrm>
          <a:prstGeom prst="roundRect">
            <a:avLst>
              <a:gd name="adj" fmla="val 14286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35440" y="4709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indent="0" marL="0">
              <a:buNone/>
            </a:pPr>
            <a:r>
              <a:rPr lang="en-US" sz="125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정밀 대응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출동 — 소방차보다 먼저 도착한다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 소방서 → 화점 직선 비행 · 화재 인지 시점 공통 기준 (예시)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소방차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실도로 주행+출동준비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8:40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골목은 입구까지만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51960" y="1874520"/>
            <a:ext cx="3520440" cy="2743200"/>
          </a:xfrm>
          <a:prstGeom prst="roundRect">
            <a:avLst>
              <a:gd name="adj" fmla="val 3000"/>
            </a:avLst>
          </a:prstGeom>
          <a:solidFill>
            <a:srgbClr val="FFEDD5"/>
          </a:solidFill>
          <a:ln w="12700">
            <a:solidFill>
              <a:srgbClr val="FDBA74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51960" y="208483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251960" y="2450592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거점→화점 직선 비행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251960" y="2788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3:20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4251960" y="38862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골목 위를 그대로 넘어 도착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955280" y="1874520"/>
            <a:ext cx="3657600" cy="2743200"/>
          </a:xfrm>
          <a:prstGeom prst="roundRect">
            <a:avLst>
              <a:gd name="adj" fmla="val 3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955280" y="2148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드론이 먼저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955280" y="2578608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5:20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7955280" y="35844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초동 골든타임 확보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955280" y="4023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소방관 투입 전 정밀 정찰까지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수치는 예시 시나리오 — 거점·지점 거리에 따라 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도착 즉시 — 5개 편대로 전개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73936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6474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73936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103120" y="1600200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지휘통제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892040" y="1600200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공중지휘권 선언 · 3D 매핑 융합 · 통합 제어·자원 관리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578608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52344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75234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1편대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103120" y="2578608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공중정찰대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892040" y="2578608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사방 3D 스캐닝 · 열화상 화점 탐지 · 연소확대선 모니터링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57016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30752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0EA5E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730752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2편대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03120" y="3557016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인명수색·구조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892040" y="3557016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고립 구조대상자 식별 · 생명유지 키트 투하 · 대피 인도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35424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709160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09160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3편대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103120" y="4535424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화재진압대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4892040" y="4535424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창문·진입점 파악 · 창문 파쇄 후 정밀 소화탄 투하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513832"/>
            <a:ext cx="11064240" cy="859536"/>
          </a:xfrm>
          <a:prstGeom prst="roundRect">
            <a:avLst>
              <a:gd name="adj" fmla="val 85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687568"/>
            <a:ext cx="118872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687568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4편대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103120" y="5513832"/>
            <a:ext cx="27432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통신중계·조명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4892040" y="5513832"/>
            <a:ext cx="64465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Mesh 통신망 형성 · 음영지역 신호 중계 · 광역 조명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SOP-D 표준 행동요령 · 5단계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2121408"/>
            <a:ext cx="731520" cy="731520"/>
          </a:xfrm>
          <a:prstGeom prst="ellipse">
            <a:avLst/>
          </a:prstGeom>
          <a:solidFill>
            <a:srgbClr val="6366F1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6366F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전개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4360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76656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정찰·진압·구조 편대 전개·상승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94360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366F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101-D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560320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07208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56432" y="2121408"/>
            <a:ext cx="731520" cy="7315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852928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정찰·평가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2852928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35224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3D 스캐닝·열화상 화점/진입점 파악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52928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A5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102-D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18888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65776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715000" y="2121408"/>
            <a:ext cx="731520" cy="731520"/>
          </a:xfrm>
          <a:prstGeom prst="ellipse">
            <a:avLst/>
          </a:prstGeom>
          <a:solidFill>
            <a:srgbClr val="EA580C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11496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작전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111496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193792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파쇄 후 정밀 소화탄 · 대피 인도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111496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222-D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077456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7324344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73568" y="2121408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0" name="Text 28"/>
          <p:cNvSpPr/>
          <p:nvPr/>
        </p:nvSpPr>
        <p:spPr>
          <a:xfrm>
            <a:off x="7973568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7370064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중계·호위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370064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RELAY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52360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요구조자 호위 · 외벽 연소차단 · 배터리 릴레이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70064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105-D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36024" y="1828800"/>
            <a:ext cx="26517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582912" y="1828800"/>
            <a:ext cx="2029968" cy="352044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232136" y="2121408"/>
            <a:ext cx="731520" cy="731520"/>
          </a:xfrm>
          <a:prstGeom prst="ellipse">
            <a:avLst/>
          </a:prstGeom>
          <a:solidFill>
            <a:srgbClr val="15803D"/>
          </a:solidFill>
          <a:ln/>
        </p:spPr>
      </p:sp>
      <p:sp>
        <p:nvSpPr>
          <p:cNvPr id="38" name="Text 36"/>
          <p:cNvSpPr/>
          <p:nvPr/>
        </p:nvSpPr>
        <p:spPr>
          <a:xfrm>
            <a:off x="10232136" y="21214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9628632" y="2999232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종결</a:t>
            </a:r>
            <a:endParaRPr lang="en-US" sz="1450" dirty="0"/>
          </a:p>
        </p:txBody>
      </p:sp>
      <p:sp>
        <p:nvSpPr>
          <p:cNvPr id="40" name="Text 38"/>
          <p:cNvSpPr/>
          <p:nvPr/>
        </p:nvSpPr>
        <p:spPr>
          <a:xfrm>
            <a:off x="9628632" y="33832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9710928" y="3703320"/>
            <a:ext cx="1773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완료 확인 · 잔불 감시 · RTH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9628632" y="4983480"/>
            <a:ext cx="19385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113-D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지휘·정찰·진압·구조·통신 편대가 단계별 SOP 코드에 따라 한 타임라인에서 자율로 맞물려 움직인다.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STEP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정밀 대응 · 2층 주택 화재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029200" cy="41148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334155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5166360"/>
            <a:ext cx="4663440" cy="4572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Shape 4"/>
          <p:cNvSpPr/>
          <p:nvPr/>
        </p:nvSpPr>
        <p:spPr>
          <a:xfrm>
            <a:off x="2057400" y="2697480"/>
            <a:ext cx="2286000" cy="2468880"/>
          </a:xfrm>
          <a:prstGeom prst="rect">
            <a:avLst/>
          </a:prstGeom>
          <a:solidFill>
            <a:srgbClr val="E7ECF2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0" y="1965960"/>
            <a:ext cx="2743200" cy="731520"/>
          </a:xfrm>
          <a:prstGeom prst="triangle">
            <a:avLst/>
          </a:prstGeom>
          <a:solidFill>
            <a:srgbClr val="94A3B8"/>
          </a:solidFill>
          <a:ln/>
        </p:spPr>
      </p:sp>
      <p:sp>
        <p:nvSpPr>
          <p:cNvPr id="8" name="Shape 6"/>
          <p:cNvSpPr/>
          <p:nvPr/>
        </p:nvSpPr>
        <p:spPr>
          <a:xfrm>
            <a:off x="2057400" y="3931920"/>
            <a:ext cx="228600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4343400"/>
            <a:ext cx="45720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343400"/>
            <a:ext cx="457200" cy="457200"/>
          </a:xfrm>
          <a:prstGeom prst="rect">
            <a:avLst/>
          </a:prstGeom>
          <a:solidFill>
            <a:srgbClr val="DBEAFE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71800" y="4480560"/>
            <a:ext cx="457200" cy="68580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41448" y="3063240"/>
            <a:ext cx="365760" cy="365760"/>
          </a:xfrm>
          <a:prstGeom prst="ellipse">
            <a:avLst/>
          </a:prstGeom>
          <a:solidFill>
            <a:srgbClr val="22D3EE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0440" y="3017520"/>
            <a:ext cx="502920" cy="502920"/>
          </a:xfrm>
          <a:prstGeom prst="rect">
            <a:avLst/>
          </a:prstGeom>
          <a:solidFill>
            <a:srgbClr val="EA580C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0" y="1737360"/>
            <a:ext cx="219456" cy="219456"/>
          </a:xfrm>
          <a:prstGeom prst="ellipse">
            <a:avLst/>
          </a:prstGeom>
          <a:solidFill>
            <a:srgbClr val="7C3AE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14800" y="3108960"/>
            <a:ext cx="219456" cy="219456"/>
          </a:xfrm>
          <a:prstGeom prst="ellipse">
            <a:avLst/>
          </a:prstGeom>
          <a:solidFill>
            <a:srgbClr val="2563E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48840" y="3154680"/>
            <a:ext cx="219456" cy="219456"/>
          </a:xfrm>
          <a:prstGeom prst="ellipse">
            <a:avLst/>
          </a:prstGeom>
          <a:solidFill>
            <a:srgbClr val="0EA5E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17320" y="1920240"/>
            <a:ext cx="219456" cy="219456"/>
          </a:xfrm>
          <a:prstGeom prst="ellipse">
            <a:avLst/>
          </a:prstGeom>
          <a:solidFill>
            <a:srgbClr val="D9770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5330952"/>
            <a:ext cx="640080" cy="237744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55040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580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대피 집결지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40080" y="58521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Three.js 3D · 실제 2층 단독주택 규모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43600" y="1737360"/>
            <a:ext cx="56692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72200" y="206654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186537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1편대 공중정찰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583680" y="2194560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우측 방 화점을 열화상으로 탐지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943600" y="2761488"/>
            <a:ext cx="56692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72200" y="309067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0" y="28895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3편대 화재진압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583680" y="3218688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창문 파쇄 후 화점에 정밀 소화탄 투하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943600" y="3785616"/>
            <a:ext cx="56692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72200" y="4114800"/>
            <a:ext cx="274320" cy="27432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391363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2편대 인명수색·구조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583680" y="4242816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2층 좌측 요구조자 앞·위에서 대피 인도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4809744"/>
            <a:ext cx="5669280" cy="932688"/>
          </a:xfrm>
          <a:prstGeom prst="roundRect">
            <a:avLst>
              <a:gd name="adj" fmla="val 78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72200" y="5138928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35" name="Text 33"/>
          <p:cNvSpPr/>
          <p:nvPr/>
        </p:nvSpPr>
        <p:spPr>
          <a:xfrm>
            <a:off x="6583680" y="4937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4편대 통신중계·조명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6583680" y="526694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고공에서 Mesh 통신 중계 · 광역 조명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 · 확장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58368" y="7315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드론+UGV 유무인 복합, 그리고 기대효과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58368" y="1600200"/>
            <a:ext cx="3584448" cy="137160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0136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지상 UGV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86968" y="22037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장애물 극복 · 소화수 보급 · 방재 거점 기점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25696" y="1600200"/>
            <a:ext cx="3584448" cy="137160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54296" y="180136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드론 편대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654296" y="22037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상공 정밀 정찰·진압 — 골목 위를 넘는다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93024" y="1600200"/>
            <a:ext cx="3584448" cy="1371600"/>
          </a:xfrm>
          <a:prstGeom prst="roundRect">
            <a:avLst>
              <a:gd name="adj" fmla="val 6000"/>
            </a:avLst>
          </a:prstGeom>
          <a:solidFill>
            <a:srgbClr val="172033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21624" y="1801368"/>
            <a:ext cx="3127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유무인 복합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421624" y="2203704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 통신으로 지상·공중이 한 편대처럼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200400"/>
            <a:ext cx="3584448" cy="123444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" y="3346704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기술·학문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86968" y="367588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방산-민간 스핀오프 선도 모델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425696" y="3200400"/>
            <a:ext cx="3584448" cy="123444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54296" y="3346704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사회·안전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54296" y="367588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원도심 골든타임 10분+ 단축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93024" y="3200400"/>
            <a:ext cx="3584448" cy="1234440"/>
          </a:xfrm>
          <a:prstGeom prst="roundRect">
            <a:avLst>
              <a:gd name="adj" fmla="val 6667"/>
            </a:avLst>
          </a:prstGeom>
          <a:solidFill>
            <a:srgbClr val="172033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21624" y="3346704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E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지역혁신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21624" y="3675888"/>
            <a:ext cx="31272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E2E8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경남형 스마트시티·방산 도시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8368" y="4709160"/>
            <a:ext cx="10863072" cy="1417320"/>
          </a:xfrm>
          <a:prstGeom prst="roundRect">
            <a:avLst>
              <a:gd name="adj" fmla="val 6452"/>
            </a:avLst>
          </a:prstGeom>
          <a:solidFill>
            <a:srgbClr val="1F1206"/>
          </a:solidFill>
          <a:ln w="16510">
            <a:solidFill>
              <a:srgbClr val="EA580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거점을 정하고, 편대가 골목을 먼저 지킨다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4A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화재 빅데이터 분석 → 소방 드론 거점 선정 → SOP-D 현장 대응 → UGV 유무인 복합. 팀 군체 · 감사합니다. (Q&amp;A)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데이터로 정한 소방 드론 거점, 그리고 현장 로직</dc:title>
  <dc:subject>PptxGenJS Presentation</dc:subject>
  <dc:creator>팀 군체</dc:creator>
  <cp:lastModifiedBy>팀 군체</cp:lastModifiedBy>
  <cp:revision>1</cp:revision>
  <dcterms:created xsi:type="dcterms:W3CDTF">2026-08-03T16:03:50Z</dcterms:created>
  <dcterms:modified xsi:type="dcterms:W3CDTF">2026-08-03T16:03:50Z</dcterms:modified>
</cp:coreProperties>
</file>