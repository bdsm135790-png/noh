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화재건수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50" u="none">
                    <a:solidFill>
                      <a:srgbClr val="0F172A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창원시</c:v>
                  </c:pt>
                  <c:pt idx="1">
                    <c:v>김해시</c:v>
                  </c:pt>
                  <c:pt idx="2">
                    <c:v>진주시</c:v>
                  </c:pt>
                  <c:pt idx="3">
                    <c:v>양산시</c:v>
                  </c:pt>
                  <c:pt idx="4">
                    <c:v>밀양시</c:v>
                  </c:pt>
                  <c:pt idx="5">
                    <c:v>함안군</c:v>
                  </c:pt>
                  <c:pt idx="6">
                    <c:v>거제시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563</c:v>
                </c:pt>
                <c:pt idx="1">
                  <c:v>457</c:v>
                </c:pt>
                <c:pt idx="2">
                  <c:v>318</c:v>
                </c:pt>
                <c:pt idx="3">
                  <c:v>271</c:v>
                </c:pt>
                <c:pt idx="4">
                  <c:v>239</c:v>
                </c:pt>
                <c:pt idx="5">
                  <c:v>193</c:v>
                </c:pt>
                <c:pt idx="6">
                  <c:v>187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50" u="none">
                  <a:solidFill>
                    <a:srgbClr val="0F172A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화재건수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F172A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의창구</c:v>
                  </c:pt>
                  <c:pt idx="1">
                    <c:v>진해구</c:v>
                  </c:pt>
                  <c:pt idx="2">
                    <c:v>마산합포구</c:v>
                  </c:pt>
                  <c:pt idx="3">
                    <c:v>성산구</c:v>
                  </c:pt>
                  <c:pt idx="4">
                    <c:v>마산회원구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126</c:v>
                </c:pt>
                <c:pt idx="1">
                  <c:v>117</c:v>
                </c:pt>
                <c:pt idx="2">
                  <c:v>116</c:v>
                </c:pt>
                <c:pt idx="3">
                  <c:v>116</c:v>
                </c:pt>
                <c:pt idx="4">
                  <c:v>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F172A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화재빈도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의창구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29</c:v>
                </c:pt>
                <c:pt idx="2">
                  <c:v>33</c:v>
                </c:pt>
                <c:pt idx="3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도로협소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의창구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31</c:v>
                </c:pt>
                <c:pt idx="1">
                  <c:v>28</c:v>
                </c:pt>
                <c:pt idx="2">
                  <c:v>14</c:v>
                </c:pt>
                <c:pt idx="3">
                  <c:v>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노후건물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의창구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24</c:v>
                </c:pt>
                <c:pt idx="1">
                  <c:v>20</c:v>
                </c:pt>
                <c:pt idx="2">
                  <c:v>12</c:v>
                </c:pt>
                <c:pt idx="3">
                  <c:v>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고령인구</c:v>
                </c:pt>
              </c:strCache>
            </c:strRef>
          </c:tx>
          <c:spPr>
            <a:solidFill>
              <a:srgbClr val="1580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의창구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19</c:v>
                </c:pt>
                <c:pt idx="1">
                  <c:v>18</c:v>
                </c:pt>
                <c:pt idx="2">
                  <c:v>11</c:v>
                </c:pt>
                <c:pt idx="3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4155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소방안전 빅데이터 플랫폼 최근 1년 화재건수에서 창원시가 563건으로 경남 최다 → 대상 지역을 창원으로 확정.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화재 발생지점을 지도에 표시하고, 소방서에서 각 지점까지 경로를 탐색해 소방차가 못 가는 폭 4m 미만 구간을 빨간선으로 표시했다.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창원 원도심 위험지수 히트맵 위에서, 상위 취약지(마산합포·진해)를 최단 거리로 커버하는 마산소방서를 드론 거점으로 선정.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마산어시장 발화점 지정 시 최근접 거점 마산소방서(1.33km) 자동 선정, 드론 1분 도착. 소방차 진입불가 골목은 빨간선으로 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제6회 빅데이터로 우리동네 문제해결 아이디어 공모대회 · 경남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58368" y="160020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 정한 소방 드론 거점,
</a:t>
            </a:r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현장에서의 대응 로직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3429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화재 발생 빅데이터로 창원을 정하고, 지도 분석으로 거점을 정한다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85800" y="43434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172033"/>
          </a:solidFill>
          <a:ln w="1651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4498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47548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배치할 것인가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5120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빅데이터 분석 → 창원 · 거점 소방서 선정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43434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172033"/>
          </a:solidFill>
          <a:ln w="1651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4498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92240" y="47548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후 어떻게 움직이는가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0" y="5120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출동·도착 → 편대 SOP-D → 현장 정밀 대응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군체</a:t>
            </a:r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한태영 · 김상도 · 노현수   ·   경상국립대학교 방산시스템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286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배치할 것인가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3703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화재 발생 빈도로 대상 지역을 창원으로 정하고 — 지도에서 소방차가 못 가는 경로를 찾아 드론 거점 소방서를 정한다.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수집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5468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7472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선정 · 창원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6364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지도·경로 분석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73252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5256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 선정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관련 데이터를 모은다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FEE2E2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발생 빈도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980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소방안전 빅데이터 플랫폼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4980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시·군구별 화재 건수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8036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8152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FFEDD5"/>
          </a:solidFill>
          <a:ln/>
        </p:spPr>
      </p:sp>
      <p:sp>
        <p:nvSpPr>
          <p:cNvPr id="11" name="Text 9"/>
          <p:cNvSpPr/>
          <p:nvPr/>
        </p:nvSpPr>
        <p:spPr>
          <a:xfrm>
            <a:off x="308152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도로폭·도로망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08152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 · OSM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08152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골목 폭 · 소방차 진입 가능성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1324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EDE9FE"/>
          </a:solidFill>
          <a:ln/>
        </p:spPr>
      </p:sp>
      <p:sp>
        <p:nvSpPr>
          <p:cNvPr id="16" name="Text 14"/>
          <p:cNvSpPr/>
          <p:nvPr/>
        </p:nvSpPr>
        <p:spPr>
          <a:xfrm>
            <a:off x="541324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1324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국가공간정보포털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1324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노후 건축물 비율 → 취약 지수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54380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4496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DBEAFE"/>
          </a:solidFill>
          <a:ln/>
        </p:spPr>
      </p:sp>
      <p:sp>
        <p:nvSpPr>
          <p:cNvPr id="21" name="Text 19"/>
          <p:cNvSpPr/>
          <p:nvPr/>
        </p:nvSpPr>
        <p:spPr>
          <a:xfrm>
            <a:off x="774496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고령·인구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74496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통계청 KOSIS·SGIS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74496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65세+ 교통약자 밀집 지역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7552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07668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DCFCE7"/>
          </a:solidFill>
          <a:ln/>
        </p:spPr>
      </p:sp>
      <p:sp>
        <p:nvSpPr>
          <p:cNvPr id="26" name="Text 24"/>
          <p:cNvSpPr/>
          <p:nvPr/>
        </p:nvSpPr>
        <p:spPr>
          <a:xfrm>
            <a:off x="1007668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소방용수·진입곤란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07668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007668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소화전 · 진입곤란 구간 현황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70916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4709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= 소방안전 빅데이터 플랫폼의 최근 1년 화재 발생 빈도. 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여기에 도로·건축·인구 데이터를 파이썬(Pandas·NumPy·Matplotlib)으로 통합·시각화한다.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지역을 창원으로 정한다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소방안전 빅데이터 플랫폼 · 최근 1년 · 경남 시·군별 화재 발생 건수 (창원시 = 5개 구 합산)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138160" y="1783080"/>
            <a:ext cx="3474720" cy="3977640"/>
          </a:xfrm>
          <a:prstGeom prst="roundRect">
            <a:avLst>
              <a:gd name="adj" fmla="val 236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412480" y="2011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지역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412480" y="234086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창원시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8412480" y="29718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563</a:t>
            </a:r>
            <a:endParaRPr lang="en-US" sz="5000" dirty="0"/>
          </a:p>
        </p:txBody>
      </p:sp>
      <p:sp>
        <p:nvSpPr>
          <p:cNvPr id="10" name="Text 7"/>
          <p:cNvSpPr/>
          <p:nvPr/>
        </p:nvSpPr>
        <p:spPr>
          <a:xfrm>
            <a:off x="8412480" y="37673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 · 경남 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412480" y="4160520"/>
            <a:ext cx="29260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412480" y="427939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 전체 화재의 15.8% 집중 — 화재 최다 도시를 드론 배치 대상 지역으로 확정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지도에 화재지점 표시 · 진입불가 경로는 빨간선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704088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74520"/>
            <a:ext cx="6583680" cy="3383280"/>
          </a:xfrm>
          <a:prstGeom prst="rect">
            <a:avLst/>
          </a:prstGeom>
          <a:solidFill>
            <a:srgbClr val="EEF2F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3000" y="2240280"/>
            <a:ext cx="1188720" cy="822960"/>
          </a:xfrm>
          <a:prstGeom prst="rect">
            <a:avLst/>
          </a:prstGeom>
          <a:solidFill>
            <a:srgbClr val="DDE3E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88920" y="2194560"/>
            <a:ext cx="1280160" cy="731520"/>
          </a:xfrm>
          <a:prstGeom prst="rect">
            <a:avLst/>
          </a:prstGeom>
          <a:solidFill>
            <a:srgbClr val="DDE3E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49240" y="2286000"/>
            <a:ext cx="1280160" cy="822960"/>
          </a:xfrm>
          <a:prstGeom prst="rect">
            <a:avLst/>
          </a:prstGeom>
          <a:solidFill>
            <a:srgbClr val="DDE3E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34440" y="3520440"/>
            <a:ext cx="1097280" cy="914400"/>
          </a:xfrm>
          <a:prstGeom prst="rect">
            <a:avLst/>
          </a:prstGeom>
          <a:solidFill>
            <a:srgbClr val="DDE3E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69080" y="3429000"/>
            <a:ext cx="1188720" cy="1005840"/>
          </a:xfrm>
          <a:prstGeom prst="rect">
            <a:avLst/>
          </a:prstGeom>
          <a:solidFill>
            <a:srgbClr val="DDE3E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97880" y="3611880"/>
            <a:ext cx="1097280" cy="914400"/>
          </a:xfrm>
          <a:prstGeom prst="rect">
            <a:avLst/>
          </a:prstGeom>
          <a:solidFill>
            <a:srgbClr val="DDE3E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14600" y="4251960"/>
            <a:ext cx="1188720" cy="640080"/>
          </a:xfrm>
          <a:prstGeom prst="rect">
            <a:avLst/>
          </a:prstGeom>
          <a:solidFill>
            <a:srgbClr val="DDE3E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3291840"/>
            <a:ext cx="6217920" cy="0"/>
          </a:xfrm>
          <a:prstGeom prst="line">
            <a:avLst/>
          </a:prstGeom>
          <a:noFill/>
          <a:ln w="57150">
            <a:solidFill>
              <a:srgbClr val="2563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06040" y="2057400"/>
            <a:ext cx="0" cy="3017520"/>
          </a:xfrm>
          <a:prstGeom prst="line">
            <a:avLst/>
          </a:prstGeom>
          <a:noFill/>
          <a:ln w="57150">
            <a:solidFill>
              <a:srgbClr val="2563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57800" y="3291840"/>
            <a:ext cx="0" cy="1783080"/>
          </a:xfrm>
          <a:prstGeom prst="line">
            <a:avLst/>
          </a:prstGeom>
          <a:noFill/>
          <a:ln w="50800">
            <a:solidFill>
              <a:srgbClr val="2563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06040" y="3291840"/>
            <a:ext cx="1005840" cy="-777240"/>
          </a:xfrm>
          <a:prstGeom prst="line">
            <a:avLst/>
          </a:prstGeom>
          <a:noFill/>
          <a:ln w="44450">
            <a:solidFill>
              <a:srgbClr val="DC26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57800" y="3291840"/>
            <a:ext cx="914400" cy="-640080"/>
          </a:xfrm>
          <a:prstGeom prst="line">
            <a:avLst/>
          </a:prstGeom>
          <a:noFill/>
          <a:ln w="44450">
            <a:solidFill>
              <a:srgbClr val="DC262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3291840"/>
            <a:ext cx="0" cy="1051560"/>
          </a:xfrm>
          <a:prstGeom prst="line">
            <a:avLst/>
          </a:prstGeom>
          <a:noFill/>
          <a:ln w="44450">
            <a:solidFill>
              <a:srgbClr val="DC262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77640" y="4526280"/>
            <a:ext cx="1005840" cy="228600"/>
          </a:xfrm>
          <a:prstGeom prst="line">
            <a:avLst/>
          </a:prstGeom>
          <a:noFill/>
          <a:ln w="44450">
            <a:solidFill>
              <a:srgbClr val="DC262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46520" y="3291840"/>
            <a:ext cx="457200" cy="1051560"/>
          </a:xfrm>
          <a:prstGeom prst="line">
            <a:avLst/>
          </a:prstGeom>
          <a:noFill/>
          <a:ln w="44450">
            <a:solidFill>
              <a:srgbClr val="DC26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3864" y="2386584"/>
            <a:ext cx="256032" cy="256032"/>
          </a:xfrm>
          <a:prstGeom prst="ellipse">
            <a:avLst/>
          </a:prstGeom>
          <a:solidFill>
            <a:srgbClr val="EA580C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4184" y="2523744"/>
            <a:ext cx="256032" cy="256032"/>
          </a:xfrm>
          <a:prstGeom prst="ellipse">
            <a:avLst/>
          </a:prstGeom>
          <a:solidFill>
            <a:srgbClr val="EA580C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72184" y="4215384"/>
            <a:ext cx="256032" cy="256032"/>
          </a:xfrm>
          <a:prstGeom prst="ellipse">
            <a:avLst/>
          </a:prstGeom>
          <a:solidFill>
            <a:srgbClr val="EA580C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5464" y="4626864"/>
            <a:ext cx="256032" cy="256032"/>
          </a:xfrm>
          <a:prstGeom prst="ellipse">
            <a:avLst/>
          </a:prstGeom>
          <a:solidFill>
            <a:srgbClr val="EA580C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75704" y="4215384"/>
            <a:ext cx="256032" cy="256032"/>
          </a:xfrm>
          <a:prstGeom prst="ellipse">
            <a:avLst/>
          </a:prstGeom>
          <a:solidFill>
            <a:srgbClr val="EA580C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2960" y="4754880"/>
            <a:ext cx="365760" cy="3657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563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5256" y="4837176"/>
            <a:ext cx="201168" cy="20116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" y="511149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소방서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822960" y="5513832"/>
            <a:ext cx="365760" cy="0"/>
          </a:xfrm>
          <a:prstGeom prst="line">
            <a:avLst/>
          </a:prstGeom>
          <a:noFill/>
          <a:ln w="4445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61872" y="53858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 진입불가 경로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91840" y="5513832"/>
            <a:ext cx="365760" cy="0"/>
          </a:xfrm>
          <a:prstGeom prst="line">
            <a:avLst/>
          </a:prstGeom>
          <a:noFill/>
          <a:ln w="4445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730752" y="538581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진입가능 도로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303520" y="5440680"/>
            <a:ext cx="164592" cy="164592"/>
          </a:xfrm>
          <a:prstGeom prst="ellipse">
            <a:avLst/>
          </a:prstGeom>
          <a:solidFill>
            <a:srgbClr val="EA580C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32120" y="5385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발생지점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772400" y="1737360"/>
            <a:ext cx="38404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973568" y="1993392"/>
            <a:ext cx="420624" cy="420624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37" name="Text 35"/>
          <p:cNvSpPr/>
          <p:nvPr/>
        </p:nvSpPr>
        <p:spPr>
          <a:xfrm>
            <a:off x="7973568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656" dirty="0"/>
          </a:p>
        </p:txBody>
      </p:sp>
      <p:sp>
        <p:nvSpPr>
          <p:cNvPr id="38" name="Text 36"/>
          <p:cNvSpPr/>
          <p:nvPr/>
        </p:nvSpPr>
        <p:spPr>
          <a:xfrm>
            <a:off x="8522208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화재지점 표시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522208" y="21671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창원 화재 발생지점을 지도에 올린다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772400" y="2761488"/>
            <a:ext cx="38404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73568" y="3017520"/>
            <a:ext cx="420624" cy="42062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42" name="Text 40"/>
          <p:cNvSpPr/>
          <p:nvPr/>
        </p:nvSpPr>
        <p:spPr>
          <a:xfrm>
            <a:off x="7973568" y="3017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656" dirty="0"/>
          </a:p>
        </p:txBody>
      </p:sp>
      <p:sp>
        <p:nvSpPr>
          <p:cNvPr id="43" name="Text 41"/>
          <p:cNvSpPr/>
          <p:nvPr/>
        </p:nvSpPr>
        <p:spPr>
          <a:xfrm>
            <a:off x="8522208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 탐색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522208" y="319125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지점까지 소방서에서 실측 도로망으로 경로를 찾는다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7772400" y="3785616"/>
            <a:ext cx="38404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73568" y="4041648"/>
            <a:ext cx="420624" cy="42062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7" name="Text 45"/>
          <p:cNvSpPr/>
          <p:nvPr/>
        </p:nvSpPr>
        <p:spPr>
          <a:xfrm>
            <a:off x="7973568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656" dirty="0"/>
          </a:p>
        </p:txBody>
      </p:sp>
      <p:sp>
        <p:nvSpPr>
          <p:cNvPr id="48" name="Text 46"/>
          <p:cNvSpPr/>
          <p:nvPr/>
        </p:nvSpPr>
        <p:spPr>
          <a:xfrm>
            <a:off x="8522208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빨간선 = 진입불가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8522208" y="42153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 중 폭 4m 미만 구간을 빨간선으로 표시한다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7772400" y="4809744"/>
            <a:ext cx="38404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73568" y="5065776"/>
            <a:ext cx="420624" cy="420624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2" name="Text 50"/>
          <p:cNvSpPr/>
          <p:nvPr/>
        </p:nvSpPr>
        <p:spPr>
          <a:xfrm>
            <a:off x="7973568" y="50657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656" dirty="0"/>
          </a:p>
        </p:txBody>
      </p:sp>
      <p:sp>
        <p:nvSpPr>
          <p:cNvPr id="53" name="Text 51"/>
          <p:cNvSpPr/>
          <p:nvPr/>
        </p:nvSpPr>
        <p:spPr>
          <a:xfrm>
            <a:off x="8522208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필요 지점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8522208" y="523951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빨간선이 걸린 화재지점 = 드론이 가장 필요한 곳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① — 창원 구별 화재와 피해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소방안전 빅데이터 플랫폼 · 최근 1년 · 창원시 구별 화재 발생 건수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69494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818120" y="1783080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092440" y="2011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138160" y="2542032"/>
            <a:ext cx="137160" cy="13716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구별 화재건수는 88~126건으로 비슷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138160" y="3108960"/>
            <a:ext cx="137160" cy="13716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1" name="Text 8"/>
          <p:cNvSpPr/>
          <p:nvPr/>
        </p:nvSpPr>
        <p:spPr>
          <a:xfrm>
            <a:off x="8412480" y="2962656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차이는 도로·노후·인명피해에서 갈린다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138160" y="3675888"/>
            <a:ext cx="137160" cy="13716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0" y="352958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마산합포구는 인명피해가 창원 최다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4343400"/>
            <a:ext cx="3291840" cy="1188720"/>
          </a:xfrm>
          <a:prstGeom prst="roundRect">
            <a:avLst>
              <a:gd name="adj" fmla="val 6154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32104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마산합포구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321040" y="48006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인명피해 22명(사망 5) — 원도심 위험 집중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② — 종합 위험 지수로 합친다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화재빈도(실측 반영) · 도로협소 · 노후건물 · 고령인구 가중 합산 (도로·노후·고령은 예시)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749808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66760" y="1828800"/>
            <a:ext cx="3246120" cy="3703320"/>
          </a:xfrm>
          <a:prstGeom prst="roundRect">
            <a:avLst>
              <a:gd name="adj" fmla="val 253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595360" y="20299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1위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95360" y="235915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마산합포구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595360" y="28803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104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8595360" y="3639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/ 위험지수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595360" y="4023360"/>
            <a:ext cx="27432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0" y="411480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의창구는 화재건수 최다지만 도로·노후가 낮아 종합은 하위 — 원도심(마산합포·진해)이 상위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05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창원 안에서 거점 소방서를 정한다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492240" cy="4206240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6035040" cy="3520440"/>
          </a:xfrm>
          <a:prstGeom prst="rect">
            <a:avLst/>
          </a:prstGeom>
          <a:solidFill>
            <a:srgbClr val="EEF2F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" name="Shape 5"/>
          <p:cNvSpPr/>
          <p:nvPr/>
        </p:nvSpPr>
        <p:spPr>
          <a:xfrm>
            <a:off x="133502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" name="Shape 6"/>
          <p:cNvSpPr/>
          <p:nvPr/>
        </p:nvSpPr>
        <p:spPr>
          <a:xfrm>
            <a:off x="188366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" name="Shape 7"/>
          <p:cNvSpPr/>
          <p:nvPr/>
        </p:nvSpPr>
        <p:spPr>
          <a:xfrm>
            <a:off x="243230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0" name="Shape 8"/>
          <p:cNvSpPr/>
          <p:nvPr/>
        </p:nvSpPr>
        <p:spPr>
          <a:xfrm>
            <a:off x="298094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1" name="Shape 9"/>
          <p:cNvSpPr/>
          <p:nvPr/>
        </p:nvSpPr>
        <p:spPr>
          <a:xfrm>
            <a:off x="352958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2" name="Shape 10"/>
          <p:cNvSpPr/>
          <p:nvPr/>
        </p:nvSpPr>
        <p:spPr>
          <a:xfrm>
            <a:off x="407822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3" name="Shape 11"/>
          <p:cNvSpPr/>
          <p:nvPr/>
        </p:nvSpPr>
        <p:spPr>
          <a:xfrm>
            <a:off x="4626864" y="183794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14" name="Shape 12"/>
          <p:cNvSpPr/>
          <p:nvPr/>
        </p:nvSpPr>
        <p:spPr>
          <a:xfrm>
            <a:off x="5175504" y="183794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15" name="Shape 13"/>
          <p:cNvSpPr/>
          <p:nvPr/>
        </p:nvSpPr>
        <p:spPr>
          <a:xfrm>
            <a:off x="572414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6" name="Shape 14"/>
          <p:cNvSpPr/>
          <p:nvPr/>
        </p:nvSpPr>
        <p:spPr>
          <a:xfrm>
            <a:off x="627278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" y="227799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8" name="Shape 16"/>
          <p:cNvSpPr/>
          <p:nvPr/>
        </p:nvSpPr>
        <p:spPr>
          <a:xfrm>
            <a:off x="1335024" y="227799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9" name="Shape 17"/>
          <p:cNvSpPr/>
          <p:nvPr/>
        </p:nvSpPr>
        <p:spPr>
          <a:xfrm>
            <a:off x="188366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230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1" name="Shape 19"/>
          <p:cNvSpPr/>
          <p:nvPr/>
        </p:nvSpPr>
        <p:spPr>
          <a:xfrm>
            <a:off x="298094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2" name="Shape 20"/>
          <p:cNvSpPr/>
          <p:nvPr/>
        </p:nvSpPr>
        <p:spPr>
          <a:xfrm>
            <a:off x="352958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3" name="Shape 21"/>
          <p:cNvSpPr/>
          <p:nvPr/>
        </p:nvSpPr>
        <p:spPr>
          <a:xfrm>
            <a:off x="407822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4" name="Shape 22"/>
          <p:cNvSpPr/>
          <p:nvPr/>
        </p:nvSpPr>
        <p:spPr>
          <a:xfrm>
            <a:off x="4626864" y="2277999"/>
            <a:ext cx="530352" cy="421767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17550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6" name="Shape 24"/>
          <p:cNvSpPr/>
          <p:nvPr/>
        </p:nvSpPr>
        <p:spPr>
          <a:xfrm>
            <a:off x="5724144" y="227799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27799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28" name="Shape 26"/>
          <p:cNvSpPr/>
          <p:nvPr/>
        </p:nvSpPr>
        <p:spPr>
          <a:xfrm>
            <a:off x="786384" y="271805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29" name="Shape 27"/>
          <p:cNvSpPr/>
          <p:nvPr/>
        </p:nvSpPr>
        <p:spPr>
          <a:xfrm>
            <a:off x="1335024" y="271805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30" name="Shape 28"/>
          <p:cNvSpPr/>
          <p:nvPr/>
        </p:nvSpPr>
        <p:spPr>
          <a:xfrm>
            <a:off x="188366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1" name="Shape 29"/>
          <p:cNvSpPr/>
          <p:nvPr/>
        </p:nvSpPr>
        <p:spPr>
          <a:xfrm>
            <a:off x="2432304" y="271805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2" name="Shape 30"/>
          <p:cNvSpPr/>
          <p:nvPr/>
        </p:nvSpPr>
        <p:spPr>
          <a:xfrm>
            <a:off x="2980944" y="271805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3" name="Shape 31"/>
          <p:cNvSpPr/>
          <p:nvPr/>
        </p:nvSpPr>
        <p:spPr>
          <a:xfrm>
            <a:off x="3529584" y="2718054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4" name="Shape 32"/>
          <p:cNvSpPr/>
          <p:nvPr/>
        </p:nvSpPr>
        <p:spPr>
          <a:xfrm>
            <a:off x="407822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686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6" name="Shape 34"/>
          <p:cNvSpPr/>
          <p:nvPr/>
        </p:nvSpPr>
        <p:spPr>
          <a:xfrm>
            <a:off x="517550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7" name="Shape 35"/>
          <p:cNvSpPr/>
          <p:nvPr/>
        </p:nvSpPr>
        <p:spPr>
          <a:xfrm>
            <a:off x="5724144" y="271805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38" name="Shape 36"/>
          <p:cNvSpPr/>
          <p:nvPr/>
        </p:nvSpPr>
        <p:spPr>
          <a:xfrm>
            <a:off x="6272784" y="271805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39" name="Shape 37"/>
          <p:cNvSpPr/>
          <p:nvPr/>
        </p:nvSpPr>
        <p:spPr>
          <a:xfrm>
            <a:off x="786384" y="315810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40" name="Shape 38"/>
          <p:cNvSpPr/>
          <p:nvPr/>
        </p:nvSpPr>
        <p:spPr>
          <a:xfrm>
            <a:off x="1335024" y="3158109"/>
            <a:ext cx="530352" cy="421767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1" name="Shape 39"/>
          <p:cNvSpPr/>
          <p:nvPr/>
        </p:nvSpPr>
        <p:spPr>
          <a:xfrm>
            <a:off x="188366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2" name="Shape 40"/>
          <p:cNvSpPr/>
          <p:nvPr/>
        </p:nvSpPr>
        <p:spPr>
          <a:xfrm>
            <a:off x="243230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3" name="Shape 41"/>
          <p:cNvSpPr/>
          <p:nvPr/>
        </p:nvSpPr>
        <p:spPr>
          <a:xfrm>
            <a:off x="298094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2958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5" name="Shape 43"/>
          <p:cNvSpPr/>
          <p:nvPr/>
        </p:nvSpPr>
        <p:spPr>
          <a:xfrm>
            <a:off x="4078224" y="3158109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46" name="Shape 44"/>
          <p:cNvSpPr/>
          <p:nvPr/>
        </p:nvSpPr>
        <p:spPr>
          <a:xfrm>
            <a:off x="4626864" y="3158109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47" name="Shape 45"/>
          <p:cNvSpPr/>
          <p:nvPr/>
        </p:nvSpPr>
        <p:spPr>
          <a:xfrm>
            <a:off x="5175504" y="3158109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8" name="Shape 46"/>
          <p:cNvSpPr/>
          <p:nvPr/>
        </p:nvSpPr>
        <p:spPr>
          <a:xfrm>
            <a:off x="5724144" y="315810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315810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50" name="Shape 48"/>
          <p:cNvSpPr/>
          <p:nvPr/>
        </p:nvSpPr>
        <p:spPr>
          <a:xfrm>
            <a:off x="786384" y="359816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51" name="Shape 49"/>
          <p:cNvSpPr/>
          <p:nvPr/>
        </p:nvSpPr>
        <p:spPr>
          <a:xfrm>
            <a:off x="1335024" y="3598164"/>
            <a:ext cx="530352" cy="421767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52" name="Shape 50"/>
          <p:cNvSpPr/>
          <p:nvPr/>
        </p:nvSpPr>
        <p:spPr>
          <a:xfrm>
            <a:off x="188366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3" name="Shape 51"/>
          <p:cNvSpPr/>
          <p:nvPr/>
        </p:nvSpPr>
        <p:spPr>
          <a:xfrm>
            <a:off x="243230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4" name="Shape 52"/>
          <p:cNvSpPr/>
          <p:nvPr/>
        </p:nvSpPr>
        <p:spPr>
          <a:xfrm>
            <a:off x="298094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5" name="Shape 53"/>
          <p:cNvSpPr/>
          <p:nvPr/>
        </p:nvSpPr>
        <p:spPr>
          <a:xfrm>
            <a:off x="352958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6" name="Shape 54"/>
          <p:cNvSpPr/>
          <p:nvPr/>
        </p:nvSpPr>
        <p:spPr>
          <a:xfrm>
            <a:off x="4078224" y="3598164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57" name="Shape 55"/>
          <p:cNvSpPr/>
          <p:nvPr/>
        </p:nvSpPr>
        <p:spPr>
          <a:xfrm>
            <a:off x="4626864" y="359816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75504" y="359816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59" name="Shape 57"/>
          <p:cNvSpPr/>
          <p:nvPr/>
        </p:nvSpPr>
        <p:spPr>
          <a:xfrm>
            <a:off x="5724144" y="359816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60" name="Shape 58"/>
          <p:cNvSpPr/>
          <p:nvPr/>
        </p:nvSpPr>
        <p:spPr>
          <a:xfrm>
            <a:off x="6272784" y="359816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61" name="Shape 59"/>
          <p:cNvSpPr/>
          <p:nvPr/>
        </p:nvSpPr>
        <p:spPr>
          <a:xfrm>
            <a:off x="786384" y="403821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62" name="Shape 60"/>
          <p:cNvSpPr/>
          <p:nvPr/>
        </p:nvSpPr>
        <p:spPr>
          <a:xfrm>
            <a:off x="1335024" y="403821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3" name="Shape 61"/>
          <p:cNvSpPr/>
          <p:nvPr/>
        </p:nvSpPr>
        <p:spPr>
          <a:xfrm>
            <a:off x="1883664" y="4038219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64" name="Shape 62"/>
          <p:cNvSpPr/>
          <p:nvPr/>
        </p:nvSpPr>
        <p:spPr>
          <a:xfrm>
            <a:off x="2432304" y="403821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5" name="Shape 63"/>
          <p:cNvSpPr/>
          <p:nvPr/>
        </p:nvSpPr>
        <p:spPr>
          <a:xfrm>
            <a:off x="2980944" y="403821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6" name="Shape 64"/>
          <p:cNvSpPr/>
          <p:nvPr/>
        </p:nvSpPr>
        <p:spPr>
          <a:xfrm>
            <a:off x="3529584" y="403821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7" name="Shape 65"/>
          <p:cNvSpPr/>
          <p:nvPr/>
        </p:nvSpPr>
        <p:spPr>
          <a:xfrm>
            <a:off x="4078224" y="4038219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8" name="Shape 66"/>
          <p:cNvSpPr/>
          <p:nvPr/>
        </p:nvSpPr>
        <p:spPr>
          <a:xfrm>
            <a:off x="4626864" y="403821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9" name="Shape 67"/>
          <p:cNvSpPr/>
          <p:nvPr/>
        </p:nvSpPr>
        <p:spPr>
          <a:xfrm>
            <a:off x="5175504" y="403821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70" name="Shape 68"/>
          <p:cNvSpPr/>
          <p:nvPr/>
        </p:nvSpPr>
        <p:spPr>
          <a:xfrm>
            <a:off x="5724144" y="403821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1" name="Shape 69"/>
          <p:cNvSpPr/>
          <p:nvPr/>
        </p:nvSpPr>
        <p:spPr>
          <a:xfrm>
            <a:off x="6272784" y="403821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2" name="Shape 70"/>
          <p:cNvSpPr/>
          <p:nvPr/>
        </p:nvSpPr>
        <p:spPr>
          <a:xfrm>
            <a:off x="78638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3" name="Shape 71"/>
          <p:cNvSpPr/>
          <p:nvPr/>
        </p:nvSpPr>
        <p:spPr>
          <a:xfrm>
            <a:off x="133502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4" name="Shape 72"/>
          <p:cNvSpPr/>
          <p:nvPr/>
        </p:nvSpPr>
        <p:spPr>
          <a:xfrm>
            <a:off x="1883664" y="447827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75" name="Shape 73"/>
          <p:cNvSpPr/>
          <p:nvPr/>
        </p:nvSpPr>
        <p:spPr>
          <a:xfrm>
            <a:off x="2432304" y="447827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6" name="Shape 74"/>
          <p:cNvSpPr/>
          <p:nvPr/>
        </p:nvSpPr>
        <p:spPr>
          <a:xfrm>
            <a:off x="2980944" y="4478274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77" name="Shape 75"/>
          <p:cNvSpPr/>
          <p:nvPr/>
        </p:nvSpPr>
        <p:spPr>
          <a:xfrm>
            <a:off x="3529584" y="447827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8" name="Shape 76"/>
          <p:cNvSpPr/>
          <p:nvPr/>
        </p:nvSpPr>
        <p:spPr>
          <a:xfrm>
            <a:off x="4078224" y="447827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79" name="Shape 77"/>
          <p:cNvSpPr/>
          <p:nvPr/>
        </p:nvSpPr>
        <p:spPr>
          <a:xfrm>
            <a:off x="4626864" y="447827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80" name="Shape 78"/>
          <p:cNvSpPr/>
          <p:nvPr/>
        </p:nvSpPr>
        <p:spPr>
          <a:xfrm>
            <a:off x="517550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1" name="Shape 79"/>
          <p:cNvSpPr/>
          <p:nvPr/>
        </p:nvSpPr>
        <p:spPr>
          <a:xfrm>
            <a:off x="572414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2" name="Shape 80"/>
          <p:cNvSpPr/>
          <p:nvPr/>
        </p:nvSpPr>
        <p:spPr>
          <a:xfrm>
            <a:off x="6272784" y="4478274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83" name="Shape 81"/>
          <p:cNvSpPr/>
          <p:nvPr/>
        </p:nvSpPr>
        <p:spPr>
          <a:xfrm>
            <a:off x="786384" y="4918329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84" name="Shape 82"/>
          <p:cNvSpPr/>
          <p:nvPr/>
        </p:nvSpPr>
        <p:spPr>
          <a:xfrm>
            <a:off x="133502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5" name="Shape 83"/>
          <p:cNvSpPr/>
          <p:nvPr/>
        </p:nvSpPr>
        <p:spPr>
          <a:xfrm>
            <a:off x="188366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6" name="Shape 84"/>
          <p:cNvSpPr/>
          <p:nvPr/>
        </p:nvSpPr>
        <p:spPr>
          <a:xfrm>
            <a:off x="2432304" y="491832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87" name="Shape 85"/>
          <p:cNvSpPr/>
          <p:nvPr/>
        </p:nvSpPr>
        <p:spPr>
          <a:xfrm>
            <a:off x="2980944" y="491832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88" name="Shape 86"/>
          <p:cNvSpPr/>
          <p:nvPr/>
        </p:nvSpPr>
        <p:spPr>
          <a:xfrm>
            <a:off x="3529584" y="491832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89" name="Shape 87"/>
          <p:cNvSpPr/>
          <p:nvPr/>
        </p:nvSpPr>
        <p:spPr>
          <a:xfrm>
            <a:off x="407822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0" name="Shape 88"/>
          <p:cNvSpPr/>
          <p:nvPr/>
        </p:nvSpPr>
        <p:spPr>
          <a:xfrm>
            <a:off x="462686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1" name="Shape 89"/>
          <p:cNvSpPr/>
          <p:nvPr/>
        </p:nvSpPr>
        <p:spPr>
          <a:xfrm>
            <a:off x="517550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2" name="Shape 90"/>
          <p:cNvSpPr/>
          <p:nvPr/>
        </p:nvSpPr>
        <p:spPr>
          <a:xfrm>
            <a:off x="5724144" y="4918329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93" name="Shape 91"/>
          <p:cNvSpPr/>
          <p:nvPr/>
        </p:nvSpPr>
        <p:spPr>
          <a:xfrm>
            <a:off x="6272784" y="4918329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94" name="Shape 92"/>
          <p:cNvSpPr/>
          <p:nvPr/>
        </p:nvSpPr>
        <p:spPr>
          <a:xfrm>
            <a:off x="1947672" y="3068955"/>
            <a:ext cx="512064" cy="51206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563EB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048256" y="3169539"/>
            <a:ext cx="310896" cy="310896"/>
          </a:xfrm>
          <a:prstGeom prst="star5">
            <a:avLst/>
          </a:prstGeom>
          <a:solidFill>
            <a:srgbClr val="2563EB"/>
          </a:solidFill>
          <a:ln/>
        </p:spPr>
      </p:sp>
      <p:sp>
        <p:nvSpPr>
          <p:cNvPr id="96" name="Text 94"/>
          <p:cNvSpPr/>
          <p:nvPr/>
        </p:nvSpPr>
        <p:spPr>
          <a:xfrm>
            <a:off x="1380744" y="3489579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마산소방서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4169664" y="4174236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465576" y="44577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성산소방서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5376672" y="259003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672584" y="287350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창원소방서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777240" y="53949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붉을수록 위험 지수 높음 · ★ 선정 거점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7315200" y="16916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— 마산소방서</a:t>
            </a:r>
            <a:endParaRPr lang="en-US" sz="1900" dirty="0"/>
          </a:p>
        </p:txBody>
      </p:sp>
      <p:sp>
        <p:nvSpPr>
          <p:cNvPr id="103" name="Shape 101"/>
          <p:cNvSpPr/>
          <p:nvPr/>
        </p:nvSpPr>
        <p:spPr>
          <a:xfrm>
            <a:off x="7315200" y="22402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43800" y="2542032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05" name="Text 103"/>
          <p:cNvSpPr/>
          <p:nvPr/>
        </p:nvSpPr>
        <p:spPr>
          <a:xfrm>
            <a:off x="7909560" y="23500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위험지수 최상위 인접</a:t>
            </a:r>
            <a:endParaRPr lang="en-US" sz="1300" dirty="0"/>
          </a:p>
        </p:txBody>
      </p:sp>
      <p:sp>
        <p:nvSpPr>
          <p:cNvPr id="106" name="Text 104"/>
          <p:cNvSpPr/>
          <p:nvPr/>
        </p:nvSpPr>
        <p:spPr>
          <a:xfrm>
            <a:off x="7909560" y="26609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1위 마산합포구를 최단 거리에서 커버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7315200" y="31546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543800" y="3456432"/>
            <a:ext cx="237744" cy="237744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09" name="Text 107"/>
          <p:cNvSpPr/>
          <p:nvPr/>
        </p:nvSpPr>
        <p:spPr>
          <a:xfrm>
            <a:off x="7909560" y="32644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진입불가 경로 최다</a:t>
            </a:r>
            <a:endParaRPr lang="en-US" sz="1300" dirty="0"/>
          </a:p>
        </p:txBody>
      </p:sp>
      <p:sp>
        <p:nvSpPr>
          <p:cNvPr id="110" name="Text 108"/>
          <p:cNvSpPr/>
          <p:nvPr/>
        </p:nvSpPr>
        <p:spPr>
          <a:xfrm>
            <a:off x="7909560" y="35753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빨간선 밀집 원도심 골목을 상공에서 보완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7315200" y="40690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7543800" y="4370832"/>
            <a:ext cx="237744" cy="23774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3" name="Text 111"/>
          <p:cNvSpPr/>
          <p:nvPr/>
        </p:nvSpPr>
        <p:spPr>
          <a:xfrm>
            <a:off x="7909560" y="41788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교통약자 밀집</a:t>
            </a:r>
            <a:endParaRPr lang="en-US" sz="1300" dirty="0"/>
          </a:p>
        </p:txBody>
      </p:sp>
      <p:sp>
        <p:nvSpPr>
          <p:cNvPr id="114" name="Text 112"/>
          <p:cNvSpPr/>
          <p:nvPr/>
        </p:nvSpPr>
        <p:spPr>
          <a:xfrm>
            <a:off x="7909560" y="44897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 인구 대피 취약지에 초동 대응</a:t>
            </a:r>
            <a:endParaRPr lang="en-US" sz="1050" dirty="0"/>
          </a:p>
        </p:txBody>
      </p:sp>
      <p:sp>
        <p:nvSpPr>
          <p:cNvPr id="115" name="Shape 113"/>
          <p:cNvSpPr/>
          <p:nvPr/>
        </p:nvSpPr>
        <p:spPr>
          <a:xfrm>
            <a:off x="7315200" y="49834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7543800" y="5285232"/>
            <a:ext cx="237744" cy="237744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117" name="Text 115"/>
          <p:cNvSpPr/>
          <p:nvPr/>
        </p:nvSpPr>
        <p:spPr>
          <a:xfrm>
            <a:off x="7909560" y="50932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보급 거점 확보</a:t>
            </a:r>
            <a:endParaRPr lang="en-US" sz="1300" dirty="0"/>
          </a:p>
        </p:txBody>
      </p:sp>
      <p:sp>
        <p:nvSpPr>
          <p:cNvPr id="118" name="Text 116"/>
          <p:cNvSpPr/>
          <p:nvPr/>
        </p:nvSpPr>
        <p:spPr>
          <a:xfrm>
            <a:off x="7909560" y="54041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드론·UGV 재보급 스마트 방재 거점 병설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286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후 어떻게 움직이는가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370332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거점에서 출동한 드론 편대가 화점에 도착한 순간부터 — 표준 행동요령(SOP-D)에 따라 자율 수행한다.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출동·도착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15468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7472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편대 전개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94360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6364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SOP-D 5단계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73252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5256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정밀 대응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 — 소방차보다 먼저 도착한다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 소방서 → 화점 직선 비행 · 화재 인지 시점 공통 기준 (예시)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20848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45059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실도로 주행+출동준비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78892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8:40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좁은 골목은 입구까지만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51960" y="187452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51960" y="20848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편대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251960" y="245059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거점→화점 직선 비행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251960" y="278892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3:20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4251960" y="38862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골목 위를 그대로 넘어 도착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955280" y="1874520"/>
            <a:ext cx="3657600" cy="2743200"/>
          </a:xfrm>
          <a:prstGeom prst="roundRect">
            <a:avLst>
              <a:gd name="adj" fmla="val 3000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95528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드론이 먼저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955280" y="2578608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5:20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7955280" y="3584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초동 골든타임 확보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95528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소방관 투입 전 정밀 정찰까지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4892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수치는 예시 시나리오 — 거점·지점 거리에 따라 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01 · 실제 시연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마산어시장 출동 — 현장 지도 표시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269480" cy="4526280"/>
          </a:xfrm>
          <a:prstGeom prst="roundRect">
            <a:avLst>
              <a:gd name="adj" fmla="val 1616"/>
            </a:avLst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6812280" cy="3749040"/>
          </a:xfrm>
          <a:prstGeom prst="rect">
            <a:avLst/>
          </a:prstGeom>
          <a:solidFill>
            <a:srgbClr val="0E1526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3000" y="2148840"/>
            <a:ext cx="1005840" cy="73152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Shape 5"/>
          <p:cNvSpPr/>
          <p:nvPr/>
        </p:nvSpPr>
        <p:spPr>
          <a:xfrm>
            <a:off x="2697480" y="2103120"/>
            <a:ext cx="1097280" cy="64008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" name="Shape 6"/>
          <p:cNvSpPr/>
          <p:nvPr/>
        </p:nvSpPr>
        <p:spPr>
          <a:xfrm>
            <a:off x="5257800" y="2240280"/>
            <a:ext cx="1097280" cy="73152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" name="Shape 7"/>
          <p:cNvSpPr/>
          <p:nvPr/>
        </p:nvSpPr>
        <p:spPr>
          <a:xfrm>
            <a:off x="6537960" y="2148840"/>
            <a:ext cx="822960" cy="8229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0" name="Shape 8"/>
          <p:cNvSpPr/>
          <p:nvPr/>
        </p:nvSpPr>
        <p:spPr>
          <a:xfrm>
            <a:off x="1234440" y="3337560"/>
            <a:ext cx="914400" cy="8229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9"/>
          <p:cNvSpPr/>
          <p:nvPr/>
        </p:nvSpPr>
        <p:spPr>
          <a:xfrm>
            <a:off x="3977640" y="3246120"/>
            <a:ext cx="1097280" cy="91440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" name="Shape 10"/>
          <p:cNvSpPr/>
          <p:nvPr/>
        </p:nvSpPr>
        <p:spPr>
          <a:xfrm>
            <a:off x="5806440" y="3520440"/>
            <a:ext cx="1005840" cy="82296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" name="Shape 11"/>
          <p:cNvSpPr/>
          <p:nvPr/>
        </p:nvSpPr>
        <p:spPr>
          <a:xfrm>
            <a:off x="2423160" y="4251960"/>
            <a:ext cx="1005840" cy="64008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" name="Shape 12"/>
          <p:cNvSpPr/>
          <p:nvPr/>
        </p:nvSpPr>
        <p:spPr>
          <a:xfrm>
            <a:off x="4617720" y="4434840"/>
            <a:ext cx="1097280" cy="64008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5" name="Shape 13"/>
          <p:cNvSpPr/>
          <p:nvPr/>
        </p:nvSpPr>
        <p:spPr>
          <a:xfrm>
            <a:off x="960120" y="3154680"/>
            <a:ext cx="6446520" cy="0"/>
          </a:xfrm>
          <a:prstGeom prst="line">
            <a:avLst/>
          </a:prstGeom>
          <a:noFill/>
          <a:ln w="44450">
            <a:solidFill>
              <a:srgbClr val="38BD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06040" y="1965960"/>
            <a:ext cx="0" cy="3383280"/>
          </a:xfrm>
          <a:prstGeom prst="line">
            <a:avLst/>
          </a:prstGeom>
          <a:noFill/>
          <a:ln w="44450">
            <a:solidFill>
              <a:srgbClr val="38BD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66360" y="3154680"/>
            <a:ext cx="0" cy="219456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80160" y="5029200"/>
            <a:ext cx="1325880" cy="-1874520"/>
          </a:xfrm>
          <a:prstGeom prst="line">
            <a:avLst/>
          </a:prstGeom>
          <a:noFill/>
          <a:ln w="44450">
            <a:solidFill>
              <a:srgbClr val="0EA5E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06040" y="3154680"/>
            <a:ext cx="1097280" cy="-73152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66360" y="3154680"/>
            <a:ext cx="914400" cy="-54864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3154680"/>
            <a:ext cx="0" cy="100584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86200" y="4434840"/>
            <a:ext cx="1005840" cy="27432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46520" y="3154680"/>
            <a:ext cx="457200" cy="100584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80160" y="5029200"/>
            <a:ext cx="4389120" cy="-2679192"/>
          </a:xfrm>
          <a:prstGeom prst="line">
            <a:avLst/>
          </a:prstGeom>
          <a:noFill/>
          <a:ln w="31750">
            <a:solidFill>
              <a:srgbClr val="F97316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522976" y="2203704"/>
            <a:ext cx="292608" cy="292608"/>
          </a:xfrm>
          <a:prstGeom prst="ellipse">
            <a:avLst/>
          </a:prstGeom>
          <a:solidFill>
            <a:srgbClr val="F97316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92040" y="1892808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1A0E0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92040" y="189280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B92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마산어시장 발화점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143000" y="4892040"/>
            <a:ext cx="310896" cy="310896"/>
          </a:xfrm>
          <a:prstGeom prst="ellipse">
            <a:avLst/>
          </a:prstGeom>
          <a:solidFill>
            <a:srgbClr val="0B1220"/>
          </a:solidFill>
          <a:ln w="31750">
            <a:solidFill>
              <a:srgbClr val="38BD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216152" y="4965192"/>
            <a:ext cx="164592" cy="16459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523951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마산소방서 거점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22960" y="5769864"/>
            <a:ext cx="36576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261872" y="56509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 진입불가 경로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246120" y="5769864"/>
            <a:ext cx="36576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85032" y="56509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진입가능 도로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120640" y="5769864"/>
            <a:ext cx="365760" cy="0"/>
          </a:xfrm>
          <a:prstGeom prst="line">
            <a:avLst/>
          </a:prstGeom>
          <a:noFill/>
          <a:ln w="31750">
            <a:solidFill>
              <a:srgbClr val="F97316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5559552" y="56509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직선 경로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001000" y="1554480"/>
            <a:ext cx="3611880" cy="2606040"/>
          </a:xfrm>
          <a:prstGeom prst="roundRect">
            <a:avLst>
              <a:gd name="adj" fmla="val 3158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75320" y="171907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 요약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275320" y="21396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9418320" y="213969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B92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마산어시장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8275320" y="26151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최근접 거점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9418320" y="261518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마산소방서 · 직선 1.33km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8275320" y="3090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도착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9418320" y="309067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 00초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8275320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9418320" y="356616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CA5A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진입불가 골목 다수 · 호스 연장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8001000" y="429768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0C1F16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275320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드론이 먼저 도착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275320" y="4864608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소방차가 못 가는 골목(빨간선)을 드론이 상공으로 그대로 넘어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 만에 화점 도착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초동 골든타임 확보.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즉시 — 5개 편대로 전개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73936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73936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103120" y="1600200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지휘통제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892040" y="1600200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공중지휘권 선언 · 3D 매핑 융합 · 통합 제어·자원 관리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578608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752344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75234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1편대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103120" y="2578608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공중정찰대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892040" y="2578608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사방 3D 스캐닝 · 열화상 화점 탐지 · 연소확대선 모니터링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557016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730752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730752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2편대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103120" y="3557016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인명수색·구조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892040" y="3557016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고립 구조대상자 식별 · 생명유지 키트 투하 · 대피 인도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535424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709160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70916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3편대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103120" y="4535424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화재진압대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892040" y="4535424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창문·진입점 파악 · 창문 파쇄 후 정밀 소화탄 투하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513832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687568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68756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4편대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103120" y="5513832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통신중계·조명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892040" y="5513832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 통신망 형성 · 음영지역 신호 중계 · 광역 조명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SOP-D 표준 행동요령 · 5단계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2121408"/>
            <a:ext cx="731520" cy="73152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전개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4360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76656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정찰·진압·구조 편대 전개·상승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94360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101-D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60320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807208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56432" y="2121408"/>
            <a:ext cx="731520" cy="73152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852928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정찰·평가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2852928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35224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스캐닝·열화상 화점/진입점 파악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852928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102-D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65776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715000" y="2121408"/>
            <a:ext cx="731520" cy="73152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22" name="Text 20"/>
          <p:cNvSpPr/>
          <p:nvPr/>
        </p:nvSpPr>
        <p:spPr>
          <a:xfrm>
            <a:off x="5715000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111496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작전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111496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193792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파쇄 후 정밀 소화탄 · 대피 인도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111496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222-D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077456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7324344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973568" y="2121408"/>
            <a:ext cx="731520" cy="7315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0" name="Text 28"/>
          <p:cNvSpPr/>
          <p:nvPr/>
        </p:nvSpPr>
        <p:spPr>
          <a:xfrm>
            <a:off x="7973568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7370064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중계·호위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370064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RELAY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452360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요구조자 호위 · 외벽 연소차단 · 배터리 릴레이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70064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105-D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336024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36" name="Shape 34"/>
          <p:cNvSpPr/>
          <p:nvPr/>
        </p:nvSpPr>
        <p:spPr>
          <a:xfrm>
            <a:off x="9582912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232136" y="2121408"/>
            <a:ext cx="731520" cy="731520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38" name="Text 36"/>
          <p:cNvSpPr/>
          <p:nvPr/>
        </p:nvSpPr>
        <p:spPr>
          <a:xfrm>
            <a:off x="10232136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9628632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종결</a:t>
            </a:r>
            <a:endParaRPr lang="en-US" sz="1450" dirty="0"/>
          </a:p>
        </p:txBody>
      </p:sp>
      <p:sp>
        <p:nvSpPr>
          <p:cNvPr id="40" name="Text 38"/>
          <p:cNvSpPr/>
          <p:nvPr/>
        </p:nvSpPr>
        <p:spPr>
          <a:xfrm>
            <a:off x="9628632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9710928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대피 완료 확인 · 잔불 감시 · RTH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9628632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113-D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지휘·정찰·진압·구조·통신 편대가 단계별 SOP 코드에 따라 한 타임라인에서 자율로 맞물려 움직인다.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04 · 실제 시연 캡처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건물 SOP-D 대응 · 마산어시장</a:t>
            </a:r>
            <a:endParaRPr lang="en-US" sz="2600" dirty="0"/>
          </a:p>
        </p:txBody>
      </p:sp>
      <p:pic>
        <p:nvPicPr>
          <p:cNvPr id="4" name="Image 0" descr="cap_3d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10817352" cy="47914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6236208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정찰(열화상 화점 탐지) · 진압(창문 파쇄·정밀 소화탄) · 인명수색구조(대피 인도) · 통신중계·조명 편대가 SOP-D 단계별로 동시에 자율 수행 — 실제 시뮬레이션 화면.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확장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7315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드론+UGV 유무인 복합, 그리고 기대효과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58368" y="1600200"/>
            <a:ext cx="3584448" cy="1371600"/>
          </a:xfrm>
          <a:prstGeom prst="roundRect">
            <a:avLst>
              <a:gd name="adj" fmla="val 6000"/>
            </a:avLst>
          </a:prstGeom>
          <a:solidFill>
            <a:srgbClr val="172033"/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180136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지상 UGV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86968" y="2203704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장애물 극복 · 소화수 보급 · 방재 거점 기점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425696" y="1600200"/>
            <a:ext cx="3584448" cy="1371600"/>
          </a:xfrm>
          <a:prstGeom prst="roundRect">
            <a:avLst>
              <a:gd name="adj" fmla="val 6000"/>
            </a:avLst>
          </a:prstGeom>
          <a:solidFill>
            <a:srgbClr val="172033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54296" y="180136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편대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654296" y="2203704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상공 정밀 정찰·진압 — 골목 위를 넘는다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93024" y="1600200"/>
            <a:ext cx="3584448" cy="1371600"/>
          </a:xfrm>
          <a:prstGeom prst="roundRect">
            <a:avLst>
              <a:gd name="adj" fmla="val 6000"/>
            </a:avLst>
          </a:prstGeom>
          <a:solidFill>
            <a:srgbClr val="172033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21624" y="180136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유무인 복합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421624" y="2203704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상호 통신으로 지상·공중이 한 편대처럼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3200400"/>
            <a:ext cx="3584448" cy="1234440"/>
          </a:xfrm>
          <a:prstGeom prst="roundRect">
            <a:avLst>
              <a:gd name="adj" fmla="val 6667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" y="3346704"/>
            <a:ext cx="3127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기술·학문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968" y="3675888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방산-민간 스핀오프 선도 모델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425696" y="3200400"/>
            <a:ext cx="3584448" cy="1234440"/>
          </a:xfrm>
          <a:prstGeom prst="roundRect">
            <a:avLst>
              <a:gd name="adj" fmla="val 6667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54296" y="3346704"/>
            <a:ext cx="3127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사회·안전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54296" y="3675888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원도심 골든타임 10분+ 단축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93024" y="3200400"/>
            <a:ext cx="3584448" cy="1234440"/>
          </a:xfrm>
          <a:prstGeom prst="roundRect">
            <a:avLst>
              <a:gd name="adj" fmla="val 6667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21624" y="3346704"/>
            <a:ext cx="3127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지역혁신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21624" y="3675888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경남형 스마트시티·방산 도시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58368" y="4709160"/>
            <a:ext cx="10863072" cy="1417320"/>
          </a:xfrm>
          <a:prstGeom prst="roundRect">
            <a:avLst>
              <a:gd name="adj" fmla="val 6452"/>
            </a:avLst>
          </a:prstGeom>
          <a:solidFill>
            <a:srgbClr val="1F1206"/>
          </a:solidFill>
          <a:ln w="16510">
            <a:solidFill>
              <a:srgbClr val="EA580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9377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 창원·거점을 정하고, 편대가 골목을 먼저 지킨다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14400" y="54864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화재 빅데이터 → 창원·거점 소방서 선정 → SOP-D 현장 대응 → UGV 유무인 복합. 팀 군체 · 감사합니다. (Q&amp;A)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데이터로 정한 소방 드론 거점, 그리고 현장 로직</dc:title>
  <dc:subject>PptxGenJS Presentation</dc:subject>
  <dc:creator>팀 군체</dc:creator>
  <cp:lastModifiedBy>팀 군체</cp:lastModifiedBy>
  <cp:revision>1</cp:revision>
  <dcterms:created xsi:type="dcterms:W3CDTF">2026-08-04T14:53:24Z</dcterms:created>
  <dcterms:modified xsi:type="dcterms:W3CDTF">2026-08-04T14:53:24Z</dcterms:modified>
</cp:coreProperties>
</file>