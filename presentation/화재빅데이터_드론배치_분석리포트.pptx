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창원시</c:v>
                  </c:pt>
                  <c:pt idx="1">
                    <c:v>김해시</c:v>
                  </c:pt>
                  <c:pt idx="2">
                    <c:v>진주시</c:v>
                  </c:pt>
                  <c:pt idx="3">
                    <c:v>양산시</c:v>
                  </c:pt>
                  <c:pt idx="4">
                    <c:v>밀양시</c:v>
                  </c:pt>
                  <c:pt idx="5">
                    <c:v>함안군</c:v>
                  </c:pt>
                  <c:pt idx="6">
                    <c:v>거제시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563</c:v>
                </c:pt>
                <c:pt idx="1">
                  <c:v>457</c:v>
                </c:pt>
                <c:pt idx="2">
                  <c:v>318</c:v>
                </c:pt>
                <c:pt idx="3">
                  <c:v>271</c:v>
                </c:pt>
                <c:pt idx="4">
                  <c:v>239</c:v>
                </c:pt>
                <c:pt idx="5">
                  <c:v>193</c:v>
                </c:pt>
                <c:pt idx="6">
                  <c:v>187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5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화재빈도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29</c:v>
                </c:pt>
                <c:pt idx="2">
                  <c:v>33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도로협소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</c:v>
                </c:pt>
                <c:pt idx="1">
                  <c:v>28</c:v>
                </c:pt>
                <c:pt idx="2">
                  <c:v>14</c:v>
                </c:pt>
                <c:pt idx="3">
                  <c:v>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노후건물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</c:v>
                </c:pt>
                <c:pt idx="1">
                  <c:v>20</c:v>
                </c:pt>
                <c:pt idx="2">
                  <c:v>12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고령인구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</c:v>
                </c:pt>
                <c:pt idx="1">
                  <c:v>18</c:v>
                </c:pt>
                <c:pt idx="2">
                  <c:v>11</c:v>
                </c:pt>
                <c:pt idx="3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건당 재산피해(천원)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5분 이내 도착</c:v>
                  </c:pt>
                  <c:pt idx="1">
                    <c:v>5~10분 도착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5425</c:v>
                </c:pt>
                <c:pt idx="1">
                  <c:v>11198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좌측 자산동 항공사진(스카이뷰)으로 '노후 다세대 밀집·진입 곤란'을 각인. 우측: 실제 사례(자산동 90대 사망)+진입지연(제천 29명)+골든타임 통계. 사진은 프레임에 스카이뷰 캡처를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PC(인터넷 연결)에서 시뮬레이터를 열어 자산동 노후 다세대 골목 지점을 지정 → 지도 화면을 캡처해 이 자리(점선 박스)에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골든타임(5분) 확보 시 건당 재산피해가 절반 수준(11,198→5,425천원), 10분 초과 시 사망률 약 2.5배. 드론은 진입불가 골목에서도 골든타임을 확보하는 수단.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제6회 빅데이터로 우리동네 문제해결 아이디어 공모대회 · 경남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6002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정한 소방 드론 거점,
</a:t>
            </a:r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현장에서의 대응 로직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빅데이터로 창원을 정하고, 지도 분석으로 거점을 정한다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빅데이터 분석 → 창원 · 거점 소방서 선정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→ 편대 SOP-D → 시연 → 기대효과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군체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한태영 · 김상도 · 노현수   ·   경상국립대학교 방산시스템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인식 · WHY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닿지 못하는 곳에서, 사람이 죽는다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55080" cy="3474720"/>
          </a:xfrm>
          <a:prstGeom prst="roundRect">
            <a:avLst>
              <a:gd name="adj" fmla="val 2368"/>
            </a:avLst>
          </a:prstGeom>
          <a:solidFill>
            <a:srgbClr val="0B1220"/>
          </a:solidFill>
          <a:ln w="19050">
            <a:solidFill>
              <a:srgbClr val="DC262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1005840" y="290779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자산동 노후 다세대 밀집 항공사진 삽입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3328416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스카이뷰로 자산동 일대를 캡처해 이 자리에 삽입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5084064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 자산동 노후 다세대(빌라) 밀집지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5358384"/>
            <a:ext cx="6355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 4m 미만 골목 밀집 → 소방차 진입 곤란  ·  출처: 카카오맵 스카이뷰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086600" y="1554480"/>
            <a:ext cx="4526280" cy="1600200"/>
          </a:xfrm>
          <a:prstGeom prst="roundRect">
            <a:avLst>
              <a:gd name="adj" fmla="val 5714"/>
            </a:avLst>
          </a:prstGeom>
          <a:solidFill>
            <a:srgbClr val="172033"/>
          </a:solidFill>
          <a:ln w="16510">
            <a:solidFill>
              <a:srgbClr val="EA580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24344" y="1719072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24344" y="171907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노후 주거·고령 인명 위험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42632" y="2249424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 자산동 노후 빌라 새벽 화재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42632" y="2615184"/>
            <a:ext cx="4014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발화 → 90대 사망 · 50대 중상 · 주민 18명 대피 (새벽·고령 단독 거주로 대피 지연)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86600" y="3291840"/>
            <a:ext cx="4526280" cy="868680"/>
          </a:xfrm>
          <a:prstGeom prst="roundRect">
            <a:avLst>
              <a:gd name="adj" fmla="val 10526"/>
            </a:avLst>
          </a:prstGeom>
          <a:solidFill>
            <a:srgbClr val="172033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42632" y="3291840"/>
            <a:ext cx="4014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 지연 = 피해 급증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불법주차·좁은 골목으로 소방차 지연 — 제천 화재 진입 30분 지연 → 29명 사망.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86600" y="4297680"/>
            <a:ext cx="4526280" cy="777240"/>
          </a:xfrm>
          <a:prstGeom prst="roundRect">
            <a:avLst>
              <a:gd name="adj" fmla="val 11765"/>
            </a:avLst>
          </a:prstGeom>
          <a:solidFill>
            <a:srgbClr val="1A0E0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42632" y="4297680"/>
            <a:ext cx="4014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골든타임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현장도착 5분 초과 시 피해 2.1배 · 10분 초과 사망률 2.5배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소방청 국가화재정보시스템(NFDS)·골든타임 연구 / 창원 마산합포 빌라 화재·진입지연 사례는 언론 보도.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인식 · 무엇이 골든타임을 막나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대응을 막는 세 개의 벽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29968"/>
            <a:ext cx="603504" cy="603504"/>
          </a:xfrm>
          <a:prstGeom prst="ellipse">
            <a:avLst/>
          </a:prstGeom>
          <a:solidFill>
            <a:srgbClr val="FEE2E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299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 불가·지연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 4m 미만 골목 + 불법주차로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가거나 늦게 도착한다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2029968"/>
            <a:ext cx="603504" cy="603504"/>
          </a:xfrm>
          <a:prstGeom prst="ellipse">
            <a:avLst/>
          </a:prstGeom>
          <a:solidFill>
            <a:srgbClr val="FFEDD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0299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03520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취약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8803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고령·노후 주거 밀집·새벽 단독 거주 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대피 어렵고 초동 정찰·안내 공백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029968"/>
            <a:ext cx="603504" cy="603504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0299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052560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소방드론 한계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21040" y="28803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조종사 1명이 드론 1기만 운용 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급확산 대형 재난 입체 대응 불가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소방차가 진입하기 전, 자율 군집 드론이 초동을 채운다. 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둘지(PART 1) · 도착 후 어떻게 움직일지(PART 2)를 데이터로 설계한다.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빈도로 대상 지역을 창원으로 정하고 — 지도에서 소방차가 못 가는 경로를 찾아 드론 거점 소방서를 정한다.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선정 · 창원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취약지 분석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선정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관련 데이터를 모은다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EE2E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 빈도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시·군구별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건수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8152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11" name="Text 9"/>
          <p:cNvSpPr/>
          <p:nvPr/>
        </p:nvSpPr>
        <p:spPr>
          <a:xfrm>
            <a:off x="308152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도로폭·도로망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08152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· OSM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폭·소방차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 가능성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1324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541324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1324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국가공간정보포털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1324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노후 건축물 비율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취약 지수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54380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4496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774496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고령·인구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4496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KOSIS·SGIS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4496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65세+ 교통약자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밀집 지역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7552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7668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CFCE7"/>
          </a:solidFill>
          <a:ln/>
        </p:spPr>
      </p:sp>
      <p:sp>
        <p:nvSpPr>
          <p:cNvPr id="26" name="Text 24"/>
          <p:cNvSpPr/>
          <p:nvPr/>
        </p:nvSpPr>
        <p:spPr>
          <a:xfrm>
            <a:off x="1007668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소방용수·진입곤란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7668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7668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소화전·진입곤란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현황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= 소방안전 빅데이터 플랫폼의 최근 1년 화재 발생 빈도.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도로·건축·인구 데이터를 파이썬(Pandas·NumPy·Matplotlib)으로 통합·시각화한다.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지역을 창원으로 정한다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경남 시·군별 화재 발생 건수 (창원시 = 5개 구 합산)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783080"/>
            <a:ext cx="3474720" cy="3977640"/>
          </a:xfrm>
          <a:prstGeom prst="roundRect">
            <a:avLst>
              <a:gd name="adj" fmla="val 236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1248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12480" y="234086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창원시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412480" y="29718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563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412480" y="37673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 · 경남 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412480" y="4160520"/>
            <a:ext cx="29260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0" y="427939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전체 화재의 15.8% 집중 — 화재 최다 도시를 드론 배치 대상 지역으로 확정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지도에서 소방차 진입불가 지역을 찾는다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704088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6583680" cy="3383280"/>
          </a:xfrm>
          <a:prstGeom prst="rect">
            <a:avLst/>
          </a:prstGeom>
          <a:solidFill>
            <a:srgbClr val="F3EFE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4160520"/>
            <a:ext cx="1097280" cy="82296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7" name="Shape 5"/>
          <p:cNvSpPr/>
          <p:nvPr/>
        </p:nvSpPr>
        <p:spPr>
          <a:xfrm>
            <a:off x="2331720" y="4251960"/>
            <a:ext cx="1051560" cy="77724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0" y="2194560"/>
            <a:ext cx="1005840" cy="68580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777240" y="3703320"/>
            <a:ext cx="6583680" cy="27432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965960"/>
            <a:ext cx="365760" cy="329184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2057400"/>
            <a:ext cx="365760" cy="320040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14400" y="2459736"/>
            <a:ext cx="6263640" cy="347472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3474720"/>
            <a:ext cx="365760" cy="178308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606040" y="4416552"/>
            <a:ext cx="4480560" cy="109728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2441448"/>
            <a:ext cx="6400800" cy="713232"/>
          </a:xfrm>
          <a:prstGeom prst="line">
            <a:avLst/>
          </a:prstGeom>
          <a:noFill/>
          <a:ln w="114300">
            <a:solidFill>
              <a:srgbClr val="ECDC9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47802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892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합포로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26080" y="2743200"/>
            <a:ext cx="0" cy="1033272"/>
          </a:xfrm>
          <a:prstGeom prst="line">
            <a:avLst/>
          </a:prstGeom>
          <a:noFill/>
          <a:ln w="57150">
            <a:solidFill>
              <a:srgbClr val="38BD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0" y="3776472"/>
            <a:ext cx="2148840" cy="109728"/>
          </a:xfrm>
          <a:prstGeom prst="line">
            <a:avLst/>
          </a:prstGeom>
          <a:noFill/>
          <a:ln w="57150">
            <a:solidFill>
              <a:srgbClr val="38BD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0" y="3886200"/>
            <a:ext cx="0" cy="128016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5120640" y="3474720"/>
            <a:ext cx="1600200" cy="41148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89320" y="4114800"/>
            <a:ext cx="0" cy="105156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43400" y="4636008"/>
            <a:ext cx="2377440" cy="54864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3794760" y="3886200"/>
            <a:ext cx="1325880" cy="32004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489704" y="3447288"/>
            <a:ext cx="162763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9704" y="344728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자산동 노후빌라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212080" y="3831336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46520" y="4507992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73368" y="41605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94760" y="4178808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21608" y="383133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513832"/>
            <a:ext cx="384048" cy="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280160" y="53858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진입불가 골목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46120" y="5513832"/>
            <a:ext cx="384048" cy="0"/>
          </a:xfrm>
          <a:prstGeom prst="line">
            <a:avLst/>
          </a:prstGeom>
          <a:noFill/>
          <a:ln w="4445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03320" y="53858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주행경로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30368" y="534009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59552" y="5385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발생지점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72400" y="1737360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73568" y="1993392"/>
            <a:ext cx="420624" cy="42062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9" name="Text 37"/>
          <p:cNvSpPr/>
          <p:nvPr/>
        </p:nvSpPr>
        <p:spPr>
          <a:xfrm>
            <a:off x="7973568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56" dirty="0"/>
          </a:p>
        </p:txBody>
      </p:sp>
      <p:sp>
        <p:nvSpPr>
          <p:cNvPr id="40" name="Text 38"/>
          <p:cNvSpPr/>
          <p:nvPr/>
        </p:nvSpPr>
        <p:spPr>
          <a:xfrm>
            <a:off x="8522208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화재지점 표시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522208" y="2167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창원 화재 발생지점(🔥)을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올린다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0" y="2761488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73568" y="301752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4" name="Text 42"/>
          <p:cNvSpPr/>
          <p:nvPr/>
        </p:nvSpPr>
        <p:spPr>
          <a:xfrm>
            <a:off x="7973568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56" dirty="0"/>
          </a:p>
        </p:txBody>
      </p:sp>
      <p:sp>
        <p:nvSpPr>
          <p:cNvPr id="45" name="Text 43"/>
          <p:cNvSpPr/>
          <p:nvPr/>
        </p:nvSpPr>
        <p:spPr>
          <a:xfrm>
            <a:off x="8522208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탐색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522208" y="31912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소방서에서 각 지점까지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하늘색 주행경로를 그린다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772400" y="3785616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73568" y="4041648"/>
            <a:ext cx="420624" cy="42062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9" name="Text 47"/>
          <p:cNvSpPr/>
          <p:nvPr/>
        </p:nvSpPr>
        <p:spPr>
          <a:xfrm>
            <a:off x="7973568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56" dirty="0"/>
          </a:p>
        </p:txBody>
      </p:sp>
      <p:sp>
        <p:nvSpPr>
          <p:cNvPr id="50" name="Text 48"/>
          <p:cNvSpPr/>
          <p:nvPr/>
        </p:nvSpPr>
        <p:spPr>
          <a:xfrm>
            <a:off x="8522208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 = 진입불가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22208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중 폭 4m 미만 구간을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점선으로 표시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772400" y="4809744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73568" y="5065776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4" name="Text 52"/>
          <p:cNvSpPr/>
          <p:nvPr/>
        </p:nvSpPr>
        <p:spPr>
          <a:xfrm>
            <a:off x="7973568" y="5065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56" dirty="0"/>
          </a:p>
        </p:txBody>
      </p:sp>
      <p:sp>
        <p:nvSpPr>
          <p:cNvPr id="55" name="Text 53"/>
          <p:cNvSpPr/>
          <p:nvPr/>
        </p:nvSpPr>
        <p:spPr>
          <a:xfrm>
            <a:off x="8522208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필요 지점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522208" y="52395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점선이 걸린 화재지점 =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가장 필요한 곳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위험 지수 — 피해지역 · 고령 · 진입취약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발생(실측 반영) · 도로협소 · 노후건물 · 고령인구를 가중 합산 (도로·노후·고령은 예시)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74980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1828800"/>
            <a:ext cx="3246120" cy="3703320"/>
          </a:xfrm>
          <a:prstGeom prst="roundRect">
            <a:avLst>
              <a:gd name="adj" fmla="val 25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95360" y="23591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595360" y="2880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104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595360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/ 위험지수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95360" y="4023360"/>
            <a:ext cx="2743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0" y="4114800"/>
            <a:ext cx="2834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의창구는 화재건수 최다지만 도로·노후가 낮아 종합은 하위. 마산합포구는 인명피해 최다(사망 5) — 원도심이 상위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05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 안에서 거점 소방서를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9224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035040" cy="3520440"/>
          </a:xfrm>
          <a:prstGeom prst="rect">
            <a:avLst/>
          </a:prstGeom>
          <a:solidFill>
            <a:srgbClr val="EEF2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" name="Shape 5"/>
          <p:cNvSpPr/>
          <p:nvPr/>
        </p:nvSpPr>
        <p:spPr>
          <a:xfrm>
            <a:off x="13350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" name="Shape 6"/>
          <p:cNvSpPr/>
          <p:nvPr/>
        </p:nvSpPr>
        <p:spPr>
          <a:xfrm>
            <a:off x="188366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" name="Shape 7"/>
          <p:cNvSpPr/>
          <p:nvPr/>
        </p:nvSpPr>
        <p:spPr>
          <a:xfrm>
            <a:off x="243230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0" name="Shape 8"/>
          <p:cNvSpPr/>
          <p:nvPr/>
        </p:nvSpPr>
        <p:spPr>
          <a:xfrm>
            <a:off x="29809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1" name="Shape 9"/>
          <p:cNvSpPr/>
          <p:nvPr/>
        </p:nvSpPr>
        <p:spPr>
          <a:xfrm>
            <a:off x="35295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2" name="Shape 10"/>
          <p:cNvSpPr/>
          <p:nvPr/>
        </p:nvSpPr>
        <p:spPr>
          <a:xfrm>
            <a:off x="40782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686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4" name="Shape 12"/>
          <p:cNvSpPr/>
          <p:nvPr/>
        </p:nvSpPr>
        <p:spPr>
          <a:xfrm>
            <a:off x="517550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7241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727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8" name="Shape 16"/>
          <p:cNvSpPr/>
          <p:nvPr/>
        </p:nvSpPr>
        <p:spPr>
          <a:xfrm>
            <a:off x="133502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366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23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1" name="Shape 19"/>
          <p:cNvSpPr/>
          <p:nvPr/>
        </p:nvSpPr>
        <p:spPr>
          <a:xfrm>
            <a:off x="298094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958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822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4" name="Shape 22"/>
          <p:cNvSpPr/>
          <p:nvPr/>
        </p:nvSpPr>
        <p:spPr>
          <a:xfrm>
            <a:off x="4626864" y="227799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1755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6" name="Shape 24"/>
          <p:cNvSpPr/>
          <p:nvPr/>
        </p:nvSpPr>
        <p:spPr>
          <a:xfrm>
            <a:off x="5724144" y="227799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" y="271805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9" name="Shape 27"/>
          <p:cNvSpPr/>
          <p:nvPr/>
        </p:nvSpPr>
        <p:spPr>
          <a:xfrm>
            <a:off x="133502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36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1" name="Shape 29"/>
          <p:cNvSpPr/>
          <p:nvPr/>
        </p:nvSpPr>
        <p:spPr>
          <a:xfrm>
            <a:off x="243230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2" name="Shape 30"/>
          <p:cNvSpPr/>
          <p:nvPr/>
        </p:nvSpPr>
        <p:spPr>
          <a:xfrm>
            <a:off x="298094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29584" y="271805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4" name="Shape 32"/>
          <p:cNvSpPr/>
          <p:nvPr/>
        </p:nvSpPr>
        <p:spPr>
          <a:xfrm>
            <a:off x="407822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68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Shape 34"/>
          <p:cNvSpPr/>
          <p:nvPr/>
        </p:nvSpPr>
        <p:spPr>
          <a:xfrm>
            <a:off x="517550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7" name="Shape 35"/>
          <p:cNvSpPr/>
          <p:nvPr/>
        </p:nvSpPr>
        <p:spPr>
          <a:xfrm>
            <a:off x="572414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8" name="Shape 36"/>
          <p:cNvSpPr/>
          <p:nvPr/>
        </p:nvSpPr>
        <p:spPr>
          <a:xfrm>
            <a:off x="6272784" y="271805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3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40" name="Shape 38"/>
          <p:cNvSpPr/>
          <p:nvPr/>
        </p:nvSpPr>
        <p:spPr>
          <a:xfrm>
            <a:off x="1335024" y="315810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88366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3" name="Shape 41"/>
          <p:cNvSpPr/>
          <p:nvPr/>
        </p:nvSpPr>
        <p:spPr>
          <a:xfrm>
            <a:off x="298094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958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5" name="Shape 43"/>
          <p:cNvSpPr/>
          <p:nvPr/>
        </p:nvSpPr>
        <p:spPr>
          <a:xfrm>
            <a:off x="407822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686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7" name="Shape 45"/>
          <p:cNvSpPr/>
          <p:nvPr/>
        </p:nvSpPr>
        <p:spPr>
          <a:xfrm>
            <a:off x="5175504" y="315810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8" name="Shape 46"/>
          <p:cNvSpPr/>
          <p:nvPr/>
        </p:nvSpPr>
        <p:spPr>
          <a:xfrm>
            <a:off x="5724144" y="315810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50" name="Shape 48"/>
          <p:cNvSpPr/>
          <p:nvPr/>
        </p:nvSpPr>
        <p:spPr>
          <a:xfrm>
            <a:off x="7863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51" name="Shape 49"/>
          <p:cNvSpPr/>
          <p:nvPr/>
        </p:nvSpPr>
        <p:spPr>
          <a:xfrm>
            <a:off x="1335024" y="3598164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2" name="Shape 50"/>
          <p:cNvSpPr/>
          <p:nvPr/>
        </p:nvSpPr>
        <p:spPr>
          <a:xfrm>
            <a:off x="188366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3" name="Shape 51"/>
          <p:cNvSpPr/>
          <p:nvPr/>
        </p:nvSpPr>
        <p:spPr>
          <a:xfrm>
            <a:off x="243230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4" name="Shape 52"/>
          <p:cNvSpPr/>
          <p:nvPr/>
        </p:nvSpPr>
        <p:spPr>
          <a:xfrm>
            <a:off x="298094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5" name="Shape 53"/>
          <p:cNvSpPr/>
          <p:nvPr/>
        </p:nvSpPr>
        <p:spPr>
          <a:xfrm>
            <a:off x="352958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6" name="Shape 54"/>
          <p:cNvSpPr/>
          <p:nvPr/>
        </p:nvSpPr>
        <p:spPr>
          <a:xfrm>
            <a:off x="4078224" y="359816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57" name="Shape 55"/>
          <p:cNvSpPr/>
          <p:nvPr/>
        </p:nvSpPr>
        <p:spPr>
          <a:xfrm>
            <a:off x="4626864" y="359816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75504" y="359816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9" name="Shape 57"/>
          <p:cNvSpPr/>
          <p:nvPr/>
        </p:nvSpPr>
        <p:spPr>
          <a:xfrm>
            <a:off x="5724144" y="359816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60" name="Shape 58"/>
          <p:cNvSpPr/>
          <p:nvPr/>
        </p:nvSpPr>
        <p:spPr>
          <a:xfrm>
            <a:off x="62727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1" name="Shape 59"/>
          <p:cNvSpPr/>
          <p:nvPr/>
        </p:nvSpPr>
        <p:spPr>
          <a:xfrm>
            <a:off x="7863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2" name="Shape 60"/>
          <p:cNvSpPr/>
          <p:nvPr/>
        </p:nvSpPr>
        <p:spPr>
          <a:xfrm>
            <a:off x="133502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3" name="Shape 61"/>
          <p:cNvSpPr/>
          <p:nvPr/>
        </p:nvSpPr>
        <p:spPr>
          <a:xfrm>
            <a:off x="1883664" y="403821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64" name="Shape 62"/>
          <p:cNvSpPr/>
          <p:nvPr/>
        </p:nvSpPr>
        <p:spPr>
          <a:xfrm>
            <a:off x="243230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6" name="Shape 64"/>
          <p:cNvSpPr/>
          <p:nvPr/>
        </p:nvSpPr>
        <p:spPr>
          <a:xfrm>
            <a:off x="352958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7" name="Shape 65"/>
          <p:cNvSpPr/>
          <p:nvPr/>
        </p:nvSpPr>
        <p:spPr>
          <a:xfrm>
            <a:off x="4078224" y="403821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8" name="Shape 66"/>
          <p:cNvSpPr/>
          <p:nvPr/>
        </p:nvSpPr>
        <p:spPr>
          <a:xfrm>
            <a:off x="462686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9" name="Shape 67"/>
          <p:cNvSpPr/>
          <p:nvPr/>
        </p:nvSpPr>
        <p:spPr>
          <a:xfrm>
            <a:off x="5175504" y="403821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70" name="Shape 68"/>
          <p:cNvSpPr/>
          <p:nvPr/>
        </p:nvSpPr>
        <p:spPr>
          <a:xfrm>
            <a:off x="572414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27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2" name="Shape 70"/>
          <p:cNvSpPr/>
          <p:nvPr/>
        </p:nvSpPr>
        <p:spPr>
          <a:xfrm>
            <a:off x="78638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3" name="Shape 71"/>
          <p:cNvSpPr/>
          <p:nvPr/>
        </p:nvSpPr>
        <p:spPr>
          <a:xfrm>
            <a:off x="133502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4" name="Shape 72"/>
          <p:cNvSpPr/>
          <p:nvPr/>
        </p:nvSpPr>
        <p:spPr>
          <a:xfrm>
            <a:off x="188366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5" name="Shape 73"/>
          <p:cNvSpPr/>
          <p:nvPr/>
        </p:nvSpPr>
        <p:spPr>
          <a:xfrm>
            <a:off x="243230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6" name="Shape 74"/>
          <p:cNvSpPr/>
          <p:nvPr/>
        </p:nvSpPr>
        <p:spPr>
          <a:xfrm>
            <a:off x="2980944" y="447827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77" name="Shape 75"/>
          <p:cNvSpPr/>
          <p:nvPr/>
        </p:nvSpPr>
        <p:spPr>
          <a:xfrm>
            <a:off x="352958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8" name="Shape 76"/>
          <p:cNvSpPr/>
          <p:nvPr/>
        </p:nvSpPr>
        <p:spPr>
          <a:xfrm>
            <a:off x="407822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9" name="Shape 77"/>
          <p:cNvSpPr/>
          <p:nvPr/>
        </p:nvSpPr>
        <p:spPr>
          <a:xfrm>
            <a:off x="4626864" y="447827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0" name="Shape 78"/>
          <p:cNvSpPr/>
          <p:nvPr/>
        </p:nvSpPr>
        <p:spPr>
          <a:xfrm>
            <a:off x="517550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1" name="Shape 79"/>
          <p:cNvSpPr/>
          <p:nvPr/>
        </p:nvSpPr>
        <p:spPr>
          <a:xfrm>
            <a:off x="572414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2" name="Shape 80"/>
          <p:cNvSpPr/>
          <p:nvPr/>
        </p:nvSpPr>
        <p:spPr>
          <a:xfrm>
            <a:off x="6272784" y="4478274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3" name="Shape 81"/>
          <p:cNvSpPr/>
          <p:nvPr/>
        </p:nvSpPr>
        <p:spPr>
          <a:xfrm>
            <a:off x="7863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4" name="Shape 82"/>
          <p:cNvSpPr/>
          <p:nvPr/>
        </p:nvSpPr>
        <p:spPr>
          <a:xfrm>
            <a:off x="13350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5" name="Shape 83"/>
          <p:cNvSpPr/>
          <p:nvPr/>
        </p:nvSpPr>
        <p:spPr>
          <a:xfrm>
            <a:off x="18836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6" name="Shape 84"/>
          <p:cNvSpPr/>
          <p:nvPr/>
        </p:nvSpPr>
        <p:spPr>
          <a:xfrm>
            <a:off x="243230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7" name="Shape 85"/>
          <p:cNvSpPr/>
          <p:nvPr/>
        </p:nvSpPr>
        <p:spPr>
          <a:xfrm>
            <a:off x="2980944" y="491832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8" name="Shape 86"/>
          <p:cNvSpPr/>
          <p:nvPr/>
        </p:nvSpPr>
        <p:spPr>
          <a:xfrm>
            <a:off x="352958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9" name="Shape 87"/>
          <p:cNvSpPr/>
          <p:nvPr/>
        </p:nvSpPr>
        <p:spPr>
          <a:xfrm>
            <a:off x="40782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0" name="Shape 88"/>
          <p:cNvSpPr/>
          <p:nvPr/>
        </p:nvSpPr>
        <p:spPr>
          <a:xfrm>
            <a:off x="46268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1" name="Shape 89"/>
          <p:cNvSpPr/>
          <p:nvPr/>
        </p:nvSpPr>
        <p:spPr>
          <a:xfrm>
            <a:off x="517550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2" name="Shape 90"/>
          <p:cNvSpPr/>
          <p:nvPr/>
        </p:nvSpPr>
        <p:spPr>
          <a:xfrm>
            <a:off x="572414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3" name="Shape 91"/>
          <p:cNvSpPr/>
          <p:nvPr/>
        </p:nvSpPr>
        <p:spPr>
          <a:xfrm>
            <a:off x="62727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4" name="Shape 92"/>
          <p:cNvSpPr/>
          <p:nvPr/>
        </p:nvSpPr>
        <p:spPr>
          <a:xfrm>
            <a:off x="1947672" y="3068955"/>
            <a:ext cx="512064" cy="51206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048256" y="3169539"/>
            <a:ext cx="310896" cy="310896"/>
          </a:xfrm>
          <a:prstGeom prst="star5">
            <a:avLst/>
          </a:prstGeom>
          <a:solidFill>
            <a:srgbClr val="2563EB"/>
          </a:solidFill>
          <a:ln/>
        </p:spPr>
      </p:sp>
      <p:sp>
        <p:nvSpPr>
          <p:cNvPr id="96" name="Text 94"/>
          <p:cNvSpPr/>
          <p:nvPr/>
        </p:nvSpPr>
        <p:spPr>
          <a:xfrm>
            <a:off x="1380744" y="348957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4169664" y="4174236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465576" y="44577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성산소방서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5376672" y="259003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72584" y="28735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창원소방서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77240" y="53949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붉을수록 위험 지수 높음 · ★ 선정 거점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7315200" y="16916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— 마산소방서</a:t>
            </a:r>
            <a:endParaRPr lang="en-US" sz="1900" dirty="0"/>
          </a:p>
        </p:txBody>
      </p:sp>
      <p:sp>
        <p:nvSpPr>
          <p:cNvPr id="103" name="Shape 101"/>
          <p:cNvSpPr/>
          <p:nvPr/>
        </p:nvSpPr>
        <p:spPr>
          <a:xfrm>
            <a:off x="7315200" y="22402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43800" y="25420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5" name="Text 103"/>
          <p:cNvSpPr/>
          <p:nvPr/>
        </p:nvSpPr>
        <p:spPr>
          <a:xfrm>
            <a:off x="790956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위험지수 최상위 인접</a:t>
            </a:r>
            <a:endParaRPr lang="en-US" sz="1300" dirty="0"/>
          </a:p>
        </p:txBody>
      </p:sp>
      <p:sp>
        <p:nvSpPr>
          <p:cNvPr id="106" name="Text 104"/>
          <p:cNvSpPr/>
          <p:nvPr/>
        </p:nvSpPr>
        <p:spPr>
          <a:xfrm>
            <a:off x="7909560" y="26609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 마산합포구를 최단 거리에서 커버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7315200" y="31546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43800" y="3456432"/>
            <a:ext cx="237744" cy="23774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09" name="Text 107"/>
          <p:cNvSpPr/>
          <p:nvPr/>
        </p:nvSpPr>
        <p:spPr>
          <a:xfrm>
            <a:off x="7909560" y="32644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경로 최다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7909560" y="35753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빨간선 밀집 원도심 골목을 상공에서 보완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7315200" y="40690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543800" y="4370832"/>
            <a:ext cx="237744" cy="23774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3" name="Text 111"/>
          <p:cNvSpPr/>
          <p:nvPr/>
        </p:nvSpPr>
        <p:spPr>
          <a:xfrm>
            <a:off x="7909560" y="41788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교통약자 밀집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7909560" y="44897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인구 대피 취약지에 초동 대응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7315200" y="49834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543800" y="5285232"/>
            <a:ext cx="237744" cy="237744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7909560" y="5093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거점 확보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7909560" y="54041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드론·UGV 재보급 스마트 방재 거점 병설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거점에서 출동한 드론 편대가 화점에 도착한 순간부터 — 표준 행동요령(SOP-D)에 따라 자율 수행한다.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출동·도착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편대 전개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5단계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— 소방차보다 먼저 도착한다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소방서 → 화점 직선 비행 · 화재 인지 시점 공통 기준 (예시)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실도로 주행+출동준비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8:40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골목은 입구까지만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5196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5196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거점→화점 직선 비행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5196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3:20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425196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넘어 도착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657600" cy="2743200"/>
          </a:xfrm>
          <a:prstGeom prst="roundRect">
            <a:avLst>
              <a:gd name="adj" fmla="val 30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257860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5:20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7955280" y="3584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골든타임 확보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5528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소방관 투입 전 정밀 정찰까지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수치는 예시 시나리오 — 거점·지점 거리에 따라 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즉시 — 5개 편대로 전개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73936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73936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03120" y="1600200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지휘통제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892040" y="1600200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공중지휘권 선언 · 3D 매핑 융합 · 통합 제어·자원 관리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752344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75234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1편대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03120" y="25786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공중정찰대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892040" y="2578608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사방 3D 스캐닝 · 열화상 화점 탐지 · 연소확대선 모니터링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57016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30752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73075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2편대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03120" y="3557016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인명수색·구조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892040" y="3557016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고립 구조대상자 식별 · 생명유지 키트 투하 · 대피 인도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35424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709160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0916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3편대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03120" y="45354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화재진압대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892040" y="4535424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창문·진입점 파악 · 창문 파쇄 후 정밀 소화탄 투하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513832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687568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6875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4편대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103120" y="551383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통신중계·조명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892040" y="5513832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 통신망 형성 · 음영지역 신호 중계 · 광역 조명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표준 행동요령 · 5단계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2121408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전개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76656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정찰·진압·구조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편대 전개·상승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101-D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208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56432" y="2121408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852928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정찰·평가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852928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35224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스캐닝·열화상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화점/진입점 파악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102-D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65776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15000" y="2121408"/>
            <a:ext cx="731520" cy="7315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5715000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11496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111496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93792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파쇄 후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소화탄·대피 인도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11496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222-D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77456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324344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73568" y="2121408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7973568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370064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중계·호위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70064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요구조자 호위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외벽 연소차단·릴레이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70064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105-D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336024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9582912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232136" y="2121408"/>
            <a:ext cx="731520" cy="7315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8" name="Text 36"/>
          <p:cNvSpPr/>
          <p:nvPr/>
        </p:nvSpPr>
        <p:spPr>
          <a:xfrm>
            <a:off x="10232136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628632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9628632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710928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완료 확인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잔불 감시·RTH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628632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113-D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지휘·정찰·진압·구조·통신 편대가 단계별 SOP 코드에 따라 한 타임라인에서 자율로 맞물려 움직인다.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 — 지상 무인차량(UGV) 협업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DCFCE7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무인차량(UGV)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장애물 극복·소화수 보급 ·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방재 거점에서 출발·재보급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상공에서 정밀 정찰·진압 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넘는다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0275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FFEDD5"/>
          </a:solidFill>
          <a:ln/>
        </p:spPr>
      </p:sp>
      <p:sp>
        <p:nvSpPr>
          <p:cNvPr id="14" name="Text 12"/>
          <p:cNvSpPr/>
          <p:nvPr/>
        </p:nvSpPr>
        <p:spPr>
          <a:xfrm>
            <a:off x="830275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 편대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UGV는 지상 보급·거점,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드론은 공중 타격 — 한 편대처럼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진입하기 전, 상공의 드론 편대와 지상의 UGV가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진압 → 대피 인도 → 보급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끊김 없이 이어 초동 대응을 채운다.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시연 · 자산동 노후 다세대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발화점 위치 지정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269480" cy="4526280"/>
          </a:xfrm>
          <a:prstGeom prst="roundRect">
            <a:avLst>
              <a:gd name="adj" fmla="val 1818"/>
            </a:avLst>
          </a:prstGeom>
          <a:solidFill>
            <a:srgbClr val="0B1220"/>
          </a:solidFill>
          <a:ln w="19050">
            <a:solidFill>
              <a:srgbClr val="7C3AED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3771900" y="3040380"/>
            <a:ext cx="822960" cy="822960"/>
          </a:xfrm>
          <a:prstGeom prst="ellipse">
            <a:avLst/>
          </a:prstGeom>
          <a:solidFill>
            <a:srgbClr val="172033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37076" y="3305556"/>
            <a:ext cx="292608" cy="292608"/>
          </a:xfrm>
          <a:prstGeom prst="ellipse">
            <a:avLst/>
          </a:prstGeom>
          <a:solidFill>
            <a:srgbClr val="EA580C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954780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실제 시뮬레이터 지도 화면을 넣으세요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4366260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자산동 노후 다세대 골목 발화점 지정 · 마산소방서 거점 · 소방차 진입불가 빨간선 · 드론 직선 경로가 보이는 화면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01000" y="1554480"/>
            <a:ext cx="3611880" cy="2697480"/>
          </a:xfrm>
          <a:prstGeom prst="roundRect">
            <a:avLst>
              <a:gd name="adj" fmla="val 3051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75320" y="17373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요약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75320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72600" y="2157984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92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자산동 노후 다세대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75320" y="2651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최근접 거점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372600" y="26517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 · 직선 1.96km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75320" y="31455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도착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372600" y="314553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 29초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75320" y="3639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372600" y="3639312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CA5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골목 다수 · 호스 연장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01000" y="4389120"/>
            <a:ext cx="3611880" cy="1691640"/>
          </a:xfrm>
          <a:prstGeom prst="roundRect">
            <a:avLst>
              <a:gd name="adj" fmla="val 4865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4572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 도착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95604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가는 골목을 드론이 상공으로 넘어 1분 만에 화점 도착 — 초동 골든타임 확보.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시연 · 자산동 노후 다세대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건물 SOP-D 시뮬레이션</a:t>
            </a:r>
            <a:endParaRPr lang="en-US" sz="2600" dirty="0"/>
          </a:p>
        </p:txBody>
      </p:sp>
      <p:pic>
        <p:nvPicPr>
          <p:cNvPr id="4" name="Image 0" descr="cap_jasan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10817352" cy="4791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623620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정찰(열화상 화점 탐지) · 진압(창문 파쇄·정밀 소화탄) · 인명수색구조(대피 인도) · 통신중계·조명 편대가 SOP-D 단계별로 동시에 자율 수행 — 실제 시뮬레이션 화면.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 골든타임과 화재 피해 — 데이터로 본 근거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소방청 국가화재정보시스템 기반 분석 · 골든타임 연구 (현장도착 5분 기준)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512064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138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도착시간별 건당 재산피해 (천원)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943600" y="1828800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199632" y="2212848"/>
            <a:ext cx="274320" cy="2743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6601968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재산피해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01968" y="22677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2.1배 ↑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732520" y="18288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5분 → 5~10분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(건당 5,425 → 11,198천원)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943600" y="2990088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99632" y="3374136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4" name="Text 11"/>
          <p:cNvSpPr/>
          <p:nvPr/>
        </p:nvSpPr>
        <p:spPr>
          <a:xfrm>
            <a:off x="6601968" y="31272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사망률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601968" y="3429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2.5배 ↑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732520" y="2990088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현장도착 10분 초과 시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(10분 이하 대비)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943600" y="4151376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199632" y="4535424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9" name="Text 16"/>
          <p:cNvSpPr/>
          <p:nvPr/>
        </p:nvSpPr>
        <p:spPr>
          <a:xfrm>
            <a:off x="6601968" y="428853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 확률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601968" y="45902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4배 ↓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8732520" y="4151376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 이내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골든타임 확보 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5046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550468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시스템 = 골든타임 확보 수단.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가는 골목도 드론이 5분 내 도착 → 문헌 기준 건당 피해 11,198 → 5,425천원(약 52%↓) 구간 유지, 인명 사망 위험 대폭 감소.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소방청 국가화재정보시스템(NFDS) 기반 분석 · 한국방재학회논문집 등 소방 골든타임 연구.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· 사회 · 지역, 그리고 마무리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기술·학문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방산-민간 스핀오프 선도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기계공학 제어·역학과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국방과학 자율 군집 운용의 융합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1688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사회·안전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원도심 골든타임 확보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골목도 5분 내 초동 대응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재산피해 약 52%↓·인명 위험 감소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74736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0768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30768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혁신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30768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경남형 스마트시티·방산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30768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방위산업·항공우주 인프라를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스마트시티에 결합한 지역 특화 혁신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F1206"/>
          </a:solidFill>
          <a:ln w="16510">
            <a:solidFill>
              <a:srgbClr val="EA58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9560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창원·거점을 정하고, 편대가 골든타임을 먼저 지킨다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빅데이터 → 창원·거점 소방서 선정 → SOP-D 현장 대응 → UGV 유무인 복합. 팀 군체 · 감사합니다. (Q&amp;A)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데이터로 정한 소방 드론 거점, 그리고 현장 로직</dc:title>
  <dc:subject>PptxGenJS Presentation</dc:subject>
  <dc:creator>팀 군체</dc:creator>
  <cp:lastModifiedBy>팀 군체</cp:lastModifiedBy>
  <cp:revision>1</cp:revision>
  <dcterms:created xsi:type="dcterms:W3CDTF">2026-08-07T09:20:05Z</dcterms:created>
  <dcterms:modified xsi:type="dcterms:W3CDTF">2026-08-07T09:20:05Z</dcterms:modified>
</cp:coreProperties>
</file>