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화재건수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50" u="none">
                    <a:solidFill>
                      <a:srgbClr val="0F172A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창원시</c:v>
                  </c:pt>
                  <c:pt idx="1">
                    <c:v>김해시</c:v>
                  </c:pt>
                  <c:pt idx="2">
                    <c:v>진주시</c:v>
                  </c:pt>
                  <c:pt idx="3">
                    <c:v>양산시</c:v>
                  </c:pt>
                  <c:pt idx="4">
                    <c:v>밀양시</c:v>
                  </c:pt>
                  <c:pt idx="5">
                    <c:v>함안군</c:v>
                  </c:pt>
                  <c:pt idx="6">
                    <c:v>거제시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563</c:v>
                </c:pt>
                <c:pt idx="1">
                  <c:v>457</c:v>
                </c:pt>
                <c:pt idx="2">
                  <c:v>318</c:v>
                </c:pt>
                <c:pt idx="3">
                  <c:v>271</c:v>
                </c:pt>
                <c:pt idx="4">
                  <c:v>239</c:v>
                </c:pt>
                <c:pt idx="5">
                  <c:v>193</c:v>
                </c:pt>
                <c:pt idx="6">
                  <c:v>187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50" u="none">
                  <a:solidFill>
                    <a:srgbClr val="0F172A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4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화재건수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F172A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의창구</c:v>
                  </c:pt>
                  <c:pt idx="1">
                    <c:v>진해구</c:v>
                  </c:pt>
                  <c:pt idx="2">
                    <c:v>마산합포구</c:v>
                  </c:pt>
                  <c:pt idx="3">
                    <c:v>성산구</c:v>
                  </c:pt>
                  <c:pt idx="4">
                    <c:v>마산회원구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126</c:v>
                </c:pt>
                <c:pt idx="1">
                  <c:v>117</c:v>
                </c:pt>
                <c:pt idx="2">
                  <c:v>116</c:v>
                </c:pt>
                <c:pt idx="3">
                  <c:v>116</c:v>
                </c:pt>
                <c:pt idx="4">
                  <c:v>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F172A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화재빈도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의창구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29</c:v>
                </c:pt>
                <c:pt idx="2">
                  <c:v>33</c:v>
                </c:pt>
                <c:pt idx="3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도로협소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의창구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31</c:v>
                </c:pt>
                <c:pt idx="1">
                  <c:v>28</c:v>
                </c:pt>
                <c:pt idx="2">
                  <c:v>14</c:v>
                </c:pt>
                <c:pt idx="3">
                  <c:v>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노후건물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의창구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24</c:v>
                </c:pt>
                <c:pt idx="1">
                  <c:v>20</c:v>
                </c:pt>
                <c:pt idx="2">
                  <c:v>12</c:v>
                </c:pt>
                <c:pt idx="3">
                  <c:v>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고령인구</c:v>
                </c:pt>
              </c:strCache>
            </c:strRef>
          </c:tx>
          <c:spPr>
            <a:solidFill>
              <a:srgbClr val="1580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의창구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19</c:v>
                </c:pt>
                <c:pt idx="1">
                  <c:v>18</c:v>
                </c:pt>
                <c:pt idx="2">
                  <c:v>11</c:v>
                </c:pt>
                <c:pt idx="3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4155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건당 재산피해(천원)</c:v>
                </c:pt>
              </c:strCache>
            </c:strRef>
          </c:tx>
          <c:spPr>
            <a:solidFill>
              <a:srgbClr val="1580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0F172A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580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5분 이내 도착</c:v>
                  </c:pt>
                  <c:pt idx="1">
                    <c:v>5~10분 도착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5425</c:v>
                </c:pt>
                <c:pt idx="1">
                  <c:v>11198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0F172A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PC(인터넷 연결)에서 시뮬레이터를 열어 마산어시장 지정 → 지도 화면을 캡처해 이 자리(점선 박스)에 삽입.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골든타임(5분) 확보 시 건당 재산피해가 절반 수준(11,198→5,425천원), 10분 초과 시 사망률 약 2.5배. 드론은 진입불가 골목에서도 골든타임을 확보하는 수단.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제6회 빅데이터로 우리동네 문제해결 아이디어 공모대회 · 경남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58368" y="160020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 정한 소방 드론 거점,
</a:t>
            </a:r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현장에서의 대응 로직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3429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화재 발생 빅데이터로 창원을 정하고, 지도 분석으로 거점을 정한다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85800" y="434340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172033"/>
          </a:solidFill>
          <a:ln w="1651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4498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47548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배치할 것인가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5120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빅데이터 분석 → 창원 · 거점 소방서 선정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434340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172033"/>
          </a:solidFill>
          <a:ln w="1651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4498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92240" y="47548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후 어떻게 움직이는가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0" y="5120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출동 → 편대 SOP-D → 시연 → 기대효과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군체</a:t>
            </a:r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한태영 · 김상도 · 노현수   ·   경상국립대학교 방산시스템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286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배치할 것인가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3703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화재 발생 빈도로 대상 지역을 창원으로 정하고 — 지도에서 소방차가 못 가는 경로를 찾아 드론 거점 소방서를 정한다.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수집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5468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7472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선정 · 창원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6364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취약지 분석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73252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5256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 선정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관련 데이터를 모은다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FEE2E2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발생 빈도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980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소방안전 빅데이터 플랫폼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4980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시·군구별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건수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8036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8152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FFEDD5"/>
          </a:solidFill>
          <a:ln/>
        </p:spPr>
      </p:sp>
      <p:sp>
        <p:nvSpPr>
          <p:cNvPr id="11" name="Text 9"/>
          <p:cNvSpPr/>
          <p:nvPr/>
        </p:nvSpPr>
        <p:spPr>
          <a:xfrm>
            <a:off x="308152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도로폭·도로망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08152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지자체 · OSM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08152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골목 폭·소방차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 가능성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1324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EDE9FE"/>
          </a:solidFill>
          <a:ln/>
        </p:spPr>
      </p:sp>
      <p:sp>
        <p:nvSpPr>
          <p:cNvPr id="16" name="Text 14"/>
          <p:cNvSpPr/>
          <p:nvPr/>
        </p:nvSpPr>
        <p:spPr>
          <a:xfrm>
            <a:off x="541324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1324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국가공간정보포털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1324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노후 건축물 비율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취약 지수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54380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4496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DBEAFE"/>
          </a:solidFill>
          <a:ln/>
        </p:spPr>
      </p:sp>
      <p:sp>
        <p:nvSpPr>
          <p:cNvPr id="21" name="Text 19"/>
          <p:cNvSpPr/>
          <p:nvPr/>
        </p:nvSpPr>
        <p:spPr>
          <a:xfrm>
            <a:off x="774496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고령·인구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74496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통계청 KOSIS·SGIS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74496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65세+ 교통약자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밀집 지역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7552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07668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DCFCE7"/>
          </a:solidFill>
          <a:ln/>
        </p:spPr>
      </p:sp>
      <p:sp>
        <p:nvSpPr>
          <p:cNvPr id="26" name="Text 24"/>
          <p:cNvSpPr/>
          <p:nvPr/>
        </p:nvSpPr>
        <p:spPr>
          <a:xfrm>
            <a:off x="1007668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소방용수·진입곤란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07668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공공데이터포털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007668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소화전·진입곤란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현황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70916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4709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= 소방안전 빅데이터 플랫폼의 최근 1년 화재 발생 빈도. 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여기에 도로·건축·인구 데이터를 파이썬(Pandas·NumPy·Matplotlib)으로 통합·시각화한다.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지역을 창원으로 정한다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소방안전 빅데이터 플랫폼 · 최근 1년 · 경남 시·군별 화재 발생 건수 (창원시 = 5개 구 합산)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138160" y="1783080"/>
            <a:ext cx="3474720" cy="3977640"/>
          </a:xfrm>
          <a:prstGeom prst="roundRect">
            <a:avLst>
              <a:gd name="adj" fmla="val 236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412480" y="2011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지역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412480" y="234086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창원시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8412480" y="29718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563</a:t>
            </a:r>
            <a:endParaRPr lang="en-US" sz="5000" dirty="0"/>
          </a:p>
        </p:txBody>
      </p:sp>
      <p:sp>
        <p:nvSpPr>
          <p:cNvPr id="10" name="Text 7"/>
          <p:cNvSpPr/>
          <p:nvPr/>
        </p:nvSpPr>
        <p:spPr>
          <a:xfrm>
            <a:off x="8412480" y="37673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 · 경남 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412480" y="4160520"/>
            <a:ext cx="29260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412480" y="427939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경남 전체 화재의 15.8% 집중 — 화재 최다 도시를 드론 배치 대상 지역으로 확정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① — 창원 구별 화재와 피해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소방안전 빅데이터 플랫폼 · 최근 1년 · 창원시 구별 화재 발생 건수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69494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818120" y="1783080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092440" y="2011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138160" y="2487168"/>
            <a:ext cx="137160" cy="13716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0" y="228600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구별 화재건수는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88~126건으로 비슷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138160" y="3054096"/>
            <a:ext cx="137160" cy="13716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1" name="Text 8"/>
          <p:cNvSpPr/>
          <p:nvPr/>
        </p:nvSpPr>
        <p:spPr>
          <a:xfrm>
            <a:off x="8412480" y="28529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차이는 도로·노후·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인명피해에서 갈린다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138160" y="3621024"/>
            <a:ext cx="137160" cy="13716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0" y="3419856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마산합포구는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인명피해가 창원 최다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4343400"/>
            <a:ext cx="3291840" cy="1188720"/>
          </a:xfrm>
          <a:prstGeom prst="roundRect">
            <a:avLst>
              <a:gd name="adj" fmla="val 6154"/>
            </a:avLst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32104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마산합포구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321040" y="48006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인명피해 22명(사망 5) — 원도심 위험 집중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지도에서 소방차 진입불가 지역을 찾는다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704088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74520"/>
            <a:ext cx="6583680" cy="3383280"/>
          </a:xfrm>
          <a:prstGeom prst="rect">
            <a:avLst/>
          </a:prstGeom>
          <a:solidFill>
            <a:srgbClr val="F3EFE6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4160520"/>
            <a:ext cx="1097280" cy="822960"/>
          </a:xfrm>
          <a:prstGeom prst="rect">
            <a:avLst/>
          </a:prstGeom>
          <a:solidFill>
            <a:srgbClr val="EAE4D8"/>
          </a:solidFill>
          <a:ln/>
        </p:spPr>
      </p:sp>
      <p:sp>
        <p:nvSpPr>
          <p:cNvPr id="7" name="Shape 5"/>
          <p:cNvSpPr/>
          <p:nvPr/>
        </p:nvSpPr>
        <p:spPr>
          <a:xfrm>
            <a:off x="2331720" y="4251960"/>
            <a:ext cx="1051560" cy="777240"/>
          </a:xfrm>
          <a:prstGeom prst="rect">
            <a:avLst/>
          </a:prstGeom>
          <a:solidFill>
            <a:srgbClr val="EAE4D8"/>
          </a:solidFill>
          <a:ln/>
        </p:spPr>
      </p:sp>
      <p:sp>
        <p:nvSpPr>
          <p:cNvPr id="8" name="Shape 6"/>
          <p:cNvSpPr/>
          <p:nvPr/>
        </p:nvSpPr>
        <p:spPr>
          <a:xfrm>
            <a:off x="6126480" y="2194560"/>
            <a:ext cx="1005840" cy="685800"/>
          </a:xfrm>
          <a:prstGeom prst="rect">
            <a:avLst/>
          </a:prstGeom>
          <a:solidFill>
            <a:srgbClr val="EAE4D8"/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777240" y="3703320"/>
            <a:ext cx="6583680" cy="274320"/>
          </a:xfrm>
          <a:prstGeom prst="line">
            <a:avLst/>
          </a:prstGeom>
          <a:noFill/>
          <a:ln w="25400">
            <a:solidFill>
              <a:srgbClr val="D3CCB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840" y="1965960"/>
            <a:ext cx="365760" cy="3291840"/>
          </a:xfrm>
          <a:prstGeom prst="line">
            <a:avLst/>
          </a:prstGeom>
          <a:noFill/>
          <a:ln w="25400">
            <a:solidFill>
              <a:srgbClr val="D3CCB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11880" y="2057400"/>
            <a:ext cx="365760" cy="3200400"/>
          </a:xfrm>
          <a:prstGeom prst="line">
            <a:avLst/>
          </a:prstGeom>
          <a:noFill/>
          <a:ln w="25400">
            <a:solidFill>
              <a:srgbClr val="D3CCB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914400" y="2459736"/>
            <a:ext cx="6263640" cy="347472"/>
          </a:xfrm>
          <a:prstGeom prst="line">
            <a:avLst/>
          </a:prstGeom>
          <a:noFill/>
          <a:ln w="25400">
            <a:solidFill>
              <a:srgbClr val="D3CCB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17720" y="3474720"/>
            <a:ext cx="365760" cy="1783080"/>
          </a:xfrm>
          <a:prstGeom prst="line">
            <a:avLst/>
          </a:prstGeom>
          <a:noFill/>
          <a:ln w="25400">
            <a:solidFill>
              <a:srgbClr val="D3CCB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2606040" y="4416552"/>
            <a:ext cx="4480560" cy="109728"/>
          </a:xfrm>
          <a:prstGeom prst="line">
            <a:avLst/>
          </a:prstGeom>
          <a:noFill/>
          <a:ln w="25400">
            <a:solidFill>
              <a:srgbClr val="D3CC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2441448"/>
            <a:ext cx="6400800" cy="713232"/>
          </a:xfrm>
          <a:prstGeom prst="line">
            <a:avLst/>
          </a:prstGeom>
          <a:noFill/>
          <a:ln w="114300">
            <a:solidFill>
              <a:srgbClr val="ECDC9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247802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892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합포로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926080" y="2743200"/>
            <a:ext cx="0" cy="1033272"/>
          </a:xfrm>
          <a:prstGeom prst="line">
            <a:avLst/>
          </a:prstGeom>
          <a:noFill/>
          <a:ln w="57150">
            <a:solidFill>
              <a:srgbClr val="38BD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0" y="3776472"/>
            <a:ext cx="2148840" cy="109728"/>
          </a:xfrm>
          <a:prstGeom prst="line">
            <a:avLst/>
          </a:prstGeom>
          <a:noFill/>
          <a:ln w="57150">
            <a:solidFill>
              <a:srgbClr val="38BD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20640" y="3886200"/>
            <a:ext cx="0" cy="1280160"/>
          </a:xfrm>
          <a:prstGeom prst="line">
            <a:avLst/>
          </a:prstGeom>
          <a:noFill/>
          <a:ln w="31750">
            <a:solidFill>
              <a:srgbClr val="DC2626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5120640" y="3474720"/>
            <a:ext cx="1600200" cy="411480"/>
          </a:xfrm>
          <a:prstGeom prst="line">
            <a:avLst/>
          </a:prstGeom>
          <a:noFill/>
          <a:ln w="31750">
            <a:solidFill>
              <a:srgbClr val="DC2626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89320" y="4114800"/>
            <a:ext cx="0" cy="1051560"/>
          </a:xfrm>
          <a:prstGeom prst="line">
            <a:avLst/>
          </a:prstGeom>
          <a:noFill/>
          <a:ln w="31750">
            <a:solidFill>
              <a:srgbClr val="DC2626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343400" y="4636008"/>
            <a:ext cx="2377440" cy="54864"/>
          </a:xfrm>
          <a:prstGeom prst="line">
            <a:avLst/>
          </a:prstGeom>
          <a:noFill/>
          <a:ln w="31750">
            <a:solidFill>
              <a:srgbClr val="DC2626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3794760" y="3886200"/>
            <a:ext cx="1325880" cy="320040"/>
          </a:xfrm>
          <a:prstGeom prst="line">
            <a:avLst/>
          </a:prstGeom>
          <a:noFill/>
          <a:ln w="31750">
            <a:solidFill>
              <a:srgbClr val="DC2626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544568" y="3447288"/>
            <a:ext cx="1517904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3447288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🔥 마산어시장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212080" y="3831336"/>
            <a:ext cx="182880" cy="182880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46520" y="4507992"/>
            <a:ext cx="182880" cy="182880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73368" y="41605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🔥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94760" y="4178808"/>
            <a:ext cx="182880" cy="182880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21608" y="383133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🔥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22960" y="5513832"/>
            <a:ext cx="384048" cy="0"/>
          </a:xfrm>
          <a:prstGeom prst="line">
            <a:avLst/>
          </a:prstGeom>
          <a:noFill/>
          <a:ln w="31750">
            <a:solidFill>
              <a:srgbClr val="DC2626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280160" y="538581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 진입불가 골목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46120" y="5513832"/>
            <a:ext cx="384048" cy="0"/>
          </a:xfrm>
          <a:prstGeom prst="line">
            <a:avLst/>
          </a:prstGeom>
          <a:noFill/>
          <a:ln w="44450">
            <a:solidFill>
              <a:srgbClr val="38BDF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03320" y="538581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 주행경로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30368" y="534009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🔥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559552" y="5385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발생지점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772400" y="1737360"/>
            <a:ext cx="38404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973568" y="1993392"/>
            <a:ext cx="420624" cy="420624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39" name="Text 37"/>
          <p:cNvSpPr/>
          <p:nvPr/>
        </p:nvSpPr>
        <p:spPr>
          <a:xfrm>
            <a:off x="7973568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656" dirty="0"/>
          </a:p>
        </p:txBody>
      </p:sp>
      <p:sp>
        <p:nvSpPr>
          <p:cNvPr id="40" name="Text 38"/>
          <p:cNvSpPr/>
          <p:nvPr/>
        </p:nvSpPr>
        <p:spPr>
          <a:xfrm>
            <a:off x="8522208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화재지점 표시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522208" y="21671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창원 화재 발생지점(🔥)을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지도에 올린다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772400" y="2761488"/>
            <a:ext cx="38404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973568" y="3017520"/>
            <a:ext cx="420624" cy="42062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44" name="Text 42"/>
          <p:cNvSpPr/>
          <p:nvPr/>
        </p:nvSpPr>
        <p:spPr>
          <a:xfrm>
            <a:off x="7973568" y="3017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656" dirty="0"/>
          </a:p>
        </p:txBody>
      </p:sp>
      <p:sp>
        <p:nvSpPr>
          <p:cNvPr id="45" name="Text 43"/>
          <p:cNvSpPr/>
          <p:nvPr/>
        </p:nvSpPr>
        <p:spPr>
          <a:xfrm>
            <a:off x="8522208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 탐색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8522208" y="319125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소방서에서 각 지점까지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하늘색 주행경로를 그린다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7772400" y="3785616"/>
            <a:ext cx="38404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973568" y="4041648"/>
            <a:ext cx="420624" cy="42062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9" name="Text 47"/>
          <p:cNvSpPr/>
          <p:nvPr/>
        </p:nvSpPr>
        <p:spPr>
          <a:xfrm>
            <a:off x="7973568" y="4041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656" dirty="0"/>
          </a:p>
        </p:txBody>
      </p:sp>
      <p:sp>
        <p:nvSpPr>
          <p:cNvPr id="50" name="Text 48"/>
          <p:cNvSpPr/>
          <p:nvPr/>
        </p:nvSpPr>
        <p:spPr>
          <a:xfrm>
            <a:off x="8522208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점선 = 진입불가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522208" y="42153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 중 폭 4m 미만 구간을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점선으로 표시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7772400" y="4809744"/>
            <a:ext cx="38404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973568" y="5065776"/>
            <a:ext cx="420624" cy="420624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4" name="Text 52"/>
          <p:cNvSpPr/>
          <p:nvPr/>
        </p:nvSpPr>
        <p:spPr>
          <a:xfrm>
            <a:off x="7973568" y="50657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656" dirty="0"/>
          </a:p>
        </p:txBody>
      </p:sp>
      <p:sp>
        <p:nvSpPr>
          <p:cNvPr id="55" name="Text 53"/>
          <p:cNvSpPr/>
          <p:nvPr/>
        </p:nvSpPr>
        <p:spPr>
          <a:xfrm>
            <a:off x="8522208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필요 지점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8522208" y="523951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점선이 걸린 화재지점 =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드론이 가장 필요한 곳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05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② — 종합 위험 지수로 합친다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화재빈도(실측 반영) · 도로협소 · 노후건물 · 고령인구 가중 합산 (도로·노후·고령은 예시)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749808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366760" y="1828800"/>
            <a:ext cx="3246120" cy="3703320"/>
          </a:xfrm>
          <a:prstGeom prst="roundRect">
            <a:avLst>
              <a:gd name="adj" fmla="val 253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595360" y="20299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1위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595360" y="235915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마산합포구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595360" y="28803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104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8595360" y="3639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/ 위험지수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595360" y="4023360"/>
            <a:ext cx="27432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0" y="411480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의창구는 화재건수 최다지만 도로·노후가 낮아 종합은 하위 — 원도심(마산합포·진해)이 상위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06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창원 안에서 거점 소방서를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492240" cy="4206240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6035040" cy="3520440"/>
          </a:xfrm>
          <a:prstGeom prst="rect">
            <a:avLst/>
          </a:prstGeom>
          <a:solidFill>
            <a:srgbClr val="EEF2F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" name="Shape 5"/>
          <p:cNvSpPr/>
          <p:nvPr/>
        </p:nvSpPr>
        <p:spPr>
          <a:xfrm>
            <a:off x="133502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" name="Shape 6"/>
          <p:cNvSpPr/>
          <p:nvPr/>
        </p:nvSpPr>
        <p:spPr>
          <a:xfrm>
            <a:off x="188366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" name="Shape 7"/>
          <p:cNvSpPr/>
          <p:nvPr/>
        </p:nvSpPr>
        <p:spPr>
          <a:xfrm>
            <a:off x="243230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0" name="Shape 8"/>
          <p:cNvSpPr/>
          <p:nvPr/>
        </p:nvSpPr>
        <p:spPr>
          <a:xfrm>
            <a:off x="298094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1" name="Shape 9"/>
          <p:cNvSpPr/>
          <p:nvPr/>
        </p:nvSpPr>
        <p:spPr>
          <a:xfrm>
            <a:off x="352958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2" name="Shape 10"/>
          <p:cNvSpPr/>
          <p:nvPr/>
        </p:nvSpPr>
        <p:spPr>
          <a:xfrm>
            <a:off x="407822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3" name="Shape 11"/>
          <p:cNvSpPr/>
          <p:nvPr/>
        </p:nvSpPr>
        <p:spPr>
          <a:xfrm>
            <a:off x="4626864" y="183794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14" name="Shape 12"/>
          <p:cNvSpPr/>
          <p:nvPr/>
        </p:nvSpPr>
        <p:spPr>
          <a:xfrm>
            <a:off x="5175504" y="183794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15" name="Shape 13"/>
          <p:cNvSpPr/>
          <p:nvPr/>
        </p:nvSpPr>
        <p:spPr>
          <a:xfrm>
            <a:off x="572414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6" name="Shape 14"/>
          <p:cNvSpPr/>
          <p:nvPr/>
        </p:nvSpPr>
        <p:spPr>
          <a:xfrm>
            <a:off x="627278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" y="227799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8" name="Shape 16"/>
          <p:cNvSpPr/>
          <p:nvPr/>
        </p:nvSpPr>
        <p:spPr>
          <a:xfrm>
            <a:off x="1335024" y="227799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9" name="Shape 17"/>
          <p:cNvSpPr/>
          <p:nvPr/>
        </p:nvSpPr>
        <p:spPr>
          <a:xfrm>
            <a:off x="188366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230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1" name="Shape 19"/>
          <p:cNvSpPr/>
          <p:nvPr/>
        </p:nvSpPr>
        <p:spPr>
          <a:xfrm>
            <a:off x="298094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2" name="Shape 20"/>
          <p:cNvSpPr/>
          <p:nvPr/>
        </p:nvSpPr>
        <p:spPr>
          <a:xfrm>
            <a:off x="352958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3" name="Shape 21"/>
          <p:cNvSpPr/>
          <p:nvPr/>
        </p:nvSpPr>
        <p:spPr>
          <a:xfrm>
            <a:off x="407822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4" name="Shape 22"/>
          <p:cNvSpPr/>
          <p:nvPr/>
        </p:nvSpPr>
        <p:spPr>
          <a:xfrm>
            <a:off x="4626864" y="2277999"/>
            <a:ext cx="530352" cy="421767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17550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6" name="Shape 24"/>
          <p:cNvSpPr/>
          <p:nvPr/>
        </p:nvSpPr>
        <p:spPr>
          <a:xfrm>
            <a:off x="5724144" y="227799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27799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28" name="Shape 26"/>
          <p:cNvSpPr/>
          <p:nvPr/>
        </p:nvSpPr>
        <p:spPr>
          <a:xfrm>
            <a:off x="786384" y="271805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29" name="Shape 27"/>
          <p:cNvSpPr/>
          <p:nvPr/>
        </p:nvSpPr>
        <p:spPr>
          <a:xfrm>
            <a:off x="1335024" y="271805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30" name="Shape 28"/>
          <p:cNvSpPr/>
          <p:nvPr/>
        </p:nvSpPr>
        <p:spPr>
          <a:xfrm>
            <a:off x="188366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1" name="Shape 29"/>
          <p:cNvSpPr/>
          <p:nvPr/>
        </p:nvSpPr>
        <p:spPr>
          <a:xfrm>
            <a:off x="2432304" y="271805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32" name="Shape 30"/>
          <p:cNvSpPr/>
          <p:nvPr/>
        </p:nvSpPr>
        <p:spPr>
          <a:xfrm>
            <a:off x="2980944" y="271805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33" name="Shape 31"/>
          <p:cNvSpPr/>
          <p:nvPr/>
        </p:nvSpPr>
        <p:spPr>
          <a:xfrm>
            <a:off x="3529584" y="2718054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4" name="Shape 32"/>
          <p:cNvSpPr/>
          <p:nvPr/>
        </p:nvSpPr>
        <p:spPr>
          <a:xfrm>
            <a:off x="407822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5" name="Shape 33"/>
          <p:cNvSpPr/>
          <p:nvPr/>
        </p:nvSpPr>
        <p:spPr>
          <a:xfrm>
            <a:off x="462686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6" name="Shape 34"/>
          <p:cNvSpPr/>
          <p:nvPr/>
        </p:nvSpPr>
        <p:spPr>
          <a:xfrm>
            <a:off x="517550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7" name="Shape 35"/>
          <p:cNvSpPr/>
          <p:nvPr/>
        </p:nvSpPr>
        <p:spPr>
          <a:xfrm>
            <a:off x="5724144" y="271805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38" name="Shape 36"/>
          <p:cNvSpPr/>
          <p:nvPr/>
        </p:nvSpPr>
        <p:spPr>
          <a:xfrm>
            <a:off x="6272784" y="271805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39" name="Shape 37"/>
          <p:cNvSpPr/>
          <p:nvPr/>
        </p:nvSpPr>
        <p:spPr>
          <a:xfrm>
            <a:off x="786384" y="315810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40" name="Shape 38"/>
          <p:cNvSpPr/>
          <p:nvPr/>
        </p:nvSpPr>
        <p:spPr>
          <a:xfrm>
            <a:off x="1335024" y="3158109"/>
            <a:ext cx="530352" cy="421767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1" name="Shape 39"/>
          <p:cNvSpPr/>
          <p:nvPr/>
        </p:nvSpPr>
        <p:spPr>
          <a:xfrm>
            <a:off x="188366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2" name="Shape 40"/>
          <p:cNvSpPr/>
          <p:nvPr/>
        </p:nvSpPr>
        <p:spPr>
          <a:xfrm>
            <a:off x="243230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3" name="Shape 41"/>
          <p:cNvSpPr/>
          <p:nvPr/>
        </p:nvSpPr>
        <p:spPr>
          <a:xfrm>
            <a:off x="298094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2958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5" name="Shape 43"/>
          <p:cNvSpPr/>
          <p:nvPr/>
        </p:nvSpPr>
        <p:spPr>
          <a:xfrm>
            <a:off x="4078224" y="3158109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46" name="Shape 44"/>
          <p:cNvSpPr/>
          <p:nvPr/>
        </p:nvSpPr>
        <p:spPr>
          <a:xfrm>
            <a:off x="4626864" y="3158109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47" name="Shape 45"/>
          <p:cNvSpPr/>
          <p:nvPr/>
        </p:nvSpPr>
        <p:spPr>
          <a:xfrm>
            <a:off x="5175504" y="3158109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8" name="Shape 46"/>
          <p:cNvSpPr/>
          <p:nvPr/>
        </p:nvSpPr>
        <p:spPr>
          <a:xfrm>
            <a:off x="5724144" y="315810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315810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50" name="Shape 48"/>
          <p:cNvSpPr/>
          <p:nvPr/>
        </p:nvSpPr>
        <p:spPr>
          <a:xfrm>
            <a:off x="786384" y="359816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51" name="Shape 49"/>
          <p:cNvSpPr/>
          <p:nvPr/>
        </p:nvSpPr>
        <p:spPr>
          <a:xfrm>
            <a:off x="1335024" y="3598164"/>
            <a:ext cx="530352" cy="421767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52" name="Shape 50"/>
          <p:cNvSpPr/>
          <p:nvPr/>
        </p:nvSpPr>
        <p:spPr>
          <a:xfrm>
            <a:off x="188366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3" name="Shape 51"/>
          <p:cNvSpPr/>
          <p:nvPr/>
        </p:nvSpPr>
        <p:spPr>
          <a:xfrm>
            <a:off x="243230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4" name="Shape 52"/>
          <p:cNvSpPr/>
          <p:nvPr/>
        </p:nvSpPr>
        <p:spPr>
          <a:xfrm>
            <a:off x="298094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5" name="Shape 53"/>
          <p:cNvSpPr/>
          <p:nvPr/>
        </p:nvSpPr>
        <p:spPr>
          <a:xfrm>
            <a:off x="352958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6" name="Shape 54"/>
          <p:cNvSpPr/>
          <p:nvPr/>
        </p:nvSpPr>
        <p:spPr>
          <a:xfrm>
            <a:off x="4078224" y="3598164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57" name="Shape 55"/>
          <p:cNvSpPr/>
          <p:nvPr/>
        </p:nvSpPr>
        <p:spPr>
          <a:xfrm>
            <a:off x="4626864" y="359816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75504" y="359816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59" name="Shape 57"/>
          <p:cNvSpPr/>
          <p:nvPr/>
        </p:nvSpPr>
        <p:spPr>
          <a:xfrm>
            <a:off x="5724144" y="359816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60" name="Shape 58"/>
          <p:cNvSpPr/>
          <p:nvPr/>
        </p:nvSpPr>
        <p:spPr>
          <a:xfrm>
            <a:off x="6272784" y="359816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61" name="Shape 59"/>
          <p:cNvSpPr/>
          <p:nvPr/>
        </p:nvSpPr>
        <p:spPr>
          <a:xfrm>
            <a:off x="786384" y="403821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62" name="Shape 60"/>
          <p:cNvSpPr/>
          <p:nvPr/>
        </p:nvSpPr>
        <p:spPr>
          <a:xfrm>
            <a:off x="1335024" y="403821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3" name="Shape 61"/>
          <p:cNvSpPr/>
          <p:nvPr/>
        </p:nvSpPr>
        <p:spPr>
          <a:xfrm>
            <a:off x="1883664" y="4038219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64" name="Shape 62"/>
          <p:cNvSpPr/>
          <p:nvPr/>
        </p:nvSpPr>
        <p:spPr>
          <a:xfrm>
            <a:off x="2432304" y="403821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5" name="Shape 63"/>
          <p:cNvSpPr/>
          <p:nvPr/>
        </p:nvSpPr>
        <p:spPr>
          <a:xfrm>
            <a:off x="2980944" y="403821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6" name="Shape 64"/>
          <p:cNvSpPr/>
          <p:nvPr/>
        </p:nvSpPr>
        <p:spPr>
          <a:xfrm>
            <a:off x="3529584" y="403821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7" name="Shape 65"/>
          <p:cNvSpPr/>
          <p:nvPr/>
        </p:nvSpPr>
        <p:spPr>
          <a:xfrm>
            <a:off x="4078224" y="4038219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8" name="Shape 66"/>
          <p:cNvSpPr/>
          <p:nvPr/>
        </p:nvSpPr>
        <p:spPr>
          <a:xfrm>
            <a:off x="4626864" y="403821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9" name="Shape 67"/>
          <p:cNvSpPr/>
          <p:nvPr/>
        </p:nvSpPr>
        <p:spPr>
          <a:xfrm>
            <a:off x="5175504" y="403821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70" name="Shape 68"/>
          <p:cNvSpPr/>
          <p:nvPr/>
        </p:nvSpPr>
        <p:spPr>
          <a:xfrm>
            <a:off x="5724144" y="403821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1" name="Shape 69"/>
          <p:cNvSpPr/>
          <p:nvPr/>
        </p:nvSpPr>
        <p:spPr>
          <a:xfrm>
            <a:off x="6272784" y="403821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2" name="Shape 70"/>
          <p:cNvSpPr/>
          <p:nvPr/>
        </p:nvSpPr>
        <p:spPr>
          <a:xfrm>
            <a:off x="78638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3" name="Shape 71"/>
          <p:cNvSpPr/>
          <p:nvPr/>
        </p:nvSpPr>
        <p:spPr>
          <a:xfrm>
            <a:off x="133502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4" name="Shape 72"/>
          <p:cNvSpPr/>
          <p:nvPr/>
        </p:nvSpPr>
        <p:spPr>
          <a:xfrm>
            <a:off x="1883664" y="447827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75" name="Shape 73"/>
          <p:cNvSpPr/>
          <p:nvPr/>
        </p:nvSpPr>
        <p:spPr>
          <a:xfrm>
            <a:off x="2432304" y="447827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6" name="Shape 74"/>
          <p:cNvSpPr/>
          <p:nvPr/>
        </p:nvSpPr>
        <p:spPr>
          <a:xfrm>
            <a:off x="2980944" y="4478274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77" name="Shape 75"/>
          <p:cNvSpPr/>
          <p:nvPr/>
        </p:nvSpPr>
        <p:spPr>
          <a:xfrm>
            <a:off x="3529584" y="447827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8" name="Shape 76"/>
          <p:cNvSpPr/>
          <p:nvPr/>
        </p:nvSpPr>
        <p:spPr>
          <a:xfrm>
            <a:off x="4078224" y="447827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79" name="Shape 77"/>
          <p:cNvSpPr/>
          <p:nvPr/>
        </p:nvSpPr>
        <p:spPr>
          <a:xfrm>
            <a:off x="4626864" y="447827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80" name="Shape 78"/>
          <p:cNvSpPr/>
          <p:nvPr/>
        </p:nvSpPr>
        <p:spPr>
          <a:xfrm>
            <a:off x="517550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1" name="Shape 79"/>
          <p:cNvSpPr/>
          <p:nvPr/>
        </p:nvSpPr>
        <p:spPr>
          <a:xfrm>
            <a:off x="572414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2" name="Shape 80"/>
          <p:cNvSpPr/>
          <p:nvPr/>
        </p:nvSpPr>
        <p:spPr>
          <a:xfrm>
            <a:off x="6272784" y="4478274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83" name="Shape 81"/>
          <p:cNvSpPr/>
          <p:nvPr/>
        </p:nvSpPr>
        <p:spPr>
          <a:xfrm>
            <a:off x="786384" y="4918329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84" name="Shape 82"/>
          <p:cNvSpPr/>
          <p:nvPr/>
        </p:nvSpPr>
        <p:spPr>
          <a:xfrm>
            <a:off x="133502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5" name="Shape 83"/>
          <p:cNvSpPr/>
          <p:nvPr/>
        </p:nvSpPr>
        <p:spPr>
          <a:xfrm>
            <a:off x="188366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6" name="Shape 84"/>
          <p:cNvSpPr/>
          <p:nvPr/>
        </p:nvSpPr>
        <p:spPr>
          <a:xfrm>
            <a:off x="2432304" y="491832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87" name="Shape 85"/>
          <p:cNvSpPr/>
          <p:nvPr/>
        </p:nvSpPr>
        <p:spPr>
          <a:xfrm>
            <a:off x="2980944" y="491832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88" name="Shape 86"/>
          <p:cNvSpPr/>
          <p:nvPr/>
        </p:nvSpPr>
        <p:spPr>
          <a:xfrm>
            <a:off x="3529584" y="491832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89" name="Shape 87"/>
          <p:cNvSpPr/>
          <p:nvPr/>
        </p:nvSpPr>
        <p:spPr>
          <a:xfrm>
            <a:off x="407822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0" name="Shape 88"/>
          <p:cNvSpPr/>
          <p:nvPr/>
        </p:nvSpPr>
        <p:spPr>
          <a:xfrm>
            <a:off x="462686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1" name="Shape 89"/>
          <p:cNvSpPr/>
          <p:nvPr/>
        </p:nvSpPr>
        <p:spPr>
          <a:xfrm>
            <a:off x="517550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2" name="Shape 90"/>
          <p:cNvSpPr/>
          <p:nvPr/>
        </p:nvSpPr>
        <p:spPr>
          <a:xfrm>
            <a:off x="5724144" y="4918329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93" name="Shape 91"/>
          <p:cNvSpPr/>
          <p:nvPr/>
        </p:nvSpPr>
        <p:spPr>
          <a:xfrm>
            <a:off x="6272784" y="4918329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94" name="Shape 92"/>
          <p:cNvSpPr/>
          <p:nvPr/>
        </p:nvSpPr>
        <p:spPr>
          <a:xfrm>
            <a:off x="1947672" y="3068955"/>
            <a:ext cx="512064" cy="51206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563EB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2048256" y="3169539"/>
            <a:ext cx="310896" cy="310896"/>
          </a:xfrm>
          <a:prstGeom prst="star5">
            <a:avLst/>
          </a:prstGeom>
          <a:solidFill>
            <a:srgbClr val="2563EB"/>
          </a:solidFill>
          <a:ln/>
        </p:spPr>
      </p:sp>
      <p:sp>
        <p:nvSpPr>
          <p:cNvPr id="96" name="Text 94"/>
          <p:cNvSpPr/>
          <p:nvPr/>
        </p:nvSpPr>
        <p:spPr>
          <a:xfrm>
            <a:off x="1380744" y="3489579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마산소방서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4169664" y="4174236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465576" y="44577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성산소방서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5376672" y="259003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672584" y="287350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창원소방서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777240" y="53949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붉을수록 위험 지수 높음 · ★ 선정 거점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7315200" y="16916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— 마산소방서</a:t>
            </a:r>
            <a:endParaRPr lang="en-US" sz="1900" dirty="0"/>
          </a:p>
        </p:txBody>
      </p:sp>
      <p:sp>
        <p:nvSpPr>
          <p:cNvPr id="103" name="Shape 101"/>
          <p:cNvSpPr/>
          <p:nvPr/>
        </p:nvSpPr>
        <p:spPr>
          <a:xfrm>
            <a:off x="7315200" y="22402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43800" y="2542032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05" name="Text 103"/>
          <p:cNvSpPr/>
          <p:nvPr/>
        </p:nvSpPr>
        <p:spPr>
          <a:xfrm>
            <a:off x="7909560" y="23500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위험지수 최상위 인접</a:t>
            </a:r>
            <a:endParaRPr lang="en-US" sz="1300" dirty="0"/>
          </a:p>
        </p:txBody>
      </p:sp>
      <p:sp>
        <p:nvSpPr>
          <p:cNvPr id="106" name="Text 104"/>
          <p:cNvSpPr/>
          <p:nvPr/>
        </p:nvSpPr>
        <p:spPr>
          <a:xfrm>
            <a:off x="7909560" y="26609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1위 마산합포구를 최단 거리에서 커버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7315200" y="31546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543800" y="3456432"/>
            <a:ext cx="237744" cy="237744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09" name="Text 107"/>
          <p:cNvSpPr/>
          <p:nvPr/>
        </p:nvSpPr>
        <p:spPr>
          <a:xfrm>
            <a:off x="7909560" y="32644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진입불가 경로 최다</a:t>
            </a:r>
            <a:endParaRPr lang="en-US" sz="1300" dirty="0"/>
          </a:p>
        </p:txBody>
      </p:sp>
      <p:sp>
        <p:nvSpPr>
          <p:cNvPr id="110" name="Text 108"/>
          <p:cNvSpPr/>
          <p:nvPr/>
        </p:nvSpPr>
        <p:spPr>
          <a:xfrm>
            <a:off x="7909560" y="35753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빨간선 밀집 원도심 골목을 상공에서 보완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7315200" y="40690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7543800" y="4370832"/>
            <a:ext cx="237744" cy="23774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3" name="Text 111"/>
          <p:cNvSpPr/>
          <p:nvPr/>
        </p:nvSpPr>
        <p:spPr>
          <a:xfrm>
            <a:off x="7909560" y="41788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교통약자 밀집</a:t>
            </a:r>
            <a:endParaRPr lang="en-US" sz="1300" dirty="0"/>
          </a:p>
        </p:txBody>
      </p:sp>
      <p:sp>
        <p:nvSpPr>
          <p:cNvPr id="114" name="Text 112"/>
          <p:cNvSpPr/>
          <p:nvPr/>
        </p:nvSpPr>
        <p:spPr>
          <a:xfrm>
            <a:off x="7909560" y="44897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 인구 대피 취약지에 초동 대응</a:t>
            </a:r>
            <a:endParaRPr lang="en-US" sz="1050" dirty="0"/>
          </a:p>
        </p:txBody>
      </p:sp>
      <p:sp>
        <p:nvSpPr>
          <p:cNvPr id="115" name="Shape 113"/>
          <p:cNvSpPr/>
          <p:nvPr/>
        </p:nvSpPr>
        <p:spPr>
          <a:xfrm>
            <a:off x="7315200" y="49834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7543800" y="5285232"/>
            <a:ext cx="237744" cy="237744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117" name="Text 115"/>
          <p:cNvSpPr/>
          <p:nvPr/>
        </p:nvSpPr>
        <p:spPr>
          <a:xfrm>
            <a:off x="7909560" y="50932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보급 거점 확보</a:t>
            </a:r>
            <a:endParaRPr lang="en-US" sz="1300" dirty="0"/>
          </a:p>
        </p:txBody>
      </p:sp>
      <p:sp>
        <p:nvSpPr>
          <p:cNvPr id="118" name="Text 116"/>
          <p:cNvSpPr/>
          <p:nvPr/>
        </p:nvSpPr>
        <p:spPr>
          <a:xfrm>
            <a:off x="7909560" y="54041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드론·UGV 재보급 스마트 방재 거점 병설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286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후 어떻게 움직이는가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370332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거점에서 출동한 드론 편대가 화점에 도착한 순간부터 — 표준 행동요령(SOP-D)에 따라 자율 수행한다.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출동·도착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5468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7472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편대 전개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6364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SOP-D 5단계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73252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5256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유무인 복합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출동 — 소방차보다 먼저 도착한다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 소방서 → 화점 직선 비행 · 화재 인지 시점 공통 기준 (예시)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20848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45059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실도로 주행+출동준비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78892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8:40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좁은 골목은 입구까지만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51960" y="187452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51960" y="20848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편대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251960" y="245059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거점→화점 직선 비행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251960" y="278892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3:20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4251960" y="38862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골목 위를 그대로 넘어 도착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955280" y="1874520"/>
            <a:ext cx="3657600" cy="2743200"/>
          </a:xfrm>
          <a:prstGeom prst="roundRect">
            <a:avLst>
              <a:gd name="adj" fmla="val 3000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95528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드론이 먼저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955280" y="2578608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5:20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7955280" y="35844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초동 골든타임 확보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95528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소방관 투입 전 정밀 정찰까지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4892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수치는 예시 시나리오 — 거점·지점 거리에 따라 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즉시 — 5개 편대로 전개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73936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73936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103120" y="1600200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지휘통제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892040" y="1600200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공중지휘권 선언 · 3D 매핑 융합 · 통합 제어·자원 관리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578608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752344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752344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1편대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103120" y="2578608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공중정찰대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892040" y="2578608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사방 3D 스캐닝 · 열화상 화점 탐지 · 연소확대선 모니터링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557016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730752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730752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2편대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103120" y="3557016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인명수색·구조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892040" y="3557016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고립 구조대상자 식별 · 생명유지 키트 투하 · 대피 인도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535424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709160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709160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3편대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103120" y="4535424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화재진압대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892040" y="4535424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창문·진입점 파악 · 창문 파쇄 후 정밀 소화탄 투하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513832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5687568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68756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4편대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103120" y="5513832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통신중계·조명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892040" y="5513832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Mesh 통신망 형성 · 음영지역 신호 중계 · 광역 조명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SOP-D 표준 행동요령 · 5단계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2121408"/>
            <a:ext cx="731520" cy="73152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전개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94360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76656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정찰·진압·구조</a:t>
            </a:r>
            <a:endParaRPr lang="en-US" sz="10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편대 전개·상승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94360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101-D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60320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807208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56432" y="2121408"/>
            <a:ext cx="731520" cy="73152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3456432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852928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정찰·평가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2852928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35224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스캐닝·열화상</a:t>
            </a:r>
            <a:endParaRPr lang="en-US" sz="10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화점/진입점 파악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852928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102-D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65776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715000" y="2121408"/>
            <a:ext cx="731520" cy="73152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22" name="Text 20"/>
          <p:cNvSpPr/>
          <p:nvPr/>
        </p:nvSpPr>
        <p:spPr>
          <a:xfrm>
            <a:off x="5715000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111496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작전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111496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193792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파쇄 후</a:t>
            </a:r>
            <a:endParaRPr lang="en-US" sz="10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 소화탄·대피 인도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111496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222-D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077456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7324344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973568" y="2121408"/>
            <a:ext cx="731520" cy="7315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0" name="Text 28"/>
          <p:cNvSpPr/>
          <p:nvPr/>
        </p:nvSpPr>
        <p:spPr>
          <a:xfrm>
            <a:off x="7973568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7370064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중계·호위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7370064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RELAY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452360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요구조자 호위</a:t>
            </a:r>
            <a:endParaRPr lang="en-US" sz="10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외벽 연소차단·릴레이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370064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105-D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336024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36" name="Shape 34"/>
          <p:cNvSpPr/>
          <p:nvPr/>
        </p:nvSpPr>
        <p:spPr>
          <a:xfrm>
            <a:off x="9582912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232136" y="2121408"/>
            <a:ext cx="731520" cy="731520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38" name="Text 36"/>
          <p:cNvSpPr/>
          <p:nvPr/>
        </p:nvSpPr>
        <p:spPr>
          <a:xfrm>
            <a:off x="10232136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9628632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종결</a:t>
            </a:r>
            <a:endParaRPr lang="en-US" sz="1450" dirty="0"/>
          </a:p>
        </p:txBody>
      </p:sp>
      <p:sp>
        <p:nvSpPr>
          <p:cNvPr id="40" name="Text 38"/>
          <p:cNvSpPr/>
          <p:nvPr/>
        </p:nvSpPr>
        <p:spPr>
          <a:xfrm>
            <a:off x="9628632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9710928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대피 완료 확인</a:t>
            </a:r>
            <a:endParaRPr lang="en-US" sz="10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잔불 감시·RTH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9628632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113-D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지휘·정찰·진압·구조·통신 편대가 단계별 SOP 코드에 따라 한 타임라인에서 자율로 맞물려 움직인다.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유무인 복합 — 지상 무인차량(UGV) 협업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11680"/>
            <a:ext cx="3054096" cy="502920"/>
          </a:xfrm>
          <a:prstGeom prst="roundRect">
            <a:avLst>
              <a:gd name="adj" fmla="val 14545"/>
            </a:avLst>
          </a:prstGeom>
          <a:solidFill>
            <a:srgbClr val="DCFCE7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0116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지상 무인차량(UGV)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장애물 극복·소화수 보급 ·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 방재 거점에서 출발·재보급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56616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53712" y="2011680"/>
            <a:ext cx="3054096" cy="502920"/>
          </a:xfrm>
          <a:prstGeom prst="roundRect">
            <a:avLst>
              <a:gd name="adj" fmla="val 14545"/>
            </a:avLst>
          </a:prstGeom>
          <a:solidFill>
            <a:srgbClr val="EDE9FE"/>
          </a:solidFill>
          <a:ln/>
        </p:spPr>
      </p:sp>
      <p:sp>
        <p:nvSpPr>
          <p:cNvPr id="10" name="Text 8"/>
          <p:cNvSpPr/>
          <p:nvPr/>
        </p:nvSpPr>
        <p:spPr>
          <a:xfrm>
            <a:off x="4553712" y="20116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편대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7200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상공에서 정밀 정찰·진압 —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골목 위를 그대로 넘는다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56616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A580C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02752" y="2011680"/>
            <a:ext cx="3054096" cy="502920"/>
          </a:xfrm>
          <a:prstGeom prst="roundRect">
            <a:avLst>
              <a:gd name="adj" fmla="val 14545"/>
            </a:avLst>
          </a:prstGeom>
          <a:solidFill>
            <a:srgbClr val="FFEDD5"/>
          </a:solidFill>
          <a:ln/>
        </p:spPr>
      </p:sp>
      <p:sp>
        <p:nvSpPr>
          <p:cNvPr id="14" name="Text 12"/>
          <p:cNvSpPr/>
          <p:nvPr/>
        </p:nvSpPr>
        <p:spPr>
          <a:xfrm>
            <a:off x="8302752" y="20116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유무인 복합 편대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32104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UGV는 지상 보급·거점,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드론은 공중 타격 — 한 편대처럼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61772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617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소방차가 진입하기 전, 상공의 드론 편대와 지상의 UGV가 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 → 진압 → 대피 인도 → 보급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끊김 없이 이어 초동 대응을 채운다.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시연 · 마산어시장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지도에 발화점 위치 지정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269480" cy="4526280"/>
          </a:xfrm>
          <a:prstGeom prst="roundRect">
            <a:avLst>
              <a:gd name="adj" fmla="val 1818"/>
            </a:avLst>
          </a:prstGeom>
          <a:solidFill>
            <a:srgbClr val="0B1220"/>
          </a:solidFill>
          <a:ln w="19050">
            <a:solidFill>
              <a:srgbClr val="7C3AED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3771900" y="3040380"/>
            <a:ext cx="822960" cy="822960"/>
          </a:xfrm>
          <a:prstGeom prst="ellipse">
            <a:avLst/>
          </a:prstGeom>
          <a:solidFill>
            <a:srgbClr val="172033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37076" y="3305556"/>
            <a:ext cx="292608" cy="292608"/>
          </a:xfrm>
          <a:prstGeom prst="ellipse">
            <a:avLst/>
          </a:prstGeom>
          <a:solidFill>
            <a:srgbClr val="EA580C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954780"/>
            <a:ext cx="635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여기에 실제 시뮬레이터 지도 화면을 넣으세요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4366260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마산어시장 발화점 지정 · 마산소방서 거점 · 소방차 진입불가 빨간선 · 드론 직선 경로가 보이는 화면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001000" y="1554480"/>
            <a:ext cx="3611880" cy="2697480"/>
          </a:xfrm>
          <a:prstGeom prst="roundRect">
            <a:avLst>
              <a:gd name="adj" fmla="val 3051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75320" y="173736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출동 요약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75320" y="21579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372600" y="2157984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B92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마산어시장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75320" y="2651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최근접 거점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372600" y="265176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마산소방서 · 직선 1.33km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75320" y="314553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도착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372600" y="3145536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 00초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75320" y="36393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372600" y="3639312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CA5A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진입불가 골목 다수 · 호스 연장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01000" y="4389120"/>
            <a:ext cx="3611880" cy="1691640"/>
          </a:xfrm>
          <a:prstGeom prst="roundRect">
            <a:avLst>
              <a:gd name="adj" fmla="val 4865"/>
            </a:avLst>
          </a:prstGeom>
          <a:solidFill>
            <a:srgbClr val="0C1F16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75320" y="4572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드론이 먼저 도착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956048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소방차가 못 가는 골목을 드론이 상공으로 넘어 1분 만에 화점 도착 — 초동 골든타임 확보.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시연 · 마산어시장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건물 SOP-D 시뮬레이션</a:t>
            </a:r>
            <a:endParaRPr lang="en-US" sz="2600" dirty="0"/>
          </a:p>
        </p:txBody>
      </p:sp>
      <p:pic>
        <p:nvPicPr>
          <p:cNvPr id="4" name="Image 0" descr="cap_3d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10817352" cy="47914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6236208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정찰(열화상 화점 탐지) · 진압(창문 파쇄·정밀 소화탄) · 인명수색구조(대피 인도) · 통신중계·조명 편대가 SOP-D 단계별로 동시에 자율 수행 — 실제 시뮬레이션 화면.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 골든타임과 화재 피해 — 데이터로 본 근거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소방청 국가화재정보시스템 기반 분석 · 골든타임 연구 (현장도착 5분 기준)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512064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1389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도착시간별 건당 재산피해 (천원)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943600" y="1828800"/>
            <a:ext cx="566928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199632" y="2212848"/>
            <a:ext cx="274320" cy="2743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9" name="Text 6"/>
          <p:cNvSpPr/>
          <p:nvPr/>
        </p:nvSpPr>
        <p:spPr>
          <a:xfrm>
            <a:off x="6601968" y="19659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재산피해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601968" y="22677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2.1배 ↑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732520" y="1828800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5분 → 5~10분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(건당 5,425 → 11,198천원)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943600" y="2990088"/>
            <a:ext cx="566928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199632" y="3374136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4" name="Text 11"/>
          <p:cNvSpPr/>
          <p:nvPr/>
        </p:nvSpPr>
        <p:spPr>
          <a:xfrm>
            <a:off x="6601968" y="31272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사망률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601968" y="34290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2.5배 ↑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8732520" y="2990088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현장도착 10분 초과 시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(10분 이하 대비)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943600" y="4151376"/>
            <a:ext cx="566928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199632" y="4535424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19" name="Text 16"/>
          <p:cNvSpPr/>
          <p:nvPr/>
        </p:nvSpPr>
        <p:spPr>
          <a:xfrm>
            <a:off x="6601968" y="428853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 확률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601968" y="459028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4배 ↓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8732520" y="4151376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5분 이내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골든타임 확보 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48640" y="5504688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0C1F16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" y="550468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시스템 = 골든타임 확보 수단. 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소방차가 못 가는 골목도 드론이 5분 내 도착 → 문헌 기준 건당 피해 11,198 → 5,425천원(약 52%↓) 구간 유지, 인명 사망 위험 대폭 감소.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소방청 국가화재정보시스템(NFDS) 기반 분석 · 한국방재학회논문집 등 소방 골든타임 연구.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· 사회 · 지역, 그리고 마무리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30168" cy="2743200"/>
          </a:xfrm>
          <a:prstGeom prst="roundRect">
            <a:avLst>
              <a:gd name="adj" fmla="val 3000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011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011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기술·학문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4672" y="260604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방산-민간 스핀오프 선도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4672" y="3429000"/>
            <a:ext cx="3118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기계공학 제어·역학과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국방과학 자율 군집 운용의 융합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61688" y="1737360"/>
            <a:ext cx="3630168" cy="2743200"/>
          </a:xfrm>
          <a:prstGeom prst="roundRect">
            <a:avLst>
              <a:gd name="adj" fmla="val 3000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011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2011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사회·안전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17720" y="260604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원도심 골든타임 확보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3429000"/>
            <a:ext cx="3118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진입불가 골목도 5분 내 초동 대응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재산피해 약 52%↓·인명 위험 감소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74736" y="1737360"/>
            <a:ext cx="3630168" cy="2743200"/>
          </a:xfrm>
          <a:prstGeom prst="roundRect">
            <a:avLst>
              <a:gd name="adj" fmla="val 3000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30768" y="2011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30768" y="2011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혁신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430768" y="260604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경남형 스마트시티·방산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30768" y="3429000"/>
            <a:ext cx="3118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방위산업·항공우주 인프라를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스마트시티에 결합한 지역 특화 혁신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75488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1F1206"/>
          </a:solidFill>
          <a:ln w="16510">
            <a:solidFill>
              <a:srgbClr val="EA580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95604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 창원·거점을 정하고, 편대가 골든타임을 먼저 지킨다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22960" y="550468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화재 빅데이터 → 창원·거점 소방서 선정 → SOP-D 현장 대응 → UGV 유무인 복합. 팀 군체 · 감사합니다. (Q&amp;A)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데이터로 정한 소방 드론 거점, 그리고 현장 로직</dc:title>
  <dc:subject>PptxGenJS Presentation</dc:subject>
  <dc:creator>팀 군체</dc:creator>
  <cp:lastModifiedBy>팀 군체</cp:lastModifiedBy>
  <cp:revision>1</cp:revision>
  <dcterms:created xsi:type="dcterms:W3CDTF">2026-08-05T04:22:51Z</dcterms:created>
  <dcterms:modified xsi:type="dcterms:W3CDTF">2026-08-05T04:22:51Z</dcterms:modified>
</cp:coreProperties>
</file>