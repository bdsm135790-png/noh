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창원시</c:v>
                  </c:pt>
                  <c:pt idx="1">
                    <c:v>김해시</c:v>
                  </c:pt>
                  <c:pt idx="2">
                    <c:v>진주시</c:v>
                  </c:pt>
                  <c:pt idx="3">
                    <c:v>양산시</c:v>
                  </c:pt>
                  <c:pt idx="4">
                    <c:v>밀양시</c:v>
                  </c:pt>
                  <c:pt idx="5">
                    <c:v>함안군</c:v>
                  </c:pt>
                  <c:pt idx="6">
                    <c:v>거제시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563</c:v>
                </c:pt>
                <c:pt idx="1">
                  <c:v>457</c:v>
                </c:pt>
                <c:pt idx="2">
                  <c:v>318</c:v>
                </c:pt>
                <c:pt idx="3">
                  <c:v>271</c:v>
                </c:pt>
                <c:pt idx="4">
                  <c:v>239</c:v>
                </c:pt>
                <c:pt idx="5">
                  <c:v>193</c:v>
                </c:pt>
                <c:pt idx="6">
                  <c:v>187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5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의창구</c:v>
                  </c:pt>
                  <c:pt idx="1">
                    <c:v>진해구</c:v>
                  </c:pt>
                  <c:pt idx="2">
                    <c:v>마산합포구</c:v>
                  </c:pt>
                  <c:pt idx="3">
                    <c:v>성산구</c:v>
                  </c:pt>
                  <c:pt idx="4">
                    <c:v>마산회원구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117</c:v>
                </c:pt>
                <c:pt idx="2">
                  <c:v>116</c:v>
                </c:pt>
                <c:pt idx="3">
                  <c:v>116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</c:v>
                </c:pt>
                <c:pt idx="2">
                  <c:v>33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28</c:v>
                </c:pt>
                <c:pt idx="2">
                  <c:v>14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</c:v>
                </c:pt>
                <c:pt idx="1">
                  <c:v>20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</c:v>
                </c:pt>
                <c:pt idx="1">
                  <c:v>18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건당 재산피해(천원)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5분 이내 도착</c:v>
                  </c:pt>
                  <c:pt idx="1">
                    <c:v>5~10분 도착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5425</c:v>
                </c:pt>
                <c:pt idx="1">
                  <c:v>11198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PC(인터넷 연결)에서 시뮬레이터를 열어 마산어시장 지정 → 지도 화면을 캡처해 이 자리(점선 박스)에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골든타임(5분) 확보 시 건당 재산피해가 절반 수준(11,198→5,425천원), 10분 초과 시 사망률 약 2.5배. 드론은 진입불가 골목에서도 골든타임을 확보하는 수단.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빅데이터로 창원을 정하고, 지도 분석으로 거점을 정한다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창원 ·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→ 편대 SOP-D → 시연 → 기대효과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빈도로 대상 지역을 창원으로 정하고 — 지도에서 소방차가 못 가는 경로를 찾아 드론 거점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선정 · 창원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취약지 분석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선정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빈도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시·군구별 화재 건수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 · 소방차 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 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 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 · 진입곤란 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소방안전 빅데이터 플랫폼의 최근 1년 화재 발생 빈도.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도로·건축·인구 데이터를 파이썬(Pandas·NumPy·Matplotlib)으로 통합·시각화한다.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지역을 창원으로 정한다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경남 시·군별 화재 발생 건수 (창원시 = 5개 구 합산)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783080"/>
            <a:ext cx="3474720" cy="3977640"/>
          </a:xfrm>
          <a:prstGeom prst="roundRect">
            <a:avLst>
              <a:gd name="adj" fmla="val 23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34086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12480" y="2971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563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412480" y="3767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· 경남 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412480" y="4160520"/>
            <a:ext cx="29260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427939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전체 화재의 15.8% 집중 — 화재 최다 도시를 드론 배치 대상 지역으로 확정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① — 창원 구별 화재와 피해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창원시 구별 화재 발생 건수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542032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화재건수는 88~126건으로 비슷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108960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9626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도로·노후·인명피해에서 갈린다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75888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마산합포구는 인명피해가 창원 최다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 22명(사망 5) — 원도심 위험 집중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지도에서 소방차 진입불가 지역을 찾는다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04088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6583680" cy="3383280"/>
          </a:xfrm>
          <a:prstGeom prst="rect">
            <a:avLst/>
          </a:prstGeom>
          <a:solidFill>
            <a:srgbClr val="F3EFE6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4160520"/>
            <a:ext cx="1097280" cy="82296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4251960"/>
            <a:ext cx="1051560" cy="77724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0" y="2194560"/>
            <a:ext cx="1005840" cy="685800"/>
          </a:xfrm>
          <a:prstGeom prst="rect">
            <a:avLst/>
          </a:prstGeom>
          <a:solidFill>
            <a:srgbClr val="EAE4D8"/>
          </a:solidFill>
          <a:ln/>
        </p:spPr>
      </p:sp>
      <p:sp>
        <p:nvSpPr>
          <p:cNvPr id="9" name="Shape 7"/>
          <p:cNvSpPr/>
          <p:nvPr/>
        </p:nvSpPr>
        <p:spPr>
          <a:xfrm flipV="1">
            <a:off x="777240" y="3703320"/>
            <a:ext cx="6583680" cy="27432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965960"/>
            <a:ext cx="365760" cy="329184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2057400"/>
            <a:ext cx="365760" cy="320040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914400" y="2459736"/>
            <a:ext cx="6263640" cy="347472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3474720"/>
            <a:ext cx="365760" cy="1783080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606040" y="4416552"/>
            <a:ext cx="4480560" cy="109728"/>
          </a:xfrm>
          <a:prstGeom prst="line">
            <a:avLst/>
          </a:prstGeom>
          <a:noFill/>
          <a:ln w="25400">
            <a:solidFill>
              <a:srgbClr val="D3CC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2441448"/>
            <a:ext cx="6400800" cy="713232"/>
          </a:xfrm>
          <a:prstGeom prst="line">
            <a:avLst/>
          </a:prstGeom>
          <a:noFill/>
          <a:ln w="114300">
            <a:solidFill>
              <a:srgbClr val="ECDC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47802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892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합포로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0" y="2743200"/>
            <a:ext cx="0" cy="1033272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26080" y="3776472"/>
            <a:ext cx="2148840" cy="109728"/>
          </a:xfrm>
          <a:prstGeom prst="line">
            <a:avLst/>
          </a:prstGeom>
          <a:noFill/>
          <a:ln w="5715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3886200"/>
            <a:ext cx="0" cy="12801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5120640" y="3474720"/>
            <a:ext cx="1600200" cy="41148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89320" y="4114800"/>
            <a:ext cx="0" cy="105156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43400" y="4636008"/>
            <a:ext cx="2377440" cy="54864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3794760" y="3886200"/>
            <a:ext cx="1325880" cy="32004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544568" y="3447288"/>
            <a:ext cx="1517904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4568" y="3447288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마산어시장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212080" y="3831336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4507992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41605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94760" y="4178808"/>
            <a:ext cx="182880" cy="18288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21608" y="383133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513832"/>
            <a:ext cx="384048" cy="0"/>
          </a:xfrm>
          <a:prstGeom prst="line">
            <a:avLst/>
          </a:prstGeom>
          <a:noFill/>
          <a:ln w="31750">
            <a:solidFill>
              <a:srgbClr val="DC262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280160" y="538581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골목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46120" y="5513832"/>
            <a:ext cx="384048" cy="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03320" y="5385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주행경로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30368" y="534009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559552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발생지점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0" y="1737360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973568" y="1993392"/>
            <a:ext cx="420624" cy="42062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9" name="Text 37"/>
          <p:cNvSpPr/>
          <p:nvPr/>
        </p:nvSpPr>
        <p:spPr>
          <a:xfrm>
            <a:off x="797356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56" dirty="0"/>
          </a:p>
        </p:txBody>
      </p:sp>
      <p:sp>
        <p:nvSpPr>
          <p:cNvPr id="40" name="Text 38"/>
          <p:cNvSpPr/>
          <p:nvPr/>
        </p:nvSpPr>
        <p:spPr>
          <a:xfrm>
            <a:off x="8522208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화재지점 표시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522208" y="2167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창원 화재 발생지점(🔥)을 지도에 올린다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0" y="2761488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73568" y="3017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4" name="Text 42"/>
          <p:cNvSpPr/>
          <p:nvPr/>
        </p:nvSpPr>
        <p:spPr>
          <a:xfrm>
            <a:off x="797356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56" dirty="0"/>
          </a:p>
        </p:txBody>
      </p:sp>
      <p:sp>
        <p:nvSpPr>
          <p:cNvPr id="45" name="Text 43"/>
          <p:cNvSpPr/>
          <p:nvPr/>
        </p:nvSpPr>
        <p:spPr>
          <a:xfrm>
            <a:off x="8522208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탐색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522208" y="31912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소방서에서 각 지점까지 하늘색 주행경로를 그린다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772400" y="3785616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73568" y="4041648"/>
            <a:ext cx="420624" cy="42062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356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56" dirty="0"/>
          </a:p>
        </p:txBody>
      </p:sp>
      <p:sp>
        <p:nvSpPr>
          <p:cNvPr id="50" name="Text 48"/>
          <p:cNvSpPr/>
          <p:nvPr/>
        </p:nvSpPr>
        <p:spPr>
          <a:xfrm>
            <a:off x="852220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 = 진입불가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8522208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중 폭 4m 미만 구간을 빨간 점선으로 표시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7772400" y="4809744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73568" y="50657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4" name="Text 52"/>
          <p:cNvSpPr/>
          <p:nvPr/>
        </p:nvSpPr>
        <p:spPr>
          <a:xfrm>
            <a:off x="7973568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56" dirty="0"/>
          </a:p>
        </p:txBody>
      </p:sp>
      <p:sp>
        <p:nvSpPr>
          <p:cNvPr id="55" name="Text 53"/>
          <p:cNvSpPr/>
          <p:nvPr/>
        </p:nvSpPr>
        <p:spPr>
          <a:xfrm>
            <a:off x="8522208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필요 지점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8522208" y="52395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 점선이 걸린 화재지점 = 드론이 가장 필요한 곳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05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② — 종합 위험 지수로 합친다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화재빈도(실측 반영) · 도로협소 · 노후건물 · 고령인구 가중 합산 (도로·노후·고령은 예시)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의창구는 화재건수 최다지만 도로·노후가 낮아 종합은 하위 — 원도심(마산합포·진해)이 상위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06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안에서 거점 소방서를 정한다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경로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밀집 원도심 골목을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 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 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 정밀 소화탄 · 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 · 외벽 연소차단 · 배터리 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 · 잔불 감시 · 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— 지상 무인차량(UGV) 협업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15803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DCFCE7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무인차량(UGV)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 · 소화수 보급 · 스마트 방재 거점에서 출발·재보급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5371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455371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상공에서 정밀 정찰·진압 — 골목 위를 그대로 넘는다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37360"/>
            <a:ext cx="356616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A580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02752" y="2011680"/>
            <a:ext cx="3054096" cy="502920"/>
          </a:xfrm>
          <a:prstGeom prst="roundRect">
            <a:avLst>
              <a:gd name="adj" fmla="val 14545"/>
            </a:avLst>
          </a:prstGeom>
          <a:solidFill>
            <a:srgbClr val="FFEDD5"/>
          </a:solidFill>
          <a:ln/>
        </p:spPr>
      </p:sp>
      <p:sp>
        <p:nvSpPr>
          <p:cNvPr id="14" name="Text 12"/>
          <p:cNvSpPr/>
          <p:nvPr/>
        </p:nvSpPr>
        <p:spPr>
          <a:xfrm>
            <a:off x="8302752" y="20116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 편대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UGV는 지상 보급·거점, 드론은 공중 타격 — 상호 통신으로 한 편대처럼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617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진입하기 전, 상공의 드론 편대와 지상의 UGV가 </a:t>
            </a:r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진압 → 대피 인도 → 보급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끊김 없이 이어 초동 대응을 채운다.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마산어시장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발화점 위치 지정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269480" cy="4526280"/>
          </a:xfrm>
          <a:prstGeom prst="roundRect">
            <a:avLst>
              <a:gd name="adj" fmla="val 1818"/>
            </a:avLst>
          </a:prstGeom>
          <a:solidFill>
            <a:srgbClr val="0B1220"/>
          </a:solidFill>
          <a:ln w="19050">
            <a:solidFill>
              <a:srgbClr val="7C3AED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771900" y="3040380"/>
            <a:ext cx="822960" cy="822960"/>
          </a:xfrm>
          <a:prstGeom prst="ellipse">
            <a:avLst/>
          </a:prstGeom>
          <a:solidFill>
            <a:srgbClr val="172033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37076" y="3305556"/>
            <a:ext cx="292608" cy="292608"/>
          </a:xfrm>
          <a:prstGeom prst="ellipse">
            <a:avLst/>
          </a:prstGeom>
          <a:solidFill>
            <a:srgbClr val="EA580C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954780"/>
            <a:ext cx="635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실제 시뮬레이터 지도 화면을 넣으세요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4366260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 발화점 지정 · 마산소방서 거점 · 소방차 진입불가 빨간선 · 드론 직선 경로가 보이는 화면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0" y="1554480"/>
            <a:ext cx="3611880" cy="2697480"/>
          </a:xfrm>
          <a:prstGeom prst="roundRect">
            <a:avLst>
              <a:gd name="adj" fmla="val 3051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75320" y="173736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요약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75320" y="21579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72600" y="215798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92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마산어시장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75320" y="2651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최근접 거점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372600" y="26517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 · 직선 1.33km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75320" y="314553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도착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372600" y="314553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 00초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75320" y="36393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372600" y="363931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CA5A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 다수 · 호스 연장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4389120"/>
            <a:ext cx="3611880" cy="1691640"/>
          </a:xfrm>
          <a:prstGeom prst="roundRect">
            <a:avLst>
              <a:gd name="adj" fmla="val 4865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572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 도착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골목을 드론이 상공으로 넘어 1분 만에 화점 도착 — 초동 골든타임 확보.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시연 · 마산어시장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건물 SOP-D 시뮬레이션</a:t>
            </a:r>
            <a:endParaRPr lang="en-US" sz="2600" dirty="0"/>
          </a:p>
        </p:txBody>
      </p:sp>
      <p:pic>
        <p:nvPicPr>
          <p:cNvPr id="4" name="Image 0" descr="cap_3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10817352" cy="47914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23620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정찰(열화상 화점 탐지) · 진압(창문 파쇄·정밀 소화탄) · 인명수색구조(대피 인도) · 통신중계·조명 편대가 SOP-D 단계별로 동시에 자율 수행 — 실제 시뮬레이션 화면.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 골든타임과 화재 피해 — 데이터로 본 근거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소방청 국가화재정보시스템 기반 분석 · 골든타임 연구 (현장도착 5분 기준)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512064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1389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도착시간별 건당 재산피해 (천원)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0" y="1828800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199632" y="2212848"/>
            <a:ext cx="274320" cy="2743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6601968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재산피해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601968" y="226771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2.1배 ↑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732520" y="182880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5분 → 5~10분 (건당 5,425 → 11,198천원)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943600" y="2990088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99632" y="33741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4" name="Text 11"/>
          <p:cNvSpPr/>
          <p:nvPr/>
        </p:nvSpPr>
        <p:spPr>
          <a:xfrm>
            <a:off x="6601968" y="31272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사망률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601968" y="34290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2.5배 ↑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732520" y="2990088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현장도착 10분 초과 시 (10분 이하 대비)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43600" y="4151376"/>
            <a:ext cx="566928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99632" y="4535424"/>
            <a:ext cx="274320" cy="2743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9" name="Text 16"/>
          <p:cNvSpPr/>
          <p:nvPr/>
        </p:nvSpPr>
        <p:spPr>
          <a:xfrm>
            <a:off x="6601968" y="428853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 확률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601968" y="45902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4배 ↓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8732520" y="4151376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이내 골든타임 확보 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5046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C1F16"/>
          </a:solidFill>
          <a:ln w="12700">
            <a:solidFill>
              <a:srgbClr val="16653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550468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시스템 = 골든타임 확보 수단.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소방차가 못 가는 골목도 드론이 5분 내 도착 → 문헌 기준 건당 피해 11,198 → 5,425천원(약 52%↓) 구간 유지, 인명 사망 위험 대폭 감소.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소방청 국가화재정보시스템(NFDS) 기반 분석 · 한국방재학회논문집 등 소방 골든타임 연구.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· 사회 · 지역, 그리고 마무리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04672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기계공학 제어·역학 + 국방과학 자율 군집 운용의 고가치 융합 사례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1688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확보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골목도 5분 내 초동 대응 → 재산피해 약 52%↓·인명 위험 대폭 감소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630168" cy="2743200"/>
          </a:xfrm>
          <a:prstGeom prst="roundRect">
            <a:avLst>
              <a:gd name="adj" fmla="val 3000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01168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0768" y="20116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혁신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430768" y="260604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3429000"/>
            <a:ext cx="3118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방위산업·항공우주 인프라를 스마트시티에 결합한 지역 특화 혁신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95604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창원·거점을 정하고, 편대가 골든타임을 먼저 지킨다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2960" y="550468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빅데이터 → 창원·거점 소방서 선정 → SOP-D 현장 대응 → UGV 유무인 복합. 팀 군체 · 감사합니다. (Q&amp;A)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2026-08-04T16:31:55Z</dcterms:created>
  <dcterms:modified xsi:type="dcterms:W3CDTF">2026-08-04T16:31:55Z</dcterms:modified>
</cp:coreProperties>
</file>